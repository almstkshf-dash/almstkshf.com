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2"/>
  </p:notesMasterIdLst>
  <p:sldIdLst>
    <p:sldId id="257" r:id="rId3"/>
    <p:sldId id="267" r:id="rId4"/>
    <p:sldId id="1135" r:id="rId5"/>
    <p:sldId id="1177" r:id="rId6"/>
    <p:sldId id="1178" r:id="rId7"/>
    <p:sldId id="1179" r:id="rId8"/>
    <p:sldId id="1180" r:id="rId9"/>
    <p:sldId id="1181" r:id="rId10"/>
    <p:sldId id="1182" r:id="rId11"/>
    <p:sldId id="1183" r:id="rId12"/>
    <p:sldId id="1184" r:id="rId13"/>
    <p:sldId id="271" r:id="rId14"/>
    <p:sldId id="1185" r:id="rId15"/>
    <p:sldId id="1186" r:id="rId16"/>
    <p:sldId id="1187" r:id="rId17"/>
    <p:sldId id="1188" r:id="rId18"/>
    <p:sldId id="1189" r:id="rId19"/>
    <p:sldId id="1190"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41" autoAdjust="0"/>
    <p:restoredTop sz="94103" autoAdjust="0"/>
  </p:normalViewPr>
  <p:slideViewPr>
    <p:cSldViewPr snapToGrid="0">
      <p:cViewPr varScale="1">
        <p:scale>
          <a:sx n="66" d="100"/>
          <a:sy n="66" d="100"/>
        </p:scale>
        <p:origin x="74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refay" userId="7ec7493fd5acaf6b" providerId="LiveId" clId="{E556D9A2-2FB3-49C1-A723-3588794507C2}"/>
    <pc:docChg chg="undo custSel addSld delSld modSld sldOrd">
      <pc:chgData name="mohamed refay" userId="7ec7493fd5acaf6b" providerId="LiveId" clId="{E556D9A2-2FB3-49C1-A723-3588794507C2}" dt="2026-04-01T12:16:58.722" v="650" actId="1076"/>
      <pc:docMkLst>
        <pc:docMk/>
      </pc:docMkLst>
      <pc:sldChg chg="addSp delSp modSp mod">
        <pc:chgData name="mohamed refay" userId="7ec7493fd5acaf6b" providerId="LiveId" clId="{E556D9A2-2FB3-49C1-A723-3588794507C2}" dt="2026-04-01T11:51:32.648" v="584" actId="20577"/>
        <pc:sldMkLst>
          <pc:docMk/>
          <pc:sldMk cId="3074699725" sldId="257"/>
        </pc:sldMkLst>
        <pc:spChg chg="add del mod">
          <ac:chgData name="mohamed refay" userId="7ec7493fd5acaf6b" providerId="LiveId" clId="{E556D9A2-2FB3-49C1-A723-3588794507C2}" dt="2026-04-01T11:51:32.648" v="584" actId="20577"/>
          <ac:spMkLst>
            <pc:docMk/>
            <pc:sldMk cId="3074699725" sldId="257"/>
            <ac:spMk id="2" creationId="{00000000-0000-0000-0000-000000000000}"/>
          </ac:spMkLst>
        </pc:spChg>
      </pc:sldChg>
      <pc:sldChg chg="addSp delSp modSp add mod">
        <pc:chgData name="mohamed refay" userId="7ec7493fd5acaf6b" providerId="LiveId" clId="{E556D9A2-2FB3-49C1-A723-3588794507C2}" dt="2026-04-01T12:00:38.766" v="622" actId="1076"/>
        <pc:sldMkLst>
          <pc:docMk/>
          <pc:sldMk cId="2864091237" sldId="1135"/>
        </pc:sldMkLst>
        <pc:spChg chg="mod">
          <ac:chgData name="mohamed refay" userId="7ec7493fd5acaf6b" providerId="LiveId" clId="{E556D9A2-2FB3-49C1-A723-3588794507C2}" dt="2026-04-01T11:51:54.802" v="590" actId="20577"/>
          <ac:spMkLst>
            <pc:docMk/>
            <pc:sldMk cId="2864091237" sldId="1135"/>
            <ac:spMk id="2" creationId="{434B1C66-37ED-0104-2FDE-8782B0F4D41B}"/>
          </ac:spMkLst>
        </pc:spChg>
        <pc:spChg chg="add mod">
          <ac:chgData name="mohamed refay" userId="7ec7493fd5acaf6b" providerId="LiveId" clId="{E556D9A2-2FB3-49C1-A723-3588794507C2}" dt="2026-04-01T12:00:38.766" v="622" actId="1076"/>
          <ac:spMkLst>
            <pc:docMk/>
            <pc:sldMk cId="2864091237" sldId="1135"/>
            <ac:spMk id="15" creationId="{77D583F9-DF24-7F8F-BCE1-90CD938B09DA}"/>
          </ac:spMkLst>
        </pc:spChg>
        <pc:spChg chg="add mod">
          <ac:chgData name="mohamed refay" userId="7ec7493fd5acaf6b" providerId="LiveId" clId="{E556D9A2-2FB3-49C1-A723-3588794507C2}" dt="2026-04-01T12:00:38.766" v="622" actId="1076"/>
          <ac:spMkLst>
            <pc:docMk/>
            <pc:sldMk cId="2864091237" sldId="1135"/>
            <ac:spMk id="16" creationId="{13B931BE-BEB2-B228-CDAB-5B30D8586A5B}"/>
          </ac:spMkLst>
        </pc:spChg>
        <pc:spChg chg="add mod">
          <ac:chgData name="mohamed refay" userId="7ec7493fd5acaf6b" providerId="LiveId" clId="{E556D9A2-2FB3-49C1-A723-3588794507C2}" dt="2026-04-01T12:00:38.766" v="622" actId="1076"/>
          <ac:spMkLst>
            <pc:docMk/>
            <pc:sldMk cId="2864091237" sldId="1135"/>
            <ac:spMk id="27" creationId="{7F2571C2-2D4C-DD01-83AF-C66CCCE06C41}"/>
          </ac:spMkLst>
        </pc:spChg>
        <pc:spChg chg="add mod">
          <ac:chgData name="mohamed refay" userId="7ec7493fd5acaf6b" providerId="LiveId" clId="{E556D9A2-2FB3-49C1-A723-3588794507C2}" dt="2026-04-01T12:00:38.766" v="622" actId="1076"/>
          <ac:spMkLst>
            <pc:docMk/>
            <pc:sldMk cId="2864091237" sldId="1135"/>
            <ac:spMk id="29" creationId="{285E2ECE-5FCC-42F7-63FB-4C63606EFB93}"/>
          </ac:spMkLst>
        </pc:spChg>
        <pc:spChg chg="add mod">
          <ac:chgData name="mohamed refay" userId="7ec7493fd5acaf6b" providerId="LiveId" clId="{E556D9A2-2FB3-49C1-A723-3588794507C2}" dt="2026-04-01T12:00:38.766" v="622" actId="1076"/>
          <ac:spMkLst>
            <pc:docMk/>
            <pc:sldMk cId="2864091237" sldId="1135"/>
            <ac:spMk id="35" creationId="{F1A8113A-BFE6-A0A8-F276-76D6463C7372}"/>
          </ac:spMkLst>
        </pc:spChg>
        <pc:spChg chg="add mod">
          <ac:chgData name="mohamed refay" userId="7ec7493fd5acaf6b" providerId="LiveId" clId="{E556D9A2-2FB3-49C1-A723-3588794507C2}" dt="2026-04-01T12:00:38.766" v="622" actId="1076"/>
          <ac:spMkLst>
            <pc:docMk/>
            <pc:sldMk cId="2864091237" sldId="1135"/>
            <ac:spMk id="42" creationId="{C7B7005A-4123-CD19-E210-733FE7F34877}"/>
          </ac:spMkLst>
        </pc:spChg>
        <pc:spChg chg="add mod">
          <ac:chgData name="mohamed refay" userId="7ec7493fd5acaf6b" providerId="LiveId" clId="{E556D9A2-2FB3-49C1-A723-3588794507C2}" dt="2026-04-01T12:00:38.766" v="622" actId="1076"/>
          <ac:spMkLst>
            <pc:docMk/>
            <pc:sldMk cId="2864091237" sldId="1135"/>
            <ac:spMk id="53" creationId="{532AFB0E-5173-2749-6B12-1AB160317563}"/>
          </ac:spMkLst>
        </pc:spChg>
        <pc:spChg chg="add mod">
          <ac:chgData name="mohamed refay" userId="7ec7493fd5acaf6b" providerId="LiveId" clId="{E556D9A2-2FB3-49C1-A723-3588794507C2}" dt="2026-04-01T12:00:38.766" v="622" actId="1076"/>
          <ac:spMkLst>
            <pc:docMk/>
            <pc:sldMk cId="2864091237" sldId="1135"/>
            <ac:spMk id="57" creationId="{3894A2A9-F42E-9F43-0136-F5E2CC55A4D8}"/>
          </ac:spMkLst>
        </pc:spChg>
        <pc:spChg chg="add mod">
          <ac:chgData name="mohamed refay" userId="7ec7493fd5acaf6b" providerId="LiveId" clId="{E556D9A2-2FB3-49C1-A723-3588794507C2}" dt="2026-04-01T12:00:38.766" v="622" actId="1076"/>
          <ac:spMkLst>
            <pc:docMk/>
            <pc:sldMk cId="2864091237" sldId="1135"/>
            <ac:spMk id="60" creationId="{724C4D82-F874-33C8-DDAF-25ADC9B0E5A7}"/>
          </ac:spMkLst>
        </pc:spChg>
        <pc:spChg chg="add mod">
          <ac:chgData name="mohamed refay" userId="7ec7493fd5acaf6b" providerId="LiveId" clId="{E556D9A2-2FB3-49C1-A723-3588794507C2}" dt="2026-04-01T12:00:38.766" v="622" actId="1076"/>
          <ac:spMkLst>
            <pc:docMk/>
            <pc:sldMk cId="2864091237" sldId="1135"/>
            <ac:spMk id="128" creationId="{710959D3-F8A8-C221-C748-E496A4BF2365}"/>
          </ac:spMkLst>
        </pc:spChg>
        <pc:spChg chg="del">
          <ac:chgData name="mohamed refay" userId="7ec7493fd5acaf6b" providerId="LiveId" clId="{E556D9A2-2FB3-49C1-A723-3588794507C2}" dt="2026-04-01T11:51:42.632" v="585" actId="478"/>
          <ac:spMkLst>
            <pc:docMk/>
            <pc:sldMk cId="2864091237" sldId="1135"/>
            <ac:spMk id="132" creationId="{A3FDF81A-1ACA-9948-76D6-870713829E97}"/>
          </ac:spMkLst>
        </pc:spChg>
        <pc:spChg chg="del">
          <ac:chgData name="mohamed refay" userId="7ec7493fd5acaf6b" providerId="LiveId" clId="{E556D9A2-2FB3-49C1-A723-3588794507C2}" dt="2026-04-01T11:51:42.632" v="585" actId="478"/>
          <ac:spMkLst>
            <pc:docMk/>
            <pc:sldMk cId="2864091237" sldId="1135"/>
            <ac:spMk id="140" creationId="{2F4E404D-201E-2348-5814-E2ADDF9BC5E0}"/>
          </ac:spMkLst>
        </pc:spChg>
        <pc:spChg chg="del">
          <ac:chgData name="mohamed refay" userId="7ec7493fd5acaf6b" providerId="LiveId" clId="{E556D9A2-2FB3-49C1-A723-3588794507C2}" dt="2026-04-01T11:51:42.632" v="585" actId="478"/>
          <ac:spMkLst>
            <pc:docMk/>
            <pc:sldMk cId="2864091237" sldId="1135"/>
            <ac:spMk id="152" creationId="{2B3E97FF-1D04-2BC4-F1AB-C954E1E94EFD}"/>
          </ac:spMkLst>
        </pc:spChg>
        <pc:spChg chg="del">
          <ac:chgData name="mohamed refay" userId="7ec7493fd5acaf6b" providerId="LiveId" clId="{E556D9A2-2FB3-49C1-A723-3588794507C2}" dt="2026-04-01T11:51:42.632" v="585" actId="478"/>
          <ac:spMkLst>
            <pc:docMk/>
            <pc:sldMk cId="2864091237" sldId="1135"/>
            <ac:spMk id="160" creationId="{465B829C-A33B-BFBA-04CC-13E9508046D0}"/>
          </ac:spMkLst>
        </pc:spChg>
        <pc:spChg chg="del">
          <ac:chgData name="mohamed refay" userId="7ec7493fd5acaf6b" providerId="LiveId" clId="{E556D9A2-2FB3-49C1-A723-3588794507C2}" dt="2026-04-01T11:51:42.632" v="585" actId="478"/>
          <ac:spMkLst>
            <pc:docMk/>
            <pc:sldMk cId="2864091237" sldId="1135"/>
            <ac:spMk id="162" creationId="{28B094FF-7D8D-107C-8A62-A577DB3D3BE0}"/>
          </ac:spMkLst>
        </pc:spChg>
        <pc:spChg chg="add del mod">
          <ac:chgData name="mohamed refay" userId="7ec7493fd5acaf6b" providerId="LiveId" clId="{E556D9A2-2FB3-49C1-A723-3588794507C2}" dt="2026-04-01T11:51:42.632" v="585" actId="478"/>
          <ac:spMkLst>
            <pc:docMk/>
            <pc:sldMk cId="2864091237" sldId="1135"/>
            <ac:spMk id="179" creationId="{6D685F99-F99F-9401-7CDF-2D1F610A4574}"/>
          </ac:spMkLst>
        </pc:spChg>
        <pc:spChg chg="del">
          <ac:chgData name="mohamed refay" userId="7ec7493fd5acaf6b" providerId="LiveId" clId="{E556D9A2-2FB3-49C1-A723-3588794507C2}" dt="2026-04-01T11:51:42.632" v="585" actId="478"/>
          <ac:spMkLst>
            <pc:docMk/>
            <pc:sldMk cId="2864091237" sldId="1135"/>
            <ac:spMk id="183" creationId="{6A86614F-84D9-858A-77F7-D7463DEFBC12}"/>
          </ac:spMkLst>
        </pc:spChg>
        <pc:spChg chg="del">
          <ac:chgData name="mohamed refay" userId="7ec7493fd5acaf6b" providerId="LiveId" clId="{E556D9A2-2FB3-49C1-A723-3588794507C2}" dt="2026-04-01T11:51:42.632" v="585" actId="478"/>
          <ac:spMkLst>
            <pc:docMk/>
            <pc:sldMk cId="2864091237" sldId="1135"/>
            <ac:spMk id="186" creationId="{0E7D9A56-24A5-8645-B761-2CD252A914BD}"/>
          </ac:spMkLst>
        </pc:spChg>
        <pc:spChg chg="add del mod">
          <ac:chgData name="mohamed refay" userId="7ec7493fd5acaf6b" providerId="LiveId" clId="{E556D9A2-2FB3-49C1-A723-3588794507C2}" dt="2026-04-01T11:51:42.632" v="585" actId="478"/>
          <ac:spMkLst>
            <pc:docMk/>
            <pc:sldMk cId="2864091237" sldId="1135"/>
            <ac:spMk id="189" creationId="{A250DF7B-A127-68B0-FE22-C338530FE93F}"/>
          </ac:spMkLst>
        </pc:spChg>
        <pc:spChg chg="add del mod">
          <ac:chgData name="mohamed refay" userId="7ec7493fd5acaf6b" providerId="LiveId" clId="{E556D9A2-2FB3-49C1-A723-3588794507C2}" dt="2026-04-01T11:51:42.632" v="585" actId="478"/>
          <ac:spMkLst>
            <pc:docMk/>
            <pc:sldMk cId="2864091237" sldId="1135"/>
            <ac:spMk id="190" creationId="{42E9AD2A-A487-5764-1303-F6E17D70296C}"/>
          </ac:spMkLst>
        </pc:spChg>
      </pc:sldChg>
      <pc:sldChg chg="addSp modSp add del mod">
        <pc:chgData name="mohamed refay" userId="7ec7493fd5acaf6b" providerId="LiveId" clId="{E556D9A2-2FB3-49C1-A723-3588794507C2}" dt="2026-04-01T11:59:36.690" v="599" actId="47"/>
        <pc:sldMkLst>
          <pc:docMk/>
          <pc:sldMk cId="3960396805" sldId="1163"/>
        </pc:sldMkLst>
      </pc:sldChg>
      <pc:sldChg chg="addSp modSp add del mod">
        <pc:chgData name="mohamed refay" userId="7ec7493fd5acaf6b" providerId="LiveId" clId="{E556D9A2-2FB3-49C1-A723-3588794507C2}" dt="2026-04-01T11:59:37.332" v="600" actId="47"/>
        <pc:sldMkLst>
          <pc:docMk/>
          <pc:sldMk cId="3003813146" sldId="1164"/>
        </pc:sldMkLst>
      </pc:sldChg>
      <pc:sldChg chg="addSp modSp add del mod">
        <pc:chgData name="mohamed refay" userId="7ec7493fd5acaf6b" providerId="LiveId" clId="{E556D9A2-2FB3-49C1-A723-3588794507C2}" dt="2026-04-01T11:59:37.735" v="601" actId="47"/>
        <pc:sldMkLst>
          <pc:docMk/>
          <pc:sldMk cId="4228239023" sldId="1165"/>
        </pc:sldMkLst>
      </pc:sldChg>
      <pc:sldChg chg="addSp modSp add del mod">
        <pc:chgData name="mohamed refay" userId="7ec7493fd5acaf6b" providerId="LiveId" clId="{E556D9A2-2FB3-49C1-A723-3588794507C2}" dt="2026-04-01T11:59:38.082" v="602" actId="47"/>
        <pc:sldMkLst>
          <pc:docMk/>
          <pc:sldMk cId="155507835" sldId="1166"/>
        </pc:sldMkLst>
      </pc:sldChg>
      <pc:sldChg chg="addSp modSp add del mod ord">
        <pc:chgData name="mohamed refay" userId="7ec7493fd5acaf6b" providerId="LiveId" clId="{E556D9A2-2FB3-49C1-A723-3588794507C2}" dt="2026-04-01T12:00:06.562" v="611" actId="47"/>
        <pc:sldMkLst>
          <pc:docMk/>
          <pc:sldMk cId="1854398207" sldId="1167"/>
        </pc:sldMkLst>
      </pc:sldChg>
      <pc:sldChg chg="addSp modSp add del mod">
        <pc:chgData name="mohamed refay" userId="7ec7493fd5acaf6b" providerId="LiveId" clId="{E556D9A2-2FB3-49C1-A723-3588794507C2}" dt="2026-04-01T12:00:06.909" v="612" actId="47"/>
        <pc:sldMkLst>
          <pc:docMk/>
          <pc:sldMk cId="2109287909" sldId="1168"/>
        </pc:sldMkLst>
      </pc:sldChg>
      <pc:sldChg chg="addSp modSp add del mod">
        <pc:chgData name="mohamed refay" userId="7ec7493fd5acaf6b" providerId="LiveId" clId="{E556D9A2-2FB3-49C1-A723-3588794507C2}" dt="2026-04-01T12:00:07.372" v="613" actId="47"/>
        <pc:sldMkLst>
          <pc:docMk/>
          <pc:sldMk cId="4278769753" sldId="1169"/>
        </pc:sldMkLst>
      </pc:sldChg>
      <pc:sldChg chg="addSp modSp add del mod">
        <pc:chgData name="mohamed refay" userId="7ec7493fd5acaf6b" providerId="LiveId" clId="{E556D9A2-2FB3-49C1-A723-3588794507C2}" dt="2026-04-01T12:00:07.903" v="614" actId="47"/>
        <pc:sldMkLst>
          <pc:docMk/>
          <pc:sldMk cId="804065309" sldId="1170"/>
        </pc:sldMkLst>
      </pc:sldChg>
      <pc:sldChg chg="addSp modSp add del mod">
        <pc:chgData name="mohamed refay" userId="7ec7493fd5acaf6b" providerId="LiveId" clId="{E556D9A2-2FB3-49C1-A723-3588794507C2}" dt="2026-04-01T12:00:08.328" v="615" actId="47"/>
        <pc:sldMkLst>
          <pc:docMk/>
          <pc:sldMk cId="555837475" sldId="1171"/>
        </pc:sldMkLst>
      </pc:sldChg>
      <pc:sldChg chg="addSp modSp add del mod">
        <pc:chgData name="mohamed refay" userId="7ec7493fd5acaf6b" providerId="LiveId" clId="{E556D9A2-2FB3-49C1-A723-3588794507C2}" dt="2026-04-01T12:00:08.841" v="616" actId="47"/>
        <pc:sldMkLst>
          <pc:docMk/>
          <pc:sldMk cId="2484627573" sldId="1172"/>
        </pc:sldMkLst>
      </pc:sldChg>
      <pc:sldChg chg="addSp modSp add del mod">
        <pc:chgData name="mohamed refay" userId="7ec7493fd5acaf6b" providerId="LiveId" clId="{E556D9A2-2FB3-49C1-A723-3588794507C2}" dt="2026-04-01T12:00:09.309" v="617" actId="47"/>
        <pc:sldMkLst>
          <pc:docMk/>
          <pc:sldMk cId="1082170682" sldId="1173"/>
        </pc:sldMkLst>
      </pc:sldChg>
      <pc:sldChg chg="addSp modSp add del mod">
        <pc:chgData name="mohamed refay" userId="7ec7493fd5acaf6b" providerId="LiveId" clId="{E556D9A2-2FB3-49C1-A723-3588794507C2}" dt="2026-04-01T12:00:09.671" v="618" actId="47"/>
        <pc:sldMkLst>
          <pc:docMk/>
          <pc:sldMk cId="4047712717" sldId="1174"/>
        </pc:sldMkLst>
      </pc:sldChg>
      <pc:sldChg chg="addSp modSp add del mod">
        <pc:chgData name="mohamed refay" userId="7ec7493fd5acaf6b" providerId="LiveId" clId="{E556D9A2-2FB3-49C1-A723-3588794507C2}" dt="2026-04-01T12:00:09.949" v="619" actId="47"/>
        <pc:sldMkLst>
          <pc:docMk/>
          <pc:sldMk cId="217611694" sldId="1175"/>
        </pc:sldMkLst>
      </pc:sldChg>
      <pc:sldChg chg="addSp modSp add del mod">
        <pc:chgData name="mohamed refay" userId="7ec7493fd5acaf6b" providerId="LiveId" clId="{E556D9A2-2FB3-49C1-A723-3588794507C2}" dt="2026-04-01T12:00:11.090" v="620" actId="47"/>
        <pc:sldMkLst>
          <pc:docMk/>
          <pc:sldMk cId="2676019931" sldId="1176"/>
        </pc:sldMkLst>
      </pc:sldChg>
      <pc:sldChg chg="addSp modSp add mod">
        <pc:chgData name="mohamed refay" userId="7ec7493fd5acaf6b" providerId="LiveId" clId="{E556D9A2-2FB3-49C1-A723-3588794507C2}" dt="2026-04-01T12:01:02.150" v="624" actId="1076"/>
        <pc:sldMkLst>
          <pc:docMk/>
          <pc:sldMk cId="1297962446" sldId="1177"/>
        </pc:sldMkLst>
        <pc:spChg chg="add mod">
          <ac:chgData name="mohamed refay" userId="7ec7493fd5acaf6b" providerId="LiveId" clId="{E556D9A2-2FB3-49C1-A723-3588794507C2}" dt="2026-04-01T12:01:02.150" v="624" actId="1076"/>
          <ac:spMkLst>
            <pc:docMk/>
            <pc:sldMk cId="1297962446" sldId="1177"/>
            <ac:spMk id="10" creationId="{1D4EA1B8-1240-CB44-8622-D135B828E59F}"/>
          </ac:spMkLst>
        </pc:spChg>
        <pc:spChg chg="add mod">
          <ac:chgData name="mohamed refay" userId="7ec7493fd5acaf6b" providerId="LiveId" clId="{E556D9A2-2FB3-49C1-A723-3588794507C2}" dt="2026-04-01T12:01:02.150" v="624" actId="1076"/>
          <ac:spMkLst>
            <pc:docMk/>
            <pc:sldMk cId="1297962446" sldId="1177"/>
            <ac:spMk id="14" creationId="{CE3306BE-D934-604F-218A-4986C4A99D79}"/>
          </ac:spMkLst>
        </pc:spChg>
        <pc:spChg chg="add mod">
          <ac:chgData name="mohamed refay" userId="7ec7493fd5acaf6b" providerId="LiveId" clId="{E556D9A2-2FB3-49C1-A723-3588794507C2}" dt="2026-04-01T12:01:02.150" v="624" actId="1076"/>
          <ac:spMkLst>
            <pc:docMk/>
            <pc:sldMk cId="1297962446" sldId="1177"/>
            <ac:spMk id="16" creationId="{75E3FAE6-2504-FAF2-D7CC-CCA846F1F1F8}"/>
          </ac:spMkLst>
        </pc:spChg>
        <pc:spChg chg="add mod">
          <ac:chgData name="mohamed refay" userId="7ec7493fd5acaf6b" providerId="LiveId" clId="{E556D9A2-2FB3-49C1-A723-3588794507C2}" dt="2026-04-01T12:01:02.150" v="624" actId="1076"/>
          <ac:spMkLst>
            <pc:docMk/>
            <pc:sldMk cId="1297962446" sldId="1177"/>
            <ac:spMk id="18" creationId="{EC2054EF-F62F-114F-6221-AC19DE581C6F}"/>
          </ac:spMkLst>
        </pc:spChg>
        <pc:spChg chg="add mod">
          <ac:chgData name="mohamed refay" userId="7ec7493fd5acaf6b" providerId="LiveId" clId="{E556D9A2-2FB3-49C1-A723-3588794507C2}" dt="2026-04-01T12:01:02.150" v="624" actId="1076"/>
          <ac:spMkLst>
            <pc:docMk/>
            <pc:sldMk cId="1297962446" sldId="1177"/>
            <ac:spMk id="23" creationId="{41B0F9CB-5587-31AD-7B85-F6289070F24B}"/>
          </ac:spMkLst>
        </pc:spChg>
        <pc:spChg chg="add mod">
          <ac:chgData name="mohamed refay" userId="7ec7493fd5acaf6b" providerId="LiveId" clId="{E556D9A2-2FB3-49C1-A723-3588794507C2}" dt="2026-04-01T12:01:02.150" v="624" actId="1076"/>
          <ac:spMkLst>
            <pc:docMk/>
            <pc:sldMk cId="1297962446" sldId="1177"/>
            <ac:spMk id="31" creationId="{5EC7160C-6D23-1E13-FFBA-8F2D7133F5D3}"/>
          </ac:spMkLst>
        </pc:spChg>
        <pc:spChg chg="add mod">
          <ac:chgData name="mohamed refay" userId="7ec7493fd5acaf6b" providerId="LiveId" clId="{E556D9A2-2FB3-49C1-A723-3588794507C2}" dt="2026-04-01T12:01:02.150" v="624" actId="1076"/>
          <ac:spMkLst>
            <pc:docMk/>
            <pc:sldMk cId="1297962446" sldId="1177"/>
            <ac:spMk id="45" creationId="{5A14FD7C-A9BD-AB61-AB15-6129DD33179E}"/>
          </ac:spMkLst>
        </pc:spChg>
        <pc:spChg chg="add mod">
          <ac:chgData name="mohamed refay" userId="7ec7493fd5acaf6b" providerId="LiveId" clId="{E556D9A2-2FB3-49C1-A723-3588794507C2}" dt="2026-04-01T12:01:02.150" v="624" actId="1076"/>
          <ac:spMkLst>
            <pc:docMk/>
            <pc:sldMk cId="1297962446" sldId="1177"/>
            <ac:spMk id="53" creationId="{93674DB8-8F5D-AE4E-B087-E58F8E8D4FA9}"/>
          </ac:spMkLst>
        </pc:spChg>
        <pc:spChg chg="add mod">
          <ac:chgData name="mohamed refay" userId="7ec7493fd5acaf6b" providerId="LiveId" clId="{E556D9A2-2FB3-49C1-A723-3588794507C2}" dt="2026-04-01T12:01:02.150" v="624" actId="1076"/>
          <ac:spMkLst>
            <pc:docMk/>
            <pc:sldMk cId="1297962446" sldId="1177"/>
            <ac:spMk id="56" creationId="{9A18A73A-4C1E-3D7C-8E89-06F60F54E6B0}"/>
          </ac:spMkLst>
        </pc:spChg>
        <pc:spChg chg="add mod">
          <ac:chgData name="mohamed refay" userId="7ec7493fd5acaf6b" providerId="LiveId" clId="{E556D9A2-2FB3-49C1-A723-3588794507C2}" dt="2026-04-01T12:01:02.150" v="624" actId="1076"/>
          <ac:spMkLst>
            <pc:docMk/>
            <pc:sldMk cId="1297962446" sldId="1177"/>
            <ac:spMk id="58" creationId="{92EB3402-391F-950F-8E90-77E8191DE015}"/>
          </ac:spMkLst>
        </pc:spChg>
      </pc:sldChg>
      <pc:sldChg chg="addSp modSp add mod">
        <pc:chgData name="mohamed refay" userId="7ec7493fd5acaf6b" providerId="LiveId" clId="{E556D9A2-2FB3-49C1-A723-3588794507C2}" dt="2026-04-01T12:01:23.381" v="626" actId="1076"/>
        <pc:sldMkLst>
          <pc:docMk/>
          <pc:sldMk cId="4072288946" sldId="1178"/>
        </pc:sldMkLst>
        <pc:spChg chg="add mod">
          <ac:chgData name="mohamed refay" userId="7ec7493fd5acaf6b" providerId="LiveId" clId="{E556D9A2-2FB3-49C1-A723-3588794507C2}" dt="2026-04-01T12:01:23.381" v="626" actId="1076"/>
          <ac:spMkLst>
            <pc:docMk/>
            <pc:sldMk cId="4072288946" sldId="1178"/>
            <ac:spMk id="8" creationId="{60A1AF39-B23A-3C3C-931C-2F2A536E95E0}"/>
          </ac:spMkLst>
        </pc:spChg>
        <pc:spChg chg="add mod">
          <ac:chgData name="mohamed refay" userId="7ec7493fd5acaf6b" providerId="LiveId" clId="{E556D9A2-2FB3-49C1-A723-3588794507C2}" dt="2026-04-01T12:01:23.381" v="626" actId="1076"/>
          <ac:spMkLst>
            <pc:docMk/>
            <pc:sldMk cId="4072288946" sldId="1178"/>
            <ac:spMk id="13" creationId="{F30C9D98-AEE7-3DF2-A1E7-0919593F4FB3}"/>
          </ac:spMkLst>
        </pc:spChg>
        <pc:spChg chg="add mod">
          <ac:chgData name="mohamed refay" userId="7ec7493fd5acaf6b" providerId="LiveId" clId="{E556D9A2-2FB3-49C1-A723-3588794507C2}" dt="2026-04-01T12:01:23.381" v="626" actId="1076"/>
          <ac:spMkLst>
            <pc:docMk/>
            <pc:sldMk cId="4072288946" sldId="1178"/>
            <ac:spMk id="18" creationId="{5DBC3A8E-3F1D-8D53-BE3C-F5AF75366A7B}"/>
          </ac:spMkLst>
        </pc:spChg>
        <pc:spChg chg="add mod">
          <ac:chgData name="mohamed refay" userId="7ec7493fd5acaf6b" providerId="LiveId" clId="{E556D9A2-2FB3-49C1-A723-3588794507C2}" dt="2026-04-01T12:01:23.381" v="626" actId="1076"/>
          <ac:spMkLst>
            <pc:docMk/>
            <pc:sldMk cId="4072288946" sldId="1178"/>
            <ac:spMk id="24" creationId="{4CF22557-41C3-CFBC-7970-5908770DB968}"/>
          </ac:spMkLst>
        </pc:spChg>
        <pc:spChg chg="add mod">
          <ac:chgData name="mohamed refay" userId="7ec7493fd5acaf6b" providerId="LiveId" clId="{E556D9A2-2FB3-49C1-A723-3588794507C2}" dt="2026-04-01T12:01:23.381" v="626" actId="1076"/>
          <ac:spMkLst>
            <pc:docMk/>
            <pc:sldMk cId="4072288946" sldId="1178"/>
            <ac:spMk id="26" creationId="{CB6DC55B-FA5F-B8CE-0C9A-57A1E25A00BD}"/>
          </ac:spMkLst>
        </pc:spChg>
        <pc:spChg chg="add mod">
          <ac:chgData name="mohamed refay" userId="7ec7493fd5acaf6b" providerId="LiveId" clId="{E556D9A2-2FB3-49C1-A723-3588794507C2}" dt="2026-04-01T12:01:23.381" v="626" actId="1076"/>
          <ac:spMkLst>
            <pc:docMk/>
            <pc:sldMk cId="4072288946" sldId="1178"/>
            <ac:spMk id="35" creationId="{37ECD69F-2C2C-9CDF-1E9E-CE85629CE8B1}"/>
          </ac:spMkLst>
        </pc:spChg>
        <pc:spChg chg="add mod">
          <ac:chgData name="mohamed refay" userId="7ec7493fd5acaf6b" providerId="LiveId" clId="{E556D9A2-2FB3-49C1-A723-3588794507C2}" dt="2026-04-01T12:01:23.381" v="626" actId="1076"/>
          <ac:spMkLst>
            <pc:docMk/>
            <pc:sldMk cId="4072288946" sldId="1178"/>
            <ac:spMk id="47" creationId="{7831CE82-A9E6-C8D0-309D-F9C144AED5BD}"/>
          </ac:spMkLst>
        </pc:spChg>
        <pc:spChg chg="add mod">
          <ac:chgData name="mohamed refay" userId="7ec7493fd5acaf6b" providerId="LiveId" clId="{E556D9A2-2FB3-49C1-A723-3588794507C2}" dt="2026-04-01T12:01:23.381" v="626" actId="1076"/>
          <ac:spMkLst>
            <pc:docMk/>
            <pc:sldMk cId="4072288946" sldId="1178"/>
            <ac:spMk id="53" creationId="{ECFC5156-C14A-7B58-47BF-E21B40958BC7}"/>
          </ac:spMkLst>
        </pc:spChg>
        <pc:spChg chg="add mod">
          <ac:chgData name="mohamed refay" userId="7ec7493fd5acaf6b" providerId="LiveId" clId="{E556D9A2-2FB3-49C1-A723-3588794507C2}" dt="2026-04-01T12:01:23.381" v="626" actId="1076"/>
          <ac:spMkLst>
            <pc:docMk/>
            <pc:sldMk cId="4072288946" sldId="1178"/>
            <ac:spMk id="59" creationId="{C3C627B2-A64E-09DC-6DD9-67DC1A933017}"/>
          </ac:spMkLst>
        </pc:spChg>
        <pc:spChg chg="add mod">
          <ac:chgData name="mohamed refay" userId="7ec7493fd5acaf6b" providerId="LiveId" clId="{E556D9A2-2FB3-49C1-A723-3588794507C2}" dt="2026-04-01T12:01:23.381" v="626" actId="1076"/>
          <ac:spMkLst>
            <pc:docMk/>
            <pc:sldMk cId="4072288946" sldId="1178"/>
            <ac:spMk id="63" creationId="{B6B84868-0826-4821-F97C-5C689801C1B7}"/>
          </ac:spMkLst>
        </pc:spChg>
      </pc:sldChg>
      <pc:sldChg chg="addSp modSp add mod">
        <pc:chgData name="mohamed refay" userId="7ec7493fd5acaf6b" providerId="LiveId" clId="{E556D9A2-2FB3-49C1-A723-3588794507C2}" dt="2026-04-01T12:01:41.892" v="628" actId="1076"/>
        <pc:sldMkLst>
          <pc:docMk/>
          <pc:sldMk cId="3500985782" sldId="1179"/>
        </pc:sldMkLst>
        <pc:spChg chg="add mod">
          <ac:chgData name="mohamed refay" userId="7ec7493fd5acaf6b" providerId="LiveId" clId="{E556D9A2-2FB3-49C1-A723-3588794507C2}" dt="2026-04-01T12:01:41.892" v="628" actId="1076"/>
          <ac:spMkLst>
            <pc:docMk/>
            <pc:sldMk cId="3500985782" sldId="1179"/>
            <ac:spMk id="23" creationId="{8A6CBC53-7A6C-6A6C-CF78-DD55E5F027CD}"/>
          </ac:spMkLst>
        </pc:spChg>
        <pc:spChg chg="add mod">
          <ac:chgData name="mohamed refay" userId="7ec7493fd5acaf6b" providerId="LiveId" clId="{E556D9A2-2FB3-49C1-A723-3588794507C2}" dt="2026-04-01T12:01:41.892" v="628" actId="1076"/>
          <ac:spMkLst>
            <pc:docMk/>
            <pc:sldMk cId="3500985782" sldId="1179"/>
            <ac:spMk id="25" creationId="{AA415866-BB0A-E059-D6A6-EF2B8EDF320A}"/>
          </ac:spMkLst>
        </pc:spChg>
        <pc:spChg chg="add mod">
          <ac:chgData name="mohamed refay" userId="7ec7493fd5acaf6b" providerId="LiveId" clId="{E556D9A2-2FB3-49C1-A723-3588794507C2}" dt="2026-04-01T12:01:41.892" v="628" actId="1076"/>
          <ac:spMkLst>
            <pc:docMk/>
            <pc:sldMk cId="3500985782" sldId="1179"/>
            <ac:spMk id="26" creationId="{F973C4B8-FC0E-9A1A-EABA-1922B7D4A59A}"/>
          </ac:spMkLst>
        </pc:spChg>
        <pc:spChg chg="add mod">
          <ac:chgData name="mohamed refay" userId="7ec7493fd5acaf6b" providerId="LiveId" clId="{E556D9A2-2FB3-49C1-A723-3588794507C2}" dt="2026-04-01T12:01:41.892" v="628" actId="1076"/>
          <ac:spMkLst>
            <pc:docMk/>
            <pc:sldMk cId="3500985782" sldId="1179"/>
            <ac:spMk id="37" creationId="{AF6698D3-B72F-47AF-01A2-2ACA4F644429}"/>
          </ac:spMkLst>
        </pc:spChg>
        <pc:spChg chg="add mod">
          <ac:chgData name="mohamed refay" userId="7ec7493fd5acaf6b" providerId="LiveId" clId="{E556D9A2-2FB3-49C1-A723-3588794507C2}" dt="2026-04-01T12:01:41.892" v="628" actId="1076"/>
          <ac:spMkLst>
            <pc:docMk/>
            <pc:sldMk cId="3500985782" sldId="1179"/>
            <ac:spMk id="41" creationId="{B1463E46-EEBD-BAA3-A69A-E421C5D73786}"/>
          </ac:spMkLst>
        </pc:spChg>
        <pc:spChg chg="add mod">
          <ac:chgData name="mohamed refay" userId="7ec7493fd5acaf6b" providerId="LiveId" clId="{E556D9A2-2FB3-49C1-A723-3588794507C2}" dt="2026-04-01T12:01:41.892" v="628" actId="1076"/>
          <ac:spMkLst>
            <pc:docMk/>
            <pc:sldMk cId="3500985782" sldId="1179"/>
            <ac:spMk id="45" creationId="{095C2768-863F-7E4A-67EB-5D6796D9E3F5}"/>
          </ac:spMkLst>
        </pc:spChg>
        <pc:spChg chg="add mod">
          <ac:chgData name="mohamed refay" userId="7ec7493fd5acaf6b" providerId="LiveId" clId="{E556D9A2-2FB3-49C1-A723-3588794507C2}" dt="2026-04-01T12:01:41.892" v="628" actId="1076"/>
          <ac:spMkLst>
            <pc:docMk/>
            <pc:sldMk cId="3500985782" sldId="1179"/>
            <ac:spMk id="53" creationId="{788EBC1B-AA45-4321-3FA5-C098822BC991}"/>
          </ac:spMkLst>
        </pc:spChg>
        <pc:spChg chg="add mod">
          <ac:chgData name="mohamed refay" userId="7ec7493fd5acaf6b" providerId="LiveId" clId="{E556D9A2-2FB3-49C1-A723-3588794507C2}" dt="2026-04-01T12:01:41.892" v="628" actId="1076"/>
          <ac:spMkLst>
            <pc:docMk/>
            <pc:sldMk cId="3500985782" sldId="1179"/>
            <ac:spMk id="56" creationId="{6F64C270-F90C-0039-56C3-83194370C707}"/>
          </ac:spMkLst>
        </pc:spChg>
        <pc:spChg chg="add mod">
          <ac:chgData name="mohamed refay" userId="7ec7493fd5acaf6b" providerId="LiveId" clId="{E556D9A2-2FB3-49C1-A723-3588794507C2}" dt="2026-04-01T12:01:41.892" v="628" actId="1076"/>
          <ac:spMkLst>
            <pc:docMk/>
            <pc:sldMk cId="3500985782" sldId="1179"/>
            <ac:spMk id="57" creationId="{E30461CC-36A4-4B0B-851D-9953D915499B}"/>
          </ac:spMkLst>
        </pc:spChg>
        <pc:spChg chg="add mod">
          <ac:chgData name="mohamed refay" userId="7ec7493fd5acaf6b" providerId="LiveId" clId="{E556D9A2-2FB3-49C1-A723-3588794507C2}" dt="2026-04-01T12:01:41.892" v="628" actId="1076"/>
          <ac:spMkLst>
            <pc:docMk/>
            <pc:sldMk cId="3500985782" sldId="1179"/>
            <ac:spMk id="60" creationId="{C35121A6-2151-15D5-7519-CB35899EB5C2}"/>
          </ac:spMkLst>
        </pc:spChg>
      </pc:sldChg>
      <pc:sldChg chg="addSp modSp add mod">
        <pc:chgData name="mohamed refay" userId="7ec7493fd5acaf6b" providerId="LiveId" clId="{E556D9A2-2FB3-49C1-A723-3588794507C2}" dt="2026-04-01T12:02:59.026" v="630" actId="1076"/>
        <pc:sldMkLst>
          <pc:docMk/>
          <pc:sldMk cId="634466492" sldId="1180"/>
        </pc:sldMkLst>
        <pc:spChg chg="add mod">
          <ac:chgData name="mohamed refay" userId="7ec7493fd5acaf6b" providerId="LiveId" clId="{E556D9A2-2FB3-49C1-A723-3588794507C2}" dt="2026-04-01T12:02:59.026" v="630" actId="1076"/>
          <ac:spMkLst>
            <pc:docMk/>
            <pc:sldMk cId="634466492" sldId="1180"/>
            <ac:spMk id="10" creationId="{7803ECB4-262B-F0D1-B81F-54276B97554F}"/>
          </ac:spMkLst>
        </pc:spChg>
        <pc:spChg chg="add mod">
          <ac:chgData name="mohamed refay" userId="7ec7493fd5acaf6b" providerId="LiveId" clId="{E556D9A2-2FB3-49C1-A723-3588794507C2}" dt="2026-04-01T12:02:59.026" v="630" actId="1076"/>
          <ac:spMkLst>
            <pc:docMk/>
            <pc:sldMk cId="634466492" sldId="1180"/>
            <ac:spMk id="12" creationId="{E8D81545-E56F-8585-7BE6-53770CC43F54}"/>
          </ac:spMkLst>
        </pc:spChg>
        <pc:spChg chg="add mod">
          <ac:chgData name="mohamed refay" userId="7ec7493fd5acaf6b" providerId="LiveId" clId="{E556D9A2-2FB3-49C1-A723-3588794507C2}" dt="2026-04-01T12:02:59.026" v="630" actId="1076"/>
          <ac:spMkLst>
            <pc:docMk/>
            <pc:sldMk cId="634466492" sldId="1180"/>
            <ac:spMk id="13" creationId="{9500525D-0476-5118-3BEC-6E1A3AF051FF}"/>
          </ac:spMkLst>
        </pc:spChg>
        <pc:spChg chg="add mod">
          <ac:chgData name="mohamed refay" userId="7ec7493fd5acaf6b" providerId="LiveId" clId="{E556D9A2-2FB3-49C1-A723-3588794507C2}" dt="2026-04-01T12:02:59.026" v="630" actId="1076"/>
          <ac:spMkLst>
            <pc:docMk/>
            <pc:sldMk cId="634466492" sldId="1180"/>
            <ac:spMk id="15" creationId="{48D88E7E-A45B-DEFD-6B14-6D4A4DA4E152}"/>
          </ac:spMkLst>
        </pc:spChg>
        <pc:spChg chg="add mod">
          <ac:chgData name="mohamed refay" userId="7ec7493fd5acaf6b" providerId="LiveId" clId="{E556D9A2-2FB3-49C1-A723-3588794507C2}" dt="2026-04-01T12:02:59.026" v="630" actId="1076"/>
          <ac:spMkLst>
            <pc:docMk/>
            <pc:sldMk cId="634466492" sldId="1180"/>
            <ac:spMk id="23" creationId="{95324938-3A84-65D7-849B-BA0AAC2AF99B}"/>
          </ac:spMkLst>
        </pc:spChg>
        <pc:spChg chg="add mod">
          <ac:chgData name="mohamed refay" userId="7ec7493fd5acaf6b" providerId="LiveId" clId="{E556D9A2-2FB3-49C1-A723-3588794507C2}" dt="2026-04-01T12:02:59.026" v="630" actId="1076"/>
          <ac:spMkLst>
            <pc:docMk/>
            <pc:sldMk cId="634466492" sldId="1180"/>
            <ac:spMk id="27" creationId="{0FEB90B4-2E1A-40DD-4317-CC1F7CDB1357}"/>
          </ac:spMkLst>
        </pc:spChg>
        <pc:spChg chg="add mod">
          <ac:chgData name="mohamed refay" userId="7ec7493fd5acaf6b" providerId="LiveId" clId="{E556D9A2-2FB3-49C1-A723-3588794507C2}" dt="2026-04-01T12:02:59.026" v="630" actId="1076"/>
          <ac:spMkLst>
            <pc:docMk/>
            <pc:sldMk cId="634466492" sldId="1180"/>
            <ac:spMk id="47" creationId="{780CF42F-F9BE-5882-EC79-9E40C212909C}"/>
          </ac:spMkLst>
        </pc:spChg>
        <pc:spChg chg="add mod">
          <ac:chgData name="mohamed refay" userId="7ec7493fd5acaf6b" providerId="LiveId" clId="{E556D9A2-2FB3-49C1-A723-3588794507C2}" dt="2026-04-01T12:02:59.026" v="630" actId="1076"/>
          <ac:spMkLst>
            <pc:docMk/>
            <pc:sldMk cId="634466492" sldId="1180"/>
            <ac:spMk id="51" creationId="{FFAA103F-81F1-52E5-3633-BF9F5FB61F2B}"/>
          </ac:spMkLst>
        </pc:spChg>
        <pc:spChg chg="add mod">
          <ac:chgData name="mohamed refay" userId="7ec7493fd5acaf6b" providerId="LiveId" clId="{E556D9A2-2FB3-49C1-A723-3588794507C2}" dt="2026-04-01T12:02:59.026" v="630" actId="1076"/>
          <ac:spMkLst>
            <pc:docMk/>
            <pc:sldMk cId="634466492" sldId="1180"/>
            <ac:spMk id="56" creationId="{831B7D49-9FD3-DBAE-97C3-BD1D00C3D70C}"/>
          </ac:spMkLst>
        </pc:spChg>
        <pc:spChg chg="add mod">
          <ac:chgData name="mohamed refay" userId="7ec7493fd5acaf6b" providerId="LiveId" clId="{E556D9A2-2FB3-49C1-A723-3588794507C2}" dt="2026-04-01T12:02:59.026" v="630" actId="1076"/>
          <ac:spMkLst>
            <pc:docMk/>
            <pc:sldMk cId="634466492" sldId="1180"/>
            <ac:spMk id="59" creationId="{2891B9A4-FED3-8E72-A914-7FCE2E79C890}"/>
          </ac:spMkLst>
        </pc:spChg>
      </pc:sldChg>
      <pc:sldChg chg="addSp modSp add mod">
        <pc:chgData name="mohamed refay" userId="7ec7493fd5acaf6b" providerId="LiveId" clId="{E556D9A2-2FB3-49C1-A723-3588794507C2}" dt="2026-04-01T12:03:21.684" v="632" actId="1076"/>
        <pc:sldMkLst>
          <pc:docMk/>
          <pc:sldMk cId="2932699669" sldId="1181"/>
        </pc:sldMkLst>
        <pc:spChg chg="add mod">
          <ac:chgData name="mohamed refay" userId="7ec7493fd5acaf6b" providerId="LiveId" clId="{E556D9A2-2FB3-49C1-A723-3588794507C2}" dt="2026-04-01T12:03:21.684" v="632" actId="1076"/>
          <ac:spMkLst>
            <pc:docMk/>
            <pc:sldMk cId="2932699669" sldId="1181"/>
            <ac:spMk id="6" creationId="{1F4739D2-E857-D39A-CBF3-7A752F270D65}"/>
          </ac:spMkLst>
        </pc:spChg>
        <pc:spChg chg="add mod">
          <ac:chgData name="mohamed refay" userId="7ec7493fd5acaf6b" providerId="LiveId" clId="{E556D9A2-2FB3-49C1-A723-3588794507C2}" dt="2026-04-01T12:03:21.684" v="632" actId="1076"/>
          <ac:spMkLst>
            <pc:docMk/>
            <pc:sldMk cId="2932699669" sldId="1181"/>
            <ac:spMk id="12" creationId="{F3F5D04F-EB7D-1C5A-775D-FCF685EE9F19}"/>
          </ac:spMkLst>
        </pc:spChg>
        <pc:spChg chg="add mod">
          <ac:chgData name="mohamed refay" userId="7ec7493fd5acaf6b" providerId="LiveId" clId="{E556D9A2-2FB3-49C1-A723-3588794507C2}" dt="2026-04-01T12:03:21.684" v="632" actId="1076"/>
          <ac:spMkLst>
            <pc:docMk/>
            <pc:sldMk cId="2932699669" sldId="1181"/>
            <ac:spMk id="24" creationId="{A030BDB1-D9B7-589B-34DD-40BF211207A2}"/>
          </ac:spMkLst>
        </pc:spChg>
        <pc:spChg chg="add mod">
          <ac:chgData name="mohamed refay" userId="7ec7493fd5acaf6b" providerId="LiveId" clId="{E556D9A2-2FB3-49C1-A723-3588794507C2}" dt="2026-04-01T12:03:21.684" v="632" actId="1076"/>
          <ac:spMkLst>
            <pc:docMk/>
            <pc:sldMk cId="2932699669" sldId="1181"/>
            <ac:spMk id="26" creationId="{943764CF-A350-829B-25ED-D64E05B03ADE}"/>
          </ac:spMkLst>
        </pc:spChg>
        <pc:spChg chg="add mod">
          <ac:chgData name="mohamed refay" userId="7ec7493fd5acaf6b" providerId="LiveId" clId="{E556D9A2-2FB3-49C1-A723-3588794507C2}" dt="2026-04-01T12:03:21.684" v="632" actId="1076"/>
          <ac:spMkLst>
            <pc:docMk/>
            <pc:sldMk cId="2932699669" sldId="1181"/>
            <ac:spMk id="27" creationId="{77BEC2F1-62F4-6C49-E9C0-0A910D4A35DB}"/>
          </ac:spMkLst>
        </pc:spChg>
        <pc:spChg chg="add mod">
          <ac:chgData name="mohamed refay" userId="7ec7493fd5acaf6b" providerId="LiveId" clId="{E556D9A2-2FB3-49C1-A723-3588794507C2}" dt="2026-04-01T12:03:21.684" v="632" actId="1076"/>
          <ac:spMkLst>
            <pc:docMk/>
            <pc:sldMk cId="2932699669" sldId="1181"/>
            <ac:spMk id="41" creationId="{892A6174-8197-C956-461B-9EA5FB08BD81}"/>
          </ac:spMkLst>
        </pc:spChg>
        <pc:spChg chg="add mod">
          <ac:chgData name="mohamed refay" userId="7ec7493fd5acaf6b" providerId="LiveId" clId="{E556D9A2-2FB3-49C1-A723-3588794507C2}" dt="2026-04-01T12:03:21.684" v="632" actId="1076"/>
          <ac:spMkLst>
            <pc:docMk/>
            <pc:sldMk cId="2932699669" sldId="1181"/>
            <ac:spMk id="46" creationId="{79EFEC20-67D3-F2EE-92AD-DE65AC4574C5}"/>
          </ac:spMkLst>
        </pc:spChg>
        <pc:spChg chg="add mod">
          <ac:chgData name="mohamed refay" userId="7ec7493fd5acaf6b" providerId="LiveId" clId="{E556D9A2-2FB3-49C1-A723-3588794507C2}" dt="2026-04-01T12:03:21.684" v="632" actId="1076"/>
          <ac:spMkLst>
            <pc:docMk/>
            <pc:sldMk cId="2932699669" sldId="1181"/>
            <ac:spMk id="47" creationId="{AF5839AE-DC4F-DE36-C303-94321C3D5C51}"/>
          </ac:spMkLst>
        </pc:spChg>
        <pc:spChg chg="add mod">
          <ac:chgData name="mohamed refay" userId="7ec7493fd5acaf6b" providerId="LiveId" clId="{E556D9A2-2FB3-49C1-A723-3588794507C2}" dt="2026-04-01T12:03:21.684" v="632" actId="1076"/>
          <ac:spMkLst>
            <pc:docMk/>
            <pc:sldMk cId="2932699669" sldId="1181"/>
            <ac:spMk id="53" creationId="{6796C302-CD46-0100-C935-D6251DA25B2D}"/>
          </ac:spMkLst>
        </pc:spChg>
        <pc:spChg chg="add mod">
          <ac:chgData name="mohamed refay" userId="7ec7493fd5acaf6b" providerId="LiveId" clId="{E556D9A2-2FB3-49C1-A723-3588794507C2}" dt="2026-04-01T12:03:21.684" v="632" actId="1076"/>
          <ac:spMkLst>
            <pc:docMk/>
            <pc:sldMk cId="2932699669" sldId="1181"/>
            <ac:spMk id="64" creationId="{57280C61-B6A6-76CF-4BB7-CC73ECB8551A}"/>
          </ac:spMkLst>
        </pc:spChg>
      </pc:sldChg>
      <pc:sldChg chg="addSp modSp add mod">
        <pc:chgData name="mohamed refay" userId="7ec7493fd5acaf6b" providerId="LiveId" clId="{E556D9A2-2FB3-49C1-A723-3588794507C2}" dt="2026-04-01T12:03:49.974" v="634" actId="1076"/>
        <pc:sldMkLst>
          <pc:docMk/>
          <pc:sldMk cId="2304676937" sldId="1182"/>
        </pc:sldMkLst>
        <pc:spChg chg="add mod">
          <ac:chgData name="mohamed refay" userId="7ec7493fd5acaf6b" providerId="LiveId" clId="{E556D9A2-2FB3-49C1-A723-3588794507C2}" dt="2026-04-01T12:03:49.974" v="634" actId="1076"/>
          <ac:spMkLst>
            <pc:docMk/>
            <pc:sldMk cId="2304676937" sldId="1182"/>
            <ac:spMk id="6" creationId="{17A78954-FC0E-6294-07AF-3CFB9CABAC21}"/>
          </ac:spMkLst>
        </pc:spChg>
        <pc:spChg chg="add mod">
          <ac:chgData name="mohamed refay" userId="7ec7493fd5acaf6b" providerId="LiveId" clId="{E556D9A2-2FB3-49C1-A723-3588794507C2}" dt="2026-04-01T12:03:49.974" v="634" actId="1076"/>
          <ac:spMkLst>
            <pc:docMk/>
            <pc:sldMk cId="2304676937" sldId="1182"/>
            <ac:spMk id="13" creationId="{F1C4FF1B-FCEC-9776-2289-C2E768207035}"/>
          </ac:spMkLst>
        </pc:spChg>
        <pc:spChg chg="add mod">
          <ac:chgData name="mohamed refay" userId="7ec7493fd5acaf6b" providerId="LiveId" clId="{E556D9A2-2FB3-49C1-A723-3588794507C2}" dt="2026-04-01T12:03:49.974" v="634" actId="1076"/>
          <ac:spMkLst>
            <pc:docMk/>
            <pc:sldMk cId="2304676937" sldId="1182"/>
            <ac:spMk id="14" creationId="{71F99C91-5173-2181-2131-9B2B20B5E03C}"/>
          </ac:spMkLst>
        </pc:spChg>
        <pc:spChg chg="add mod">
          <ac:chgData name="mohamed refay" userId="7ec7493fd5acaf6b" providerId="LiveId" clId="{E556D9A2-2FB3-49C1-A723-3588794507C2}" dt="2026-04-01T12:03:49.974" v="634" actId="1076"/>
          <ac:spMkLst>
            <pc:docMk/>
            <pc:sldMk cId="2304676937" sldId="1182"/>
            <ac:spMk id="24" creationId="{27BB052A-A25D-8C11-F4A0-B5BC8E4F9FBF}"/>
          </ac:spMkLst>
        </pc:spChg>
        <pc:spChg chg="add mod">
          <ac:chgData name="mohamed refay" userId="7ec7493fd5acaf6b" providerId="LiveId" clId="{E556D9A2-2FB3-49C1-A723-3588794507C2}" dt="2026-04-01T12:03:49.974" v="634" actId="1076"/>
          <ac:spMkLst>
            <pc:docMk/>
            <pc:sldMk cId="2304676937" sldId="1182"/>
            <ac:spMk id="25" creationId="{41D09127-9E94-3B15-C2C5-C172D967C2AB}"/>
          </ac:spMkLst>
        </pc:spChg>
        <pc:spChg chg="add mod">
          <ac:chgData name="mohamed refay" userId="7ec7493fd5acaf6b" providerId="LiveId" clId="{E556D9A2-2FB3-49C1-A723-3588794507C2}" dt="2026-04-01T12:03:49.974" v="634" actId="1076"/>
          <ac:spMkLst>
            <pc:docMk/>
            <pc:sldMk cId="2304676937" sldId="1182"/>
            <ac:spMk id="30" creationId="{A08B9BD7-D699-1C68-8F4E-3FA5748889A2}"/>
          </ac:spMkLst>
        </pc:spChg>
        <pc:spChg chg="add mod">
          <ac:chgData name="mohamed refay" userId="7ec7493fd5acaf6b" providerId="LiveId" clId="{E556D9A2-2FB3-49C1-A723-3588794507C2}" dt="2026-04-01T12:03:49.974" v="634" actId="1076"/>
          <ac:spMkLst>
            <pc:docMk/>
            <pc:sldMk cId="2304676937" sldId="1182"/>
            <ac:spMk id="31" creationId="{51EFF8EE-E225-2AF2-3786-47D5135AAFF1}"/>
          </ac:spMkLst>
        </pc:spChg>
        <pc:spChg chg="add mod">
          <ac:chgData name="mohamed refay" userId="7ec7493fd5acaf6b" providerId="LiveId" clId="{E556D9A2-2FB3-49C1-A723-3588794507C2}" dt="2026-04-01T12:03:49.974" v="634" actId="1076"/>
          <ac:spMkLst>
            <pc:docMk/>
            <pc:sldMk cId="2304676937" sldId="1182"/>
            <ac:spMk id="52" creationId="{EAD98382-7154-F897-CE53-0E2982EA62AA}"/>
          </ac:spMkLst>
        </pc:spChg>
        <pc:spChg chg="add mod">
          <ac:chgData name="mohamed refay" userId="7ec7493fd5acaf6b" providerId="LiveId" clId="{E556D9A2-2FB3-49C1-A723-3588794507C2}" dt="2026-04-01T12:03:49.974" v="634" actId="1076"/>
          <ac:spMkLst>
            <pc:docMk/>
            <pc:sldMk cId="2304676937" sldId="1182"/>
            <ac:spMk id="56" creationId="{DCB75F45-8359-CF1B-F41D-6606DF2AC1A0}"/>
          </ac:spMkLst>
        </pc:spChg>
        <pc:spChg chg="add mod">
          <ac:chgData name="mohamed refay" userId="7ec7493fd5acaf6b" providerId="LiveId" clId="{E556D9A2-2FB3-49C1-A723-3588794507C2}" dt="2026-04-01T12:03:49.974" v="634" actId="1076"/>
          <ac:spMkLst>
            <pc:docMk/>
            <pc:sldMk cId="2304676937" sldId="1182"/>
            <ac:spMk id="57" creationId="{B32A3B5C-4EFF-B3D8-45CC-E1AB70AD82C6}"/>
          </ac:spMkLst>
        </pc:spChg>
      </pc:sldChg>
      <pc:sldChg chg="addSp modSp add mod">
        <pc:chgData name="mohamed refay" userId="7ec7493fd5acaf6b" providerId="LiveId" clId="{E556D9A2-2FB3-49C1-A723-3588794507C2}" dt="2026-04-01T12:04:08.501" v="636" actId="1076"/>
        <pc:sldMkLst>
          <pc:docMk/>
          <pc:sldMk cId="157943435" sldId="1183"/>
        </pc:sldMkLst>
        <pc:spChg chg="add mod">
          <ac:chgData name="mohamed refay" userId="7ec7493fd5acaf6b" providerId="LiveId" clId="{E556D9A2-2FB3-49C1-A723-3588794507C2}" dt="2026-04-01T12:04:08.501" v="636" actId="1076"/>
          <ac:spMkLst>
            <pc:docMk/>
            <pc:sldMk cId="157943435" sldId="1183"/>
            <ac:spMk id="8" creationId="{061732C2-09CA-F4FE-2F4A-1EF764B5BE0A}"/>
          </ac:spMkLst>
        </pc:spChg>
        <pc:spChg chg="add mod">
          <ac:chgData name="mohamed refay" userId="7ec7493fd5acaf6b" providerId="LiveId" clId="{E556D9A2-2FB3-49C1-A723-3588794507C2}" dt="2026-04-01T12:04:08.501" v="636" actId="1076"/>
          <ac:spMkLst>
            <pc:docMk/>
            <pc:sldMk cId="157943435" sldId="1183"/>
            <ac:spMk id="16" creationId="{D6FEDA1C-AAB5-7186-57C3-BD7A0BA1AB9B}"/>
          </ac:spMkLst>
        </pc:spChg>
        <pc:spChg chg="add mod">
          <ac:chgData name="mohamed refay" userId="7ec7493fd5acaf6b" providerId="LiveId" clId="{E556D9A2-2FB3-49C1-A723-3588794507C2}" dt="2026-04-01T12:04:08.501" v="636" actId="1076"/>
          <ac:spMkLst>
            <pc:docMk/>
            <pc:sldMk cId="157943435" sldId="1183"/>
            <ac:spMk id="18" creationId="{D53391EB-CB0D-0C13-106F-6850E1F10017}"/>
          </ac:spMkLst>
        </pc:spChg>
        <pc:spChg chg="add mod">
          <ac:chgData name="mohamed refay" userId="7ec7493fd5acaf6b" providerId="LiveId" clId="{E556D9A2-2FB3-49C1-A723-3588794507C2}" dt="2026-04-01T12:04:08.501" v="636" actId="1076"/>
          <ac:spMkLst>
            <pc:docMk/>
            <pc:sldMk cId="157943435" sldId="1183"/>
            <ac:spMk id="26" creationId="{2D373CAA-87A2-16B0-0D85-ABE63DDB49CE}"/>
          </ac:spMkLst>
        </pc:spChg>
        <pc:spChg chg="add mod">
          <ac:chgData name="mohamed refay" userId="7ec7493fd5acaf6b" providerId="LiveId" clId="{E556D9A2-2FB3-49C1-A723-3588794507C2}" dt="2026-04-01T12:04:08.501" v="636" actId="1076"/>
          <ac:spMkLst>
            <pc:docMk/>
            <pc:sldMk cId="157943435" sldId="1183"/>
            <ac:spMk id="29" creationId="{944CABCE-DE1B-65B5-7E46-AEEE942A6069}"/>
          </ac:spMkLst>
        </pc:spChg>
        <pc:spChg chg="add mod">
          <ac:chgData name="mohamed refay" userId="7ec7493fd5acaf6b" providerId="LiveId" clId="{E556D9A2-2FB3-49C1-A723-3588794507C2}" dt="2026-04-01T12:04:08.501" v="636" actId="1076"/>
          <ac:spMkLst>
            <pc:docMk/>
            <pc:sldMk cId="157943435" sldId="1183"/>
            <ac:spMk id="30" creationId="{524F077D-653D-8A4E-690A-EE6D94688874}"/>
          </ac:spMkLst>
        </pc:spChg>
        <pc:spChg chg="add mod">
          <ac:chgData name="mohamed refay" userId="7ec7493fd5acaf6b" providerId="LiveId" clId="{E556D9A2-2FB3-49C1-A723-3588794507C2}" dt="2026-04-01T12:04:08.501" v="636" actId="1076"/>
          <ac:spMkLst>
            <pc:docMk/>
            <pc:sldMk cId="157943435" sldId="1183"/>
            <ac:spMk id="38" creationId="{B33C18FC-2930-3135-6381-89A3AC1A204F}"/>
          </ac:spMkLst>
        </pc:spChg>
        <pc:spChg chg="add mod">
          <ac:chgData name="mohamed refay" userId="7ec7493fd5acaf6b" providerId="LiveId" clId="{E556D9A2-2FB3-49C1-A723-3588794507C2}" dt="2026-04-01T12:04:08.501" v="636" actId="1076"/>
          <ac:spMkLst>
            <pc:docMk/>
            <pc:sldMk cId="157943435" sldId="1183"/>
            <ac:spMk id="40" creationId="{2ADBC4EF-8D6F-02D6-DD4A-1AA4E8A88E5D}"/>
          </ac:spMkLst>
        </pc:spChg>
        <pc:spChg chg="add mod">
          <ac:chgData name="mohamed refay" userId="7ec7493fd5acaf6b" providerId="LiveId" clId="{E556D9A2-2FB3-49C1-A723-3588794507C2}" dt="2026-04-01T12:04:08.501" v="636" actId="1076"/>
          <ac:spMkLst>
            <pc:docMk/>
            <pc:sldMk cId="157943435" sldId="1183"/>
            <ac:spMk id="47" creationId="{DC202E17-DD2C-D6AD-B745-B5BDCE91DE02}"/>
          </ac:spMkLst>
        </pc:spChg>
        <pc:spChg chg="add mod">
          <ac:chgData name="mohamed refay" userId="7ec7493fd5acaf6b" providerId="LiveId" clId="{E556D9A2-2FB3-49C1-A723-3588794507C2}" dt="2026-04-01T12:04:08.501" v="636" actId="1076"/>
          <ac:spMkLst>
            <pc:docMk/>
            <pc:sldMk cId="157943435" sldId="1183"/>
            <ac:spMk id="56" creationId="{1F293801-32D8-5F79-64B0-5DF83360DB4D}"/>
          </ac:spMkLst>
        </pc:spChg>
      </pc:sldChg>
      <pc:sldChg chg="addSp modSp add mod">
        <pc:chgData name="mohamed refay" userId="7ec7493fd5acaf6b" providerId="LiveId" clId="{E556D9A2-2FB3-49C1-A723-3588794507C2}" dt="2026-04-01T12:04:23.171" v="638" actId="1076"/>
        <pc:sldMkLst>
          <pc:docMk/>
          <pc:sldMk cId="2263365386" sldId="1184"/>
        </pc:sldMkLst>
        <pc:spChg chg="add mod">
          <ac:chgData name="mohamed refay" userId="7ec7493fd5acaf6b" providerId="LiveId" clId="{E556D9A2-2FB3-49C1-A723-3588794507C2}" dt="2026-04-01T12:04:23.171" v="638" actId="1076"/>
          <ac:spMkLst>
            <pc:docMk/>
            <pc:sldMk cId="2263365386" sldId="1184"/>
            <ac:spMk id="8" creationId="{8C0A51E5-C147-799D-5EE9-365287DDDD21}"/>
          </ac:spMkLst>
        </pc:spChg>
        <pc:spChg chg="add mod">
          <ac:chgData name="mohamed refay" userId="7ec7493fd5acaf6b" providerId="LiveId" clId="{E556D9A2-2FB3-49C1-A723-3588794507C2}" dt="2026-04-01T12:04:23.171" v="638" actId="1076"/>
          <ac:spMkLst>
            <pc:docMk/>
            <pc:sldMk cId="2263365386" sldId="1184"/>
            <ac:spMk id="12" creationId="{89B972AE-AD96-FF4B-4BF1-8F0BCEDBCAD4}"/>
          </ac:spMkLst>
        </pc:spChg>
        <pc:spChg chg="add mod">
          <ac:chgData name="mohamed refay" userId="7ec7493fd5acaf6b" providerId="LiveId" clId="{E556D9A2-2FB3-49C1-A723-3588794507C2}" dt="2026-04-01T12:04:23.171" v="638" actId="1076"/>
          <ac:spMkLst>
            <pc:docMk/>
            <pc:sldMk cId="2263365386" sldId="1184"/>
            <ac:spMk id="18" creationId="{918AECA0-4AB7-B51C-5036-FBB3974A8D51}"/>
          </ac:spMkLst>
        </pc:spChg>
        <pc:spChg chg="add mod">
          <ac:chgData name="mohamed refay" userId="7ec7493fd5acaf6b" providerId="LiveId" clId="{E556D9A2-2FB3-49C1-A723-3588794507C2}" dt="2026-04-01T12:04:23.171" v="638" actId="1076"/>
          <ac:spMkLst>
            <pc:docMk/>
            <pc:sldMk cId="2263365386" sldId="1184"/>
            <ac:spMk id="19" creationId="{BBECE9B2-F480-F167-5C6B-044A89BBE898}"/>
          </ac:spMkLst>
        </pc:spChg>
        <pc:spChg chg="add mod">
          <ac:chgData name="mohamed refay" userId="7ec7493fd5acaf6b" providerId="LiveId" clId="{E556D9A2-2FB3-49C1-A723-3588794507C2}" dt="2026-04-01T12:04:23.171" v="638" actId="1076"/>
          <ac:spMkLst>
            <pc:docMk/>
            <pc:sldMk cId="2263365386" sldId="1184"/>
            <ac:spMk id="31" creationId="{8200B6BA-1A7D-EFAA-EA33-551A52785027}"/>
          </ac:spMkLst>
        </pc:spChg>
        <pc:spChg chg="add mod">
          <ac:chgData name="mohamed refay" userId="7ec7493fd5acaf6b" providerId="LiveId" clId="{E556D9A2-2FB3-49C1-A723-3588794507C2}" dt="2026-04-01T12:04:23.171" v="638" actId="1076"/>
          <ac:spMkLst>
            <pc:docMk/>
            <pc:sldMk cId="2263365386" sldId="1184"/>
            <ac:spMk id="38" creationId="{AE68AA31-3D2E-180A-725F-356EA6F5D411}"/>
          </ac:spMkLst>
        </pc:spChg>
        <pc:spChg chg="add mod">
          <ac:chgData name="mohamed refay" userId="7ec7493fd5acaf6b" providerId="LiveId" clId="{E556D9A2-2FB3-49C1-A723-3588794507C2}" dt="2026-04-01T12:04:23.171" v="638" actId="1076"/>
          <ac:spMkLst>
            <pc:docMk/>
            <pc:sldMk cId="2263365386" sldId="1184"/>
            <ac:spMk id="42" creationId="{7823F5DC-8A28-E513-4824-AA7E1513CCFB}"/>
          </ac:spMkLst>
        </pc:spChg>
        <pc:spChg chg="add mod">
          <ac:chgData name="mohamed refay" userId="7ec7493fd5acaf6b" providerId="LiveId" clId="{E556D9A2-2FB3-49C1-A723-3588794507C2}" dt="2026-04-01T12:04:23.171" v="638" actId="1076"/>
          <ac:spMkLst>
            <pc:docMk/>
            <pc:sldMk cId="2263365386" sldId="1184"/>
            <ac:spMk id="46" creationId="{D64E63F0-51E9-E081-6D0D-8F9E1DFE5CE9}"/>
          </ac:spMkLst>
        </pc:spChg>
        <pc:spChg chg="add mod">
          <ac:chgData name="mohamed refay" userId="7ec7493fd5acaf6b" providerId="LiveId" clId="{E556D9A2-2FB3-49C1-A723-3588794507C2}" dt="2026-04-01T12:04:23.171" v="638" actId="1076"/>
          <ac:spMkLst>
            <pc:docMk/>
            <pc:sldMk cId="2263365386" sldId="1184"/>
            <ac:spMk id="48" creationId="{3D649581-2F38-59E3-CB3A-62B4BD091F4B}"/>
          </ac:spMkLst>
        </pc:spChg>
        <pc:spChg chg="add mod">
          <ac:chgData name="mohamed refay" userId="7ec7493fd5acaf6b" providerId="LiveId" clId="{E556D9A2-2FB3-49C1-A723-3588794507C2}" dt="2026-04-01T12:04:23.171" v="638" actId="1076"/>
          <ac:spMkLst>
            <pc:docMk/>
            <pc:sldMk cId="2263365386" sldId="1184"/>
            <ac:spMk id="53" creationId="{F72A19E5-FE45-88C6-782E-8C6933AECFDC}"/>
          </ac:spMkLst>
        </pc:spChg>
      </pc:sldChg>
      <pc:sldChg chg="addSp modSp add mod ord">
        <pc:chgData name="mohamed refay" userId="7ec7493fd5acaf6b" providerId="LiveId" clId="{E556D9A2-2FB3-49C1-A723-3588794507C2}" dt="2026-04-01T12:08:03.003" v="640" actId="1076"/>
        <pc:sldMkLst>
          <pc:docMk/>
          <pc:sldMk cId="2948200332" sldId="1185"/>
        </pc:sldMkLst>
        <pc:spChg chg="add mod">
          <ac:chgData name="mohamed refay" userId="7ec7493fd5acaf6b" providerId="LiveId" clId="{E556D9A2-2FB3-49C1-A723-3588794507C2}" dt="2026-04-01T12:08:03.003" v="640" actId="1076"/>
          <ac:spMkLst>
            <pc:docMk/>
            <pc:sldMk cId="2948200332" sldId="1185"/>
            <ac:spMk id="15" creationId="{E2843D30-80A4-00D5-162D-9FA5A2DE926A}"/>
          </ac:spMkLst>
        </pc:spChg>
        <pc:spChg chg="add mod">
          <ac:chgData name="mohamed refay" userId="7ec7493fd5acaf6b" providerId="LiveId" clId="{E556D9A2-2FB3-49C1-A723-3588794507C2}" dt="2026-04-01T12:08:03.003" v="640" actId="1076"/>
          <ac:spMkLst>
            <pc:docMk/>
            <pc:sldMk cId="2948200332" sldId="1185"/>
            <ac:spMk id="23" creationId="{AEA9EB24-DD73-58A3-5365-0D061501AA32}"/>
          </ac:spMkLst>
        </pc:spChg>
        <pc:spChg chg="add mod">
          <ac:chgData name="mohamed refay" userId="7ec7493fd5acaf6b" providerId="LiveId" clId="{E556D9A2-2FB3-49C1-A723-3588794507C2}" dt="2026-04-01T12:08:03.003" v="640" actId="1076"/>
          <ac:spMkLst>
            <pc:docMk/>
            <pc:sldMk cId="2948200332" sldId="1185"/>
            <ac:spMk id="24" creationId="{2124DC58-6F94-7F2F-F303-998B75F55AB3}"/>
          </ac:spMkLst>
        </pc:spChg>
        <pc:spChg chg="add mod">
          <ac:chgData name="mohamed refay" userId="7ec7493fd5acaf6b" providerId="LiveId" clId="{E556D9A2-2FB3-49C1-A723-3588794507C2}" dt="2026-04-01T12:08:03.003" v="640" actId="1076"/>
          <ac:spMkLst>
            <pc:docMk/>
            <pc:sldMk cId="2948200332" sldId="1185"/>
            <ac:spMk id="36" creationId="{7A7F0A56-40F7-6213-E586-3FC79EFBF629}"/>
          </ac:spMkLst>
        </pc:spChg>
        <pc:spChg chg="add mod">
          <ac:chgData name="mohamed refay" userId="7ec7493fd5acaf6b" providerId="LiveId" clId="{E556D9A2-2FB3-49C1-A723-3588794507C2}" dt="2026-04-01T12:08:03.003" v="640" actId="1076"/>
          <ac:spMkLst>
            <pc:docMk/>
            <pc:sldMk cId="2948200332" sldId="1185"/>
            <ac:spMk id="39" creationId="{B97B32D0-59B8-365D-CC8B-FFEDDC183A2B}"/>
          </ac:spMkLst>
        </pc:spChg>
        <pc:spChg chg="add mod">
          <ac:chgData name="mohamed refay" userId="7ec7493fd5acaf6b" providerId="LiveId" clId="{E556D9A2-2FB3-49C1-A723-3588794507C2}" dt="2026-04-01T12:08:03.003" v="640" actId="1076"/>
          <ac:spMkLst>
            <pc:docMk/>
            <pc:sldMk cId="2948200332" sldId="1185"/>
            <ac:spMk id="48" creationId="{2FE38D17-E60C-2608-7C43-E2D1E454D280}"/>
          </ac:spMkLst>
        </pc:spChg>
        <pc:spChg chg="add mod">
          <ac:chgData name="mohamed refay" userId="7ec7493fd5acaf6b" providerId="LiveId" clId="{E556D9A2-2FB3-49C1-A723-3588794507C2}" dt="2026-04-01T12:08:03.003" v="640" actId="1076"/>
          <ac:spMkLst>
            <pc:docMk/>
            <pc:sldMk cId="2948200332" sldId="1185"/>
            <ac:spMk id="50" creationId="{CC53EE4C-1C7E-2AA1-3629-F2955FFE7108}"/>
          </ac:spMkLst>
        </pc:spChg>
        <pc:spChg chg="add mod">
          <ac:chgData name="mohamed refay" userId="7ec7493fd5acaf6b" providerId="LiveId" clId="{E556D9A2-2FB3-49C1-A723-3588794507C2}" dt="2026-04-01T12:08:03.003" v="640" actId="1076"/>
          <ac:spMkLst>
            <pc:docMk/>
            <pc:sldMk cId="2948200332" sldId="1185"/>
            <ac:spMk id="52" creationId="{9EA574B8-4844-FBA9-B280-230E8CD09F24}"/>
          </ac:spMkLst>
        </pc:spChg>
        <pc:spChg chg="add mod">
          <ac:chgData name="mohamed refay" userId="7ec7493fd5acaf6b" providerId="LiveId" clId="{E556D9A2-2FB3-49C1-A723-3588794507C2}" dt="2026-04-01T12:08:03.003" v="640" actId="1076"/>
          <ac:spMkLst>
            <pc:docMk/>
            <pc:sldMk cId="2948200332" sldId="1185"/>
            <ac:spMk id="64" creationId="{DF0259F7-28A4-8355-C633-8006A53FD63B}"/>
          </ac:spMkLst>
        </pc:spChg>
        <pc:spChg chg="add mod">
          <ac:chgData name="mohamed refay" userId="7ec7493fd5acaf6b" providerId="LiveId" clId="{E556D9A2-2FB3-49C1-A723-3588794507C2}" dt="2026-04-01T12:08:03.003" v="640" actId="1076"/>
          <ac:spMkLst>
            <pc:docMk/>
            <pc:sldMk cId="2948200332" sldId="1185"/>
            <ac:spMk id="85" creationId="{8CB55808-7EB0-B13D-F6D4-0F573C9BDA65}"/>
          </ac:spMkLst>
        </pc:spChg>
      </pc:sldChg>
      <pc:sldChg chg="addSp modSp add mod">
        <pc:chgData name="mohamed refay" userId="7ec7493fd5acaf6b" providerId="LiveId" clId="{E556D9A2-2FB3-49C1-A723-3588794507C2}" dt="2026-04-01T12:08:20.610" v="642" actId="1076"/>
        <pc:sldMkLst>
          <pc:docMk/>
          <pc:sldMk cId="2249379714" sldId="1186"/>
        </pc:sldMkLst>
        <pc:spChg chg="add mod">
          <ac:chgData name="mohamed refay" userId="7ec7493fd5acaf6b" providerId="LiveId" clId="{E556D9A2-2FB3-49C1-A723-3588794507C2}" dt="2026-04-01T12:08:20.610" v="642" actId="1076"/>
          <ac:spMkLst>
            <pc:docMk/>
            <pc:sldMk cId="2249379714" sldId="1186"/>
            <ac:spMk id="4" creationId="{97E83136-F457-B310-CBA2-25C2E6D434F8}"/>
          </ac:spMkLst>
        </pc:spChg>
        <pc:spChg chg="add mod">
          <ac:chgData name="mohamed refay" userId="7ec7493fd5acaf6b" providerId="LiveId" clId="{E556D9A2-2FB3-49C1-A723-3588794507C2}" dt="2026-04-01T12:08:20.610" v="642" actId="1076"/>
          <ac:spMkLst>
            <pc:docMk/>
            <pc:sldMk cId="2249379714" sldId="1186"/>
            <ac:spMk id="20" creationId="{30828A81-2D28-E2E1-9149-1EF4F59DBC09}"/>
          </ac:spMkLst>
        </pc:spChg>
        <pc:spChg chg="add mod">
          <ac:chgData name="mohamed refay" userId="7ec7493fd5acaf6b" providerId="LiveId" clId="{E556D9A2-2FB3-49C1-A723-3588794507C2}" dt="2026-04-01T12:08:20.610" v="642" actId="1076"/>
          <ac:spMkLst>
            <pc:docMk/>
            <pc:sldMk cId="2249379714" sldId="1186"/>
            <ac:spMk id="31" creationId="{44F54932-0D04-7182-525D-92AE69E3CF84}"/>
          </ac:spMkLst>
        </pc:spChg>
        <pc:spChg chg="add mod">
          <ac:chgData name="mohamed refay" userId="7ec7493fd5acaf6b" providerId="LiveId" clId="{E556D9A2-2FB3-49C1-A723-3588794507C2}" dt="2026-04-01T12:08:20.610" v="642" actId="1076"/>
          <ac:spMkLst>
            <pc:docMk/>
            <pc:sldMk cId="2249379714" sldId="1186"/>
            <ac:spMk id="48" creationId="{3BE1BEC5-72EA-B51F-BEEB-7E14EFD408A7}"/>
          </ac:spMkLst>
        </pc:spChg>
        <pc:spChg chg="add mod">
          <ac:chgData name="mohamed refay" userId="7ec7493fd5acaf6b" providerId="LiveId" clId="{E556D9A2-2FB3-49C1-A723-3588794507C2}" dt="2026-04-01T12:08:20.610" v="642" actId="1076"/>
          <ac:spMkLst>
            <pc:docMk/>
            <pc:sldMk cId="2249379714" sldId="1186"/>
            <ac:spMk id="64" creationId="{4CE2D929-05B7-76CB-3AAD-FC82D49DFEDD}"/>
          </ac:spMkLst>
        </pc:spChg>
        <pc:spChg chg="add mod">
          <ac:chgData name="mohamed refay" userId="7ec7493fd5acaf6b" providerId="LiveId" clId="{E556D9A2-2FB3-49C1-A723-3588794507C2}" dt="2026-04-01T12:08:20.610" v="642" actId="1076"/>
          <ac:spMkLst>
            <pc:docMk/>
            <pc:sldMk cId="2249379714" sldId="1186"/>
            <ac:spMk id="69" creationId="{654EF88B-D9B0-976E-639B-0280479D0610}"/>
          </ac:spMkLst>
        </pc:spChg>
        <pc:spChg chg="add mod">
          <ac:chgData name="mohamed refay" userId="7ec7493fd5acaf6b" providerId="LiveId" clId="{E556D9A2-2FB3-49C1-A723-3588794507C2}" dt="2026-04-01T12:08:20.610" v="642" actId="1076"/>
          <ac:spMkLst>
            <pc:docMk/>
            <pc:sldMk cId="2249379714" sldId="1186"/>
            <ac:spMk id="71" creationId="{4CC6D401-D25A-DF54-E45E-69F3CD3A1565}"/>
          </ac:spMkLst>
        </pc:spChg>
        <pc:spChg chg="add mod">
          <ac:chgData name="mohamed refay" userId="7ec7493fd5acaf6b" providerId="LiveId" clId="{E556D9A2-2FB3-49C1-A723-3588794507C2}" dt="2026-04-01T12:08:20.610" v="642" actId="1076"/>
          <ac:spMkLst>
            <pc:docMk/>
            <pc:sldMk cId="2249379714" sldId="1186"/>
            <ac:spMk id="77" creationId="{7E0485AA-F08C-EAF3-FD87-8ECE144B136A}"/>
          </ac:spMkLst>
        </pc:spChg>
        <pc:spChg chg="add mod">
          <ac:chgData name="mohamed refay" userId="7ec7493fd5acaf6b" providerId="LiveId" clId="{E556D9A2-2FB3-49C1-A723-3588794507C2}" dt="2026-04-01T12:08:20.610" v="642" actId="1076"/>
          <ac:spMkLst>
            <pc:docMk/>
            <pc:sldMk cId="2249379714" sldId="1186"/>
            <ac:spMk id="82" creationId="{AAB3CF89-7355-16DD-8413-3B8EACA50CBB}"/>
          </ac:spMkLst>
        </pc:spChg>
        <pc:spChg chg="add mod">
          <ac:chgData name="mohamed refay" userId="7ec7493fd5acaf6b" providerId="LiveId" clId="{E556D9A2-2FB3-49C1-A723-3588794507C2}" dt="2026-04-01T12:08:20.610" v="642" actId="1076"/>
          <ac:spMkLst>
            <pc:docMk/>
            <pc:sldMk cId="2249379714" sldId="1186"/>
            <ac:spMk id="88" creationId="{40559655-2BC3-C707-CBBA-0554BE22E38E}"/>
          </ac:spMkLst>
        </pc:spChg>
      </pc:sldChg>
      <pc:sldChg chg="addSp modSp add mod">
        <pc:chgData name="mohamed refay" userId="7ec7493fd5acaf6b" providerId="LiveId" clId="{E556D9A2-2FB3-49C1-A723-3588794507C2}" dt="2026-04-01T12:08:42.394" v="644" actId="1076"/>
        <pc:sldMkLst>
          <pc:docMk/>
          <pc:sldMk cId="1744028760" sldId="1187"/>
        </pc:sldMkLst>
        <pc:spChg chg="add mod">
          <ac:chgData name="mohamed refay" userId="7ec7493fd5acaf6b" providerId="LiveId" clId="{E556D9A2-2FB3-49C1-A723-3588794507C2}" dt="2026-04-01T12:08:42.394" v="644" actId="1076"/>
          <ac:spMkLst>
            <pc:docMk/>
            <pc:sldMk cId="1744028760" sldId="1187"/>
            <ac:spMk id="22" creationId="{41BDF547-FC45-384B-B332-A877588D6D45}"/>
          </ac:spMkLst>
        </pc:spChg>
        <pc:spChg chg="add mod">
          <ac:chgData name="mohamed refay" userId="7ec7493fd5acaf6b" providerId="LiveId" clId="{E556D9A2-2FB3-49C1-A723-3588794507C2}" dt="2026-04-01T12:08:42.394" v="644" actId="1076"/>
          <ac:spMkLst>
            <pc:docMk/>
            <pc:sldMk cId="1744028760" sldId="1187"/>
            <ac:spMk id="28" creationId="{60815944-DB34-9272-DB33-069BA7ADCAEA}"/>
          </ac:spMkLst>
        </pc:spChg>
        <pc:spChg chg="add mod">
          <ac:chgData name="mohamed refay" userId="7ec7493fd5acaf6b" providerId="LiveId" clId="{E556D9A2-2FB3-49C1-A723-3588794507C2}" dt="2026-04-01T12:08:42.394" v="644" actId="1076"/>
          <ac:spMkLst>
            <pc:docMk/>
            <pc:sldMk cId="1744028760" sldId="1187"/>
            <ac:spMk id="41" creationId="{6C7D656D-7DC6-35EB-D5B6-7B472AF04F81}"/>
          </ac:spMkLst>
        </pc:spChg>
        <pc:spChg chg="add mod">
          <ac:chgData name="mohamed refay" userId="7ec7493fd5acaf6b" providerId="LiveId" clId="{E556D9A2-2FB3-49C1-A723-3588794507C2}" dt="2026-04-01T12:08:42.394" v="644" actId="1076"/>
          <ac:spMkLst>
            <pc:docMk/>
            <pc:sldMk cId="1744028760" sldId="1187"/>
            <ac:spMk id="47" creationId="{C81395A9-62F7-EB85-83FA-AEE7BB1AC71F}"/>
          </ac:spMkLst>
        </pc:spChg>
        <pc:spChg chg="add mod">
          <ac:chgData name="mohamed refay" userId="7ec7493fd5acaf6b" providerId="LiveId" clId="{E556D9A2-2FB3-49C1-A723-3588794507C2}" dt="2026-04-01T12:08:42.394" v="644" actId="1076"/>
          <ac:spMkLst>
            <pc:docMk/>
            <pc:sldMk cId="1744028760" sldId="1187"/>
            <ac:spMk id="48" creationId="{1694A9B6-5E9F-5C10-C619-6F482ED64114}"/>
          </ac:spMkLst>
        </pc:spChg>
        <pc:spChg chg="add mod">
          <ac:chgData name="mohamed refay" userId="7ec7493fd5acaf6b" providerId="LiveId" clId="{E556D9A2-2FB3-49C1-A723-3588794507C2}" dt="2026-04-01T12:08:42.394" v="644" actId="1076"/>
          <ac:spMkLst>
            <pc:docMk/>
            <pc:sldMk cId="1744028760" sldId="1187"/>
            <ac:spMk id="50" creationId="{4F0C60F9-818F-BBAC-0B72-37E38EC132E5}"/>
          </ac:spMkLst>
        </pc:spChg>
        <pc:spChg chg="add mod">
          <ac:chgData name="mohamed refay" userId="7ec7493fd5acaf6b" providerId="LiveId" clId="{E556D9A2-2FB3-49C1-A723-3588794507C2}" dt="2026-04-01T12:08:42.394" v="644" actId="1076"/>
          <ac:spMkLst>
            <pc:docMk/>
            <pc:sldMk cId="1744028760" sldId="1187"/>
            <ac:spMk id="67" creationId="{83875801-CD6E-576D-10AE-0BD394BAE071}"/>
          </ac:spMkLst>
        </pc:spChg>
        <pc:spChg chg="add mod">
          <ac:chgData name="mohamed refay" userId="7ec7493fd5acaf6b" providerId="LiveId" clId="{E556D9A2-2FB3-49C1-A723-3588794507C2}" dt="2026-04-01T12:08:42.394" v="644" actId="1076"/>
          <ac:spMkLst>
            <pc:docMk/>
            <pc:sldMk cId="1744028760" sldId="1187"/>
            <ac:spMk id="73" creationId="{65E2EA08-E490-3DAD-2185-BFA393773FFD}"/>
          </ac:spMkLst>
        </pc:spChg>
        <pc:spChg chg="add mod">
          <ac:chgData name="mohamed refay" userId="7ec7493fd5acaf6b" providerId="LiveId" clId="{E556D9A2-2FB3-49C1-A723-3588794507C2}" dt="2026-04-01T12:08:42.394" v="644" actId="1076"/>
          <ac:spMkLst>
            <pc:docMk/>
            <pc:sldMk cId="1744028760" sldId="1187"/>
            <ac:spMk id="84" creationId="{1ED1E1F9-EED8-647E-A0D6-44FBC31DBD3E}"/>
          </ac:spMkLst>
        </pc:spChg>
        <pc:spChg chg="add mod">
          <ac:chgData name="mohamed refay" userId="7ec7493fd5acaf6b" providerId="LiveId" clId="{E556D9A2-2FB3-49C1-A723-3588794507C2}" dt="2026-04-01T12:08:42.394" v="644" actId="1076"/>
          <ac:spMkLst>
            <pc:docMk/>
            <pc:sldMk cId="1744028760" sldId="1187"/>
            <ac:spMk id="88" creationId="{EB9C877F-A1E9-50DB-A2EF-2B6C20C083CF}"/>
          </ac:spMkLst>
        </pc:spChg>
      </pc:sldChg>
      <pc:sldChg chg="addSp modSp add mod">
        <pc:chgData name="mohamed refay" userId="7ec7493fd5acaf6b" providerId="LiveId" clId="{E556D9A2-2FB3-49C1-A723-3588794507C2}" dt="2026-04-01T12:13:49.919" v="646" actId="1076"/>
        <pc:sldMkLst>
          <pc:docMk/>
          <pc:sldMk cId="1576670831" sldId="1188"/>
        </pc:sldMkLst>
        <pc:spChg chg="add mod">
          <ac:chgData name="mohamed refay" userId="7ec7493fd5acaf6b" providerId="LiveId" clId="{E556D9A2-2FB3-49C1-A723-3588794507C2}" dt="2026-04-01T12:13:49.919" v="646" actId="1076"/>
          <ac:spMkLst>
            <pc:docMk/>
            <pc:sldMk cId="1576670831" sldId="1188"/>
            <ac:spMk id="6" creationId="{793E4345-D33D-0CB1-2C76-A2634508B4DC}"/>
          </ac:spMkLst>
        </pc:spChg>
        <pc:spChg chg="add mod">
          <ac:chgData name="mohamed refay" userId="7ec7493fd5acaf6b" providerId="LiveId" clId="{E556D9A2-2FB3-49C1-A723-3588794507C2}" dt="2026-04-01T12:13:49.919" v="646" actId="1076"/>
          <ac:spMkLst>
            <pc:docMk/>
            <pc:sldMk cId="1576670831" sldId="1188"/>
            <ac:spMk id="18" creationId="{7CB215F4-458A-46C1-08BD-02E21EBE8606}"/>
          </ac:spMkLst>
        </pc:spChg>
        <pc:spChg chg="add mod">
          <ac:chgData name="mohamed refay" userId="7ec7493fd5acaf6b" providerId="LiveId" clId="{E556D9A2-2FB3-49C1-A723-3588794507C2}" dt="2026-04-01T12:13:49.919" v="646" actId="1076"/>
          <ac:spMkLst>
            <pc:docMk/>
            <pc:sldMk cId="1576670831" sldId="1188"/>
            <ac:spMk id="23" creationId="{7C15EBAF-2FAE-80EC-A062-0C4D06E3D486}"/>
          </ac:spMkLst>
        </pc:spChg>
        <pc:spChg chg="add mod">
          <ac:chgData name="mohamed refay" userId="7ec7493fd5acaf6b" providerId="LiveId" clId="{E556D9A2-2FB3-49C1-A723-3588794507C2}" dt="2026-04-01T12:13:49.919" v="646" actId="1076"/>
          <ac:spMkLst>
            <pc:docMk/>
            <pc:sldMk cId="1576670831" sldId="1188"/>
            <ac:spMk id="32" creationId="{F923D6B3-59D8-9E0D-7D56-0DFD597E9C4E}"/>
          </ac:spMkLst>
        </pc:spChg>
        <pc:spChg chg="add mod">
          <ac:chgData name="mohamed refay" userId="7ec7493fd5acaf6b" providerId="LiveId" clId="{E556D9A2-2FB3-49C1-A723-3588794507C2}" dt="2026-04-01T12:13:49.919" v="646" actId="1076"/>
          <ac:spMkLst>
            <pc:docMk/>
            <pc:sldMk cId="1576670831" sldId="1188"/>
            <ac:spMk id="38" creationId="{A230A3B1-E04C-D046-F0BD-149A5B122F30}"/>
          </ac:spMkLst>
        </pc:spChg>
        <pc:spChg chg="add mod">
          <ac:chgData name="mohamed refay" userId="7ec7493fd5acaf6b" providerId="LiveId" clId="{E556D9A2-2FB3-49C1-A723-3588794507C2}" dt="2026-04-01T12:13:49.919" v="646" actId="1076"/>
          <ac:spMkLst>
            <pc:docMk/>
            <pc:sldMk cId="1576670831" sldId="1188"/>
            <ac:spMk id="40" creationId="{3952D696-42C1-64E1-DA23-2B55579E70B2}"/>
          </ac:spMkLst>
        </pc:spChg>
        <pc:spChg chg="add mod">
          <ac:chgData name="mohamed refay" userId="7ec7493fd5acaf6b" providerId="LiveId" clId="{E556D9A2-2FB3-49C1-A723-3588794507C2}" dt="2026-04-01T12:13:49.919" v="646" actId="1076"/>
          <ac:spMkLst>
            <pc:docMk/>
            <pc:sldMk cId="1576670831" sldId="1188"/>
            <ac:spMk id="47" creationId="{EA9DA392-AFCC-E78B-C49D-0B367E0BBED2}"/>
          </ac:spMkLst>
        </pc:spChg>
        <pc:spChg chg="add mod">
          <ac:chgData name="mohamed refay" userId="7ec7493fd5acaf6b" providerId="LiveId" clId="{E556D9A2-2FB3-49C1-A723-3588794507C2}" dt="2026-04-01T12:13:49.919" v="646" actId="1076"/>
          <ac:spMkLst>
            <pc:docMk/>
            <pc:sldMk cId="1576670831" sldId="1188"/>
            <ac:spMk id="48" creationId="{BE6FB7CB-6E3B-8924-E581-CFEE434DDF22}"/>
          </ac:spMkLst>
        </pc:spChg>
        <pc:spChg chg="add mod">
          <ac:chgData name="mohamed refay" userId="7ec7493fd5acaf6b" providerId="LiveId" clId="{E556D9A2-2FB3-49C1-A723-3588794507C2}" dt="2026-04-01T12:13:49.919" v="646" actId="1076"/>
          <ac:spMkLst>
            <pc:docMk/>
            <pc:sldMk cId="1576670831" sldId="1188"/>
            <ac:spMk id="71" creationId="{61BC87EC-5426-851F-F05A-E76645F4594E}"/>
          </ac:spMkLst>
        </pc:spChg>
        <pc:spChg chg="add mod">
          <ac:chgData name="mohamed refay" userId="7ec7493fd5acaf6b" providerId="LiveId" clId="{E556D9A2-2FB3-49C1-A723-3588794507C2}" dt="2026-04-01T12:13:49.919" v="646" actId="1076"/>
          <ac:spMkLst>
            <pc:docMk/>
            <pc:sldMk cId="1576670831" sldId="1188"/>
            <ac:spMk id="85" creationId="{EB69F8EB-4160-3C48-EB50-C72211D710D5}"/>
          </ac:spMkLst>
        </pc:spChg>
      </pc:sldChg>
      <pc:sldChg chg="addSp modSp add mod">
        <pc:chgData name="mohamed refay" userId="7ec7493fd5acaf6b" providerId="LiveId" clId="{E556D9A2-2FB3-49C1-A723-3588794507C2}" dt="2026-04-01T12:16:39.697" v="648" actId="1076"/>
        <pc:sldMkLst>
          <pc:docMk/>
          <pc:sldMk cId="3262215248" sldId="1189"/>
        </pc:sldMkLst>
        <pc:spChg chg="add mod">
          <ac:chgData name="mohamed refay" userId="7ec7493fd5acaf6b" providerId="LiveId" clId="{E556D9A2-2FB3-49C1-A723-3588794507C2}" dt="2026-04-01T12:16:39.697" v="648" actId="1076"/>
          <ac:spMkLst>
            <pc:docMk/>
            <pc:sldMk cId="3262215248" sldId="1189"/>
            <ac:spMk id="13" creationId="{407E5E61-27A0-C898-25EC-8210CF27E2BB}"/>
          </ac:spMkLst>
        </pc:spChg>
        <pc:spChg chg="add mod">
          <ac:chgData name="mohamed refay" userId="7ec7493fd5acaf6b" providerId="LiveId" clId="{E556D9A2-2FB3-49C1-A723-3588794507C2}" dt="2026-04-01T12:16:39.697" v="648" actId="1076"/>
          <ac:spMkLst>
            <pc:docMk/>
            <pc:sldMk cId="3262215248" sldId="1189"/>
            <ac:spMk id="39" creationId="{9680F467-5AA6-DF5D-5D24-4FB47690F90B}"/>
          </ac:spMkLst>
        </pc:spChg>
        <pc:spChg chg="add mod">
          <ac:chgData name="mohamed refay" userId="7ec7493fd5acaf6b" providerId="LiveId" clId="{E556D9A2-2FB3-49C1-A723-3588794507C2}" dt="2026-04-01T12:16:39.697" v="648" actId="1076"/>
          <ac:spMkLst>
            <pc:docMk/>
            <pc:sldMk cId="3262215248" sldId="1189"/>
            <ac:spMk id="52" creationId="{51CAD2B2-49A8-2D67-5C2F-8A6BFBC71B54}"/>
          </ac:spMkLst>
        </pc:spChg>
        <pc:spChg chg="add mod">
          <ac:chgData name="mohamed refay" userId="7ec7493fd5acaf6b" providerId="LiveId" clId="{E556D9A2-2FB3-49C1-A723-3588794507C2}" dt="2026-04-01T12:16:39.697" v="648" actId="1076"/>
          <ac:spMkLst>
            <pc:docMk/>
            <pc:sldMk cId="3262215248" sldId="1189"/>
            <ac:spMk id="54" creationId="{2A6DA7FC-B68B-24C4-502F-594EB5CEA2EC}"/>
          </ac:spMkLst>
        </pc:spChg>
        <pc:spChg chg="add mod">
          <ac:chgData name="mohamed refay" userId="7ec7493fd5acaf6b" providerId="LiveId" clId="{E556D9A2-2FB3-49C1-A723-3588794507C2}" dt="2026-04-01T12:16:39.697" v="648" actId="1076"/>
          <ac:spMkLst>
            <pc:docMk/>
            <pc:sldMk cId="3262215248" sldId="1189"/>
            <ac:spMk id="68" creationId="{59B38BAB-1CB2-7CC7-B415-E9E67B49EC6B}"/>
          </ac:spMkLst>
        </pc:spChg>
        <pc:spChg chg="add mod">
          <ac:chgData name="mohamed refay" userId="7ec7493fd5acaf6b" providerId="LiveId" clId="{E556D9A2-2FB3-49C1-A723-3588794507C2}" dt="2026-04-01T12:16:39.697" v="648" actId="1076"/>
          <ac:spMkLst>
            <pc:docMk/>
            <pc:sldMk cId="3262215248" sldId="1189"/>
            <ac:spMk id="77" creationId="{202CDB02-5110-011E-F17E-9839B4FDE79D}"/>
          </ac:spMkLst>
        </pc:spChg>
        <pc:spChg chg="add mod">
          <ac:chgData name="mohamed refay" userId="7ec7493fd5acaf6b" providerId="LiveId" clId="{E556D9A2-2FB3-49C1-A723-3588794507C2}" dt="2026-04-01T12:16:39.697" v="648" actId="1076"/>
          <ac:spMkLst>
            <pc:docMk/>
            <pc:sldMk cId="3262215248" sldId="1189"/>
            <ac:spMk id="81" creationId="{3A2E6921-878A-934D-8306-8041F670CAB2}"/>
          </ac:spMkLst>
        </pc:spChg>
        <pc:spChg chg="add mod">
          <ac:chgData name="mohamed refay" userId="7ec7493fd5acaf6b" providerId="LiveId" clId="{E556D9A2-2FB3-49C1-A723-3588794507C2}" dt="2026-04-01T12:16:39.697" v="648" actId="1076"/>
          <ac:spMkLst>
            <pc:docMk/>
            <pc:sldMk cId="3262215248" sldId="1189"/>
            <ac:spMk id="86" creationId="{070CBEE2-99CA-8962-8511-93FFB813F5C6}"/>
          </ac:spMkLst>
        </pc:spChg>
        <pc:spChg chg="add mod">
          <ac:chgData name="mohamed refay" userId="7ec7493fd5acaf6b" providerId="LiveId" clId="{E556D9A2-2FB3-49C1-A723-3588794507C2}" dt="2026-04-01T12:16:39.697" v="648" actId="1076"/>
          <ac:spMkLst>
            <pc:docMk/>
            <pc:sldMk cId="3262215248" sldId="1189"/>
            <ac:spMk id="91" creationId="{7FA6A40B-909F-DEC6-2136-51F63F7A7866}"/>
          </ac:spMkLst>
        </pc:spChg>
        <pc:spChg chg="add mod">
          <ac:chgData name="mohamed refay" userId="7ec7493fd5acaf6b" providerId="LiveId" clId="{E556D9A2-2FB3-49C1-A723-3588794507C2}" dt="2026-04-01T12:16:39.697" v="648" actId="1076"/>
          <ac:spMkLst>
            <pc:docMk/>
            <pc:sldMk cId="3262215248" sldId="1189"/>
            <ac:spMk id="92" creationId="{BE4E125C-407A-6162-9983-850E3DAE1A19}"/>
          </ac:spMkLst>
        </pc:spChg>
      </pc:sldChg>
      <pc:sldChg chg="addSp modSp add mod">
        <pc:chgData name="mohamed refay" userId="7ec7493fd5acaf6b" providerId="LiveId" clId="{E556D9A2-2FB3-49C1-A723-3588794507C2}" dt="2026-04-01T12:16:58.722" v="650" actId="1076"/>
        <pc:sldMkLst>
          <pc:docMk/>
          <pc:sldMk cId="383618592" sldId="1190"/>
        </pc:sldMkLst>
        <pc:spChg chg="add mod">
          <ac:chgData name="mohamed refay" userId="7ec7493fd5acaf6b" providerId="LiveId" clId="{E556D9A2-2FB3-49C1-A723-3588794507C2}" dt="2026-04-01T12:16:58.722" v="650" actId="1076"/>
          <ac:spMkLst>
            <pc:docMk/>
            <pc:sldMk cId="383618592" sldId="1190"/>
            <ac:spMk id="4" creationId="{2319B834-0D8C-8AB1-18FC-785B89794B25}"/>
          </ac:spMkLst>
        </pc:spChg>
        <pc:spChg chg="add mod">
          <ac:chgData name="mohamed refay" userId="7ec7493fd5acaf6b" providerId="LiveId" clId="{E556D9A2-2FB3-49C1-A723-3588794507C2}" dt="2026-04-01T12:16:58.722" v="650" actId="1076"/>
          <ac:spMkLst>
            <pc:docMk/>
            <pc:sldMk cId="383618592" sldId="1190"/>
            <ac:spMk id="14" creationId="{FC595F3E-5B60-3711-AABF-30277D51D534}"/>
          </ac:spMkLst>
        </pc:spChg>
        <pc:spChg chg="add mod">
          <ac:chgData name="mohamed refay" userId="7ec7493fd5acaf6b" providerId="LiveId" clId="{E556D9A2-2FB3-49C1-A723-3588794507C2}" dt="2026-04-01T12:16:58.722" v="650" actId="1076"/>
          <ac:spMkLst>
            <pc:docMk/>
            <pc:sldMk cId="383618592" sldId="1190"/>
            <ac:spMk id="15" creationId="{03505146-EF78-28F5-A2A4-56DF6297DC07}"/>
          </ac:spMkLst>
        </pc:spChg>
        <pc:spChg chg="add mod">
          <ac:chgData name="mohamed refay" userId="7ec7493fd5acaf6b" providerId="LiveId" clId="{E556D9A2-2FB3-49C1-A723-3588794507C2}" dt="2026-04-01T12:16:58.722" v="650" actId="1076"/>
          <ac:spMkLst>
            <pc:docMk/>
            <pc:sldMk cId="383618592" sldId="1190"/>
            <ac:spMk id="18" creationId="{BC9C1BF0-4029-6965-B86E-4A34574ABC7D}"/>
          </ac:spMkLst>
        </pc:spChg>
        <pc:spChg chg="add mod">
          <ac:chgData name="mohamed refay" userId="7ec7493fd5acaf6b" providerId="LiveId" clId="{E556D9A2-2FB3-49C1-A723-3588794507C2}" dt="2026-04-01T12:16:58.722" v="650" actId="1076"/>
          <ac:spMkLst>
            <pc:docMk/>
            <pc:sldMk cId="383618592" sldId="1190"/>
            <ac:spMk id="21" creationId="{6AE2AC6C-17A3-7EAF-1E9E-FD3D461E8EE8}"/>
          </ac:spMkLst>
        </pc:spChg>
        <pc:spChg chg="add mod">
          <ac:chgData name="mohamed refay" userId="7ec7493fd5acaf6b" providerId="LiveId" clId="{E556D9A2-2FB3-49C1-A723-3588794507C2}" dt="2026-04-01T12:16:58.722" v="650" actId="1076"/>
          <ac:spMkLst>
            <pc:docMk/>
            <pc:sldMk cId="383618592" sldId="1190"/>
            <ac:spMk id="30" creationId="{B19F2163-C31B-41AE-2A3A-682B765B96B3}"/>
          </ac:spMkLst>
        </pc:spChg>
        <pc:spChg chg="add mod">
          <ac:chgData name="mohamed refay" userId="7ec7493fd5acaf6b" providerId="LiveId" clId="{E556D9A2-2FB3-49C1-A723-3588794507C2}" dt="2026-04-01T12:16:58.722" v="650" actId="1076"/>
          <ac:spMkLst>
            <pc:docMk/>
            <pc:sldMk cId="383618592" sldId="1190"/>
            <ac:spMk id="35" creationId="{11D5641B-5060-FC43-1DFB-1613DBA4BBE1}"/>
          </ac:spMkLst>
        </pc:spChg>
        <pc:spChg chg="add mod">
          <ac:chgData name="mohamed refay" userId="7ec7493fd5acaf6b" providerId="LiveId" clId="{E556D9A2-2FB3-49C1-A723-3588794507C2}" dt="2026-04-01T12:16:58.722" v="650" actId="1076"/>
          <ac:spMkLst>
            <pc:docMk/>
            <pc:sldMk cId="383618592" sldId="1190"/>
            <ac:spMk id="43" creationId="{519EA786-F50C-A16F-EC32-BE92CD98474E}"/>
          </ac:spMkLst>
        </pc:spChg>
        <pc:spChg chg="add mod">
          <ac:chgData name="mohamed refay" userId="7ec7493fd5acaf6b" providerId="LiveId" clId="{E556D9A2-2FB3-49C1-A723-3588794507C2}" dt="2026-04-01T12:16:58.722" v="650" actId="1076"/>
          <ac:spMkLst>
            <pc:docMk/>
            <pc:sldMk cId="383618592" sldId="1190"/>
            <ac:spMk id="47" creationId="{E0DC8938-8388-B2D2-E1AB-66DE0C599EC4}"/>
          </ac:spMkLst>
        </pc:spChg>
        <pc:spChg chg="add mod">
          <ac:chgData name="mohamed refay" userId="7ec7493fd5acaf6b" providerId="LiveId" clId="{E556D9A2-2FB3-49C1-A723-3588794507C2}" dt="2026-04-01T12:16:58.722" v="650" actId="1076"/>
          <ac:spMkLst>
            <pc:docMk/>
            <pc:sldMk cId="383618592" sldId="1190"/>
            <ac:spMk id="56" creationId="{CED26818-190C-AD58-C4FE-5EF629BD27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3E0F7-6671-41E2-BB7E-1544A867CB0E}"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544F4-C3A9-4948-9C36-FA0A07044EEE}" type="slidenum">
              <a:rPr lang="en-US" smtClean="0"/>
              <a:t>‹#›</a:t>
            </a:fld>
            <a:endParaRPr lang="en-US"/>
          </a:p>
        </p:txBody>
      </p:sp>
    </p:spTree>
    <p:extLst>
      <p:ext uri="{BB962C8B-B14F-4D97-AF65-F5344CB8AC3E}">
        <p14:creationId xmlns:p14="http://schemas.microsoft.com/office/powerpoint/2010/main" val="3174581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9519D1-36B1-461A-AA5D-D0DD991FF308}"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2907871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pic>
        <p:nvPicPr>
          <p:cNvPr id="8" name="Picture 7">
            <a:extLst>
              <a:ext uri="{FF2B5EF4-FFF2-40B4-BE49-F238E27FC236}">
                <a16:creationId xmlns:a16="http://schemas.microsoft.com/office/drawing/2014/main" id="{882A2F72-41B4-420F-922F-7C4EBF9EE6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217920"/>
            <a:ext cx="12192000" cy="640079"/>
          </a:xfrm>
          <a:prstGeom prst="rect">
            <a:avLst/>
          </a:prstGeom>
        </p:spPr>
      </p:pic>
    </p:spTree>
    <p:extLst>
      <p:ext uri="{BB962C8B-B14F-4D97-AF65-F5344CB8AC3E}">
        <p14:creationId xmlns:p14="http://schemas.microsoft.com/office/powerpoint/2010/main" val="1269707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45184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59519D1-36B1-461A-AA5D-D0DD991FF308}"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9D0460-0741-411E-B96B-31311F14D024}" type="slidenum">
              <a:rPr lang="en-US" smtClean="0"/>
              <a:pPr/>
              <a:t>‹#›</a:t>
            </a:fld>
            <a:endParaRPr lang="en-US"/>
          </a:p>
        </p:txBody>
      </p:sp>
      <p:grpSp>
        <p:nvGrpSpPr>
          <p:cNvPr id="6" name="Group 5"/>
          <p:cNvGrpSpPr/>
          <p:nvPr userDrawn="1"/>
        </p:nvGrpSpPr>
        <p:grpSpPr>
          <a:xfrm>
            <a:off x="952520" y="0"/>
            <a:ext cx="3679865" cy="6512944"/>
            <a:chOff x="262405" y="-940037"/>
            <a:chExt cx="4740973" cy="8914041"/>
          </a:xfrm>
        </p:grpSpPr>
        <p:pic>
          <p:nvPicPr>
            <p:cNvPr id="7" name="Picture 6"/>
            <p:cNvPicPr>
              <a:picLocks noChangeAspect="1"/>
            </p:cNvPicPr>
            <p:nvPr/>
          </p:nvPicPr>
          <p:blipFill rotWithShape="1">
            <a:blip r:embed="rId2">
              <a:extLst>
                <a:ext uri="{BEBA8EAE-BF5A-486C-A8C5-ECC9F3942E4B}">
                  <a14:imgProps xmlns:a14="http://schemas.microsoft.com/office/drawing/2010/main">
                    <a14:imgLayer r:embed="rId3">
                      <a14:imgEffect>
                        <a14:backgroundRemoval t="0" b="98577" l="49250" r="95875"/>
                      </a14:imgEffect>
                    </a14:imgLayer>
                  </a14:imgProps>
                </a:ext>
                <a:ext uri="{28A0092B-C50C-407E-A947-70E740481C1C}">
                  <a14:useLocalDpi xmlns:a14="http://schemas.microsoft.com/office/drawing/2010/main" val="0"/>
                </a:ext>
              </a:extLst>
            </a:blip>
            <a:srcRect l="48766" r="3518" b="3408"/>
            <a:stretch/>
          </p:blipFill>
          <p:spPr>
            <a:xfrm>
              <a:off x="262405" y="-940037"/>
              <a:ext cx="4740973" cy="8914041"/>
            </a:xfrm>
            <a:prstGeom prst="rect">
              <a:avLst/>
            </a:prstGeom>
          </p:spPr>
        </p:pic>
        <p:sp>
          <p:nvSpPr>
            <p:cNvPr id="8" name="Text Placeholder 4"/>
            <p:cNvSpPr txBox="1">
              <a:spLocks/>
            </p:cNvSpPr>
            <p:nvPr/>
          </p:nvSpPr>
          <p:spPr>
            <a:xfrm>
              <a:off x="878837" y="1247457"/>
              <a:ext cx="3508108" cy="507812"/>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400" b="0" i="0" kern="1200" baseline="0">
                  <a:solidFill>
                    <a:schemeClr val="tx1">
                      <a:tint val="75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Post copy</a:t>
              </a:r>
            </a:p>
          </p:txBody>
        </p:sp>
        <p:sp>
          <p:nvSpPr>
            <p:cNvPr id="9" name="Text Placeholder 4"/>
            <p:cNvSpPr txBox="1">
              <a:spLocks/>
            </p:cNvSpPr>
            <p:nvPr/>
          </p:nvSpPr>
          <p:spPr>
            <a:xfrm>
              <a:off x="918487" y="3569066"/>
              <a:ext cx="2188501" cy="204427"/>
            </a:xfrm>
            <a:prstGeom prst="rect">
              <a:avLst/>
            </a:prstGeom>
          </p:spPr>
          <p:txBody>
            <a:bodyPr vert="horz" lIns="91440" tIns="45720" rIns="91440" bIns="45720" rtlCol="0" anchor="ctr">
              <a:normAutofit fontScale="25000" lnSpcReduction="20000"/>
            </a:bodyPr>
            <a:lstStyle>
              <a:defPPr>
                <a:defRPr lang="en-US"/>
              </a:defPPr>
              <a:lvl1pPr marL="0" algn="r" defTabSz="914400" rtl="0" eaLnBrk="1" latinLnBrk="0" hangingPunct="1">
                <a:defRPr sz="1400" b="1" i="0" kern="1200" baseline="0">
                  <a:solidFill>
                    <a:schemeClr val="tx1">
                      <a:tint val="75000"/>
                    </a:schemeClr>
                  </a:solidFill>
                  <a:latin typeface="Arial" charset="0"/>
                  <a:ea typeface="Arial" charset="0"/>
                  <a:cs typeface="Arial"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Headline</a:t>
              </a:r>
              <a:endParaRPr lang="en-US" dirty="0"/>
            </a:p>
          </p:txBody>
        </p:sp>
        <p:pic>
          <p:nvPicPr>
            <p:cNvPr id="10" name="Picture 9"/>
            <p:cNvPicPr>
              <a:picLocks noChangeAspect="1"/>
            </p:cNvPicPr>
            <p:nvPr/>
          </p:nvPicPr>
          <p:blipFill rotWithShape="1">
            <a:blip r:embed="rId4" cstate="print">
              <a:extLst>
                <a:ext uri="{28A0092B-C50C-407E-A947-70E740481C1C}">
                  <a14:useLocalDpi xmlns:a14="http://schemas.microsoft.com/office/drawing/2010/main" val="0"/>
                </a:ext>
              </a:extLst>
            </a:blip>
            <a:srcRect b="90370"/>
            <a:stretch/>
          </p:blipFill>
          <p:spPr>
            <a:xfrm>
              <a:off x="786105" y="17168"/>
              <a:ext cx="3693572" cy="608176"/>
            </a:xfrm>
            <a:prstGeom prst="rect">
              <a:avLst/>
            </a:prstGeom>
          </p:spPr>
        </p:pic>
        <p:sp>
          <p:nvSpPr>
            <p:cNvPr id="11" name="Rectangle 10"/>
            <p:cNvSpPr/>
            <p:nvPr/>
          </p:nvSpPr>
          <p:spPr>
            <a:xfrm>
              <a:off x="786105" y="17168"/>
              <a:ext cx="3693572" cy="573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2" name="Table 11"/>
          <p:cNvGraphicFramePr>
            <a:graphicFrameLocks noGrp="1"/>
          </p:cNvGraphicFramePr>
          <p:nvPr userDrawn="1">
            <p:extLst>
              <p:ext uri="{D42A27DB-BD31-4B8C-83A1-F6EECF244321}">
                <p14:modId xmlns:p14="http://schemas.microsoft.com/office/powerpoint/2010/main" val="2318492487"/>
              </p:ext>
            </p:extLst>
          </p:nvPr>
        </p:nvGraphicFramePr>
        <p:xfrm>
          <a:off x="5422347" y="1956114"/>
          <a:ext cx="5421140" cy="2439042"/>
        </p:xfrm>
        <a:graphic>
          <a:graphicData uri="http://schemas.openxmlformats.org/drawingml/2006/table">
            <a:tbl>
              <a:tblPr firstRow="1" bandRow="1">
                <a:tableStyleId>{2D5ABB26-0587-4C30-8999-92F81FD0307C}</a:tableStyleId>
              </a:tblPr>
              <a:tblGrid>
                <a:gridCol w="1829727">
                  <a:extLst>
                    <a:ext uri="{9D8B030D-6E8A-4147-A177-3AD203B41FA5}">
                      <a16:colId xmlns:a16="http://schemas.microsoft.com/office/drawing/2014/main" val="20001"/>
                    </a:ext>
                  </a:extLst>
                </a:gridCol>
                <a:gridCol w="3591413">
                  <a:extLst>
                    <a:ext uri="{9D8B030D-6E8A-4147-A177-3AD203B41FA5}">
                      <a16:colId xmlns:a16="http://schemas.microsoft.com/office/drawing/2014/main" val="20000"/>
                    </a:ext>
                  </a:extLst>
                </a:gridCol>
              </a:tblGrid>
              <a:tr h="645629">
                <a:tc>
                  <a:txBody>
                    <a:bodyPr/>
                    <a:lstStyle/>
                    <a:p>
                      <a:pPr marL="0" marR="0" indent="0" algn="l" defTabSz="1371600" rtl="0" latinLnBrk="0">
                        <a:lnSpc>
                          <a:spcPct val="100000"/>
                        </a:lnSpc>
                        <a:spcBef>
                          <a:spcPts val="0"/>
                        </a:spcBef>
                        <a:spcAft>
                          <a:spcPts val="0"/>
                        </a:spcAft>
                        <a:buClrTx/>
                        <a:buSzTx/>
                        <a:buFontTx/>
                        <a:buNone/>
                        <a:tabLst/>
                      </a:pPr>
                      <a:r>
                        <a:rPr lang="en-US" sz="1400" b="0" dirty="0">
                          <a:solidFill>
                            <a:schemeClr val="bg1"/>
                          </a:solidFill>
                          <a:latin typeface="+mj-lt"/>
                          <a:cs typeface="Gill Sans bold"/>
                        </a:rPr>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0000"/>
                        <a:lumOff val="40000"/>
                      </a:schemeClr>
                    </a:solidFill>
                  </a:tcPr>
                </a:tc>
                <a:tc>
                  <a:txBody>
                    <a:bodyPr/>
                    <a:lstStyle/>
                    <a:p>
                      <a:pPr lvl="0" algn="l"/>
                      <a:r>
                        <a:rPr lang="en-US" sz="2000" b="1" i="0" u="none" strike="noStrike" cap="none" spc="0" baseline="0" dirty="0">
                          <a:ln>
                            <a:noFill/>
                          </a:ln>
                          <a:solidFill>
                            <a:schemeClr val="bg1"/>
                          </a:solidFill>
                          <a:effectLst/>
                          <a:uFillTx/>
                          <a:latin typeface="+mn-lt"/>
                          <a:ea typeface="+mn-ea"/>
                          <a:cs typeface="+mn-cs"/>
                          <a:sym typeface="Gill Sans"/>
                        </a:rPr>
                        <a:t>NOVEMBER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1793413">
                <a:tc>
                  <a:txBody>
                    <a:bodyPr/>
                    <a:lstStyle/>
                    <a:p>
                      <a:pPr marL="0" marR="0" indent="0" algn="l" defTabSz="1371600" rtl="0" latinLnBrk="0">
                        <a:lnSpc>
                          <a:spcPct val="100000"/>
                        </a:lnSpc>
                        <a:spcBef>
                          <a:spcPts val="0"/>
                        </a:spcBef>
                        <a:spcAft>
                          <a:spcPts val="0"/>
                        </a:spcAft>
                        <a:buClrTx/>
                        <a:buSzTx/>
                        <a:buFontTx/>
                        <a:buNone/>
                        <a:tabLst/>
                      </a:pPr>
                      <a:r>
                        <a:rPr lang="en-US" sz="1400" b="0" dirty="0">
                          <a:solidFill>
                            <a:schemeClr val="bg1"/>
                          </a:solidFill>
                          <a:latin typeface="+mj-lt"/>
                          <a:cs typeface="Gill Sans Light"/>
                        </a:rPr>
                        <a:t>Copy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60000"/>
                        <a:lumOff val="40000"/>
                      </a:schemeClr>
                    </a:solidFill>
                  </a:tcPr>
                </a:tc>
                <a:tc>
                  <a:txBody>
                    <a:bodyPr/>
                    <a:lstStyle/>
                    <a:p>
                      <a:pPr marL="0" indent="0">
                        <a:buNone/>
                      </a:pPr>
                      <a:endParaRPr lang="ar-AE" sz="1400" b="0" i="0" u="none" strike="noStrike" kern="1200" cap="none" spc="0" baseline="0" dirty="0">
                        <a:ln>
                          <a:noFill/>
                        </a:ln>
                        <a:solidFill>
                          <a:schemeClr val="tx1"/>
                        </a:solidFill>
                        <a:effectLst/>
                        <a:uFillTx/>
                        <a:latin typeface="+mn-lt"/>
                        <a:ea typeface="+mn-ea"/>
                        <a:cs typeface="+mn-cs"/>
                        <a:sym typeface="Gill Sans"/>
                      </a:endParaRPr>
                    </a:p>
                    <a:p>
                      <a:pPr marL="0" indent="0">
                        <a:buNone/>
                      </a:pPr>
                      <a:r>
                        <a:rPr lang="ar-AE" sz="1400" b="0" i="0" u="none" strike="noStrike" kern="1200" cap="none" spc="0" baseline="0" dirty="0">
                          <a:ln>
                            <a:noFill/>
                          </a:ln>
                          <a:solidFill>
                            <a:schemeClr val="tx1"/>
                          </a:solidFill>
                          <a:effectLst/>
                          <a:uFillTx/>
                          <a:latin typeface="+mn-lt"/>
                          <a:ea typeface="+mn-ea"/>
                          <a:cs typeface="+mn-cs"/>
                          <a:sym typeface="Gill Sans"/>
                        </a:rPr>
                        <a:t>#</a:t>
                      </a:r>
                      <a:r>
                        <a:rPr lang="en-US" sz="1400" b="0" i="0" u="none" strike="noStrike" kern="1200" cap="none" spc="0" baseline="0" dirty="0">
                          <a:ln>
                            <a:noFill/>
                          </a:ln>
                          <a:solidFill>
                            <a:schemeClr val="tx1"/>
                          </a:solidFill>
                          <a:effectLst/>
                          <a:uFillTx/>
                          <a:latin typeface="+mn-lt"/>
                          <a:ea typeface="+mn-ea"/>
                          <a:cs typeface="+mn-cs"/>
                          <a:sym typeface="Gill Sans"/>
                        </a:rPr>
                        <a:t>MitsubishiUAE #offer #repost</a:t>
                      </a:r>
                      <a:endParaRPr lang="en-US" sz="1400" b="0" i="0" u="none" strike="noStrike" cap="none" spc="0" baseline="0" dirty="0">
                        <a:ln>
                          <a:noFill/>
                        </a:ln>
                        <a:solidFill>
                          <a:schemeClr val="tx1"/>
                        </a:solidFill>
                        <a:effectLst/>
                        <a:uFillTx/>
                        <a:latin typeface="+mj-lt"/>
                        <a:ea typeface="+mn-ea"/>
                        <a:cs typeface="+mn-cs"/>
                        <a:sym typeface="Gill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69669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2052550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9519D1-36B1-461A-AA5D-D0DD991FF308}"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3853268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9519D1-36B1-461A-AA5D-D0DD991FF308}"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4225117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9519D1-36B1-461A-AA5D-D0DD991FF308}"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969002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519D1-36B1-461A-AA5D-D0DD991FF308}"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008628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519D1-36B1-461A-AA5D-D0DD991FF308}"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3092646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519D1-36B1-461A-AA5D-D0DD991FF308}"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903548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3503477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2783744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2256187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586467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9559098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9519D1-36B1-461A-AA5D-D0DD991FF308}"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493522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9519D1-36B1-461A-AA5D-D0DD991FF308}"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7310366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9519D1-36B1-461A-AA5D-D0DD991FF308}"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775438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519D1-36B1-461A-AA5D-D0DD991FF308}"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32430038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519D1-36B1-461A-AA5D-D0DD991FF308}"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18563647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519D1-36B1-461A-AA5D-D0DD991FF308}"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22031221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388480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9519D1-36B1-461A-AA5D-D0DD991FF308}"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9D0460-0741-411E-B96B-31311F14D024}" type="slidenum">
              <a:rPr lang="en-US" smtClean="0"/>
              <a:pPr/>
              <a:t>‹#›</a:t>
            </a:fld>
            <a:endParaRPr lang="en-US"/>
          </a:p>
        </p:txBody>
      </p:sp>
    </p:spTree>
    <p:extLst>
      <p:ext uri="{BB962C8B-B14F-4D97-AF65-F5344CB8AC3E}">
        <p14:creationId xmlns:p14="http://schemas.microsoft.com/office/powerpoint/2010/main" val="2313744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519D1-36B1-461A-AA5D-D0DD991FF308}" type="datetimeFigureOut">
              <a:rPr lang="en-US" smtClean="0"/>
              <a:pPr/>
              <a:t>4/1/2026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D0460-0741-411E-B96B-31311F14D024}" type="slidenum">
              <a:rPr lang="en-US" smtClean="0"/>
              <a:pPr/>
              <a:t>‹#›</a:t>
            </a:fld>
            <a:endParaRPr lang="en-US"/>
          </a:p>
        </p:txBody>
      </p:sp>
      <p:pic>
        <p:nvPicPr>
          <p:cNvPr id="8" name="Picture 7">
            <a:extLst>
              <a:ext uri="{FF2B5EF4-FFF2-40B4-BE49-F238E27FC236}">
                <a16:creationId xmlns:a16="http://schemas.microsoft.com/office/drawing/2014/main" id="{882A2F72-41B4-420F-922F-7C4EBF9EE69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6217920"/>
            <a:ext cx="12192000" cy="640079"/>
          </a:xfrm>
          <a:prstGeom prst="rect">
            <a:avLst/>
          </a:prstGeom>
        </p:spPr>
      </p:pic>
    </p:spTree>
    <p:extLst>
      <p:ext uri="{BB962C8B-B14F-4D97-AF65-F5344CB8AC3E}">
        <p14:creationId xmlns:p14="http://schemas.microsoft.com/office/powerpoint/2010/main" val="1035552973"/>
      </p:ext>
    </p:extLst>
  </p:cSld>
  <p:clrMap bg1="lt1" tx1="dk1" bg2="lt2" tx2="dk2" accent1="accent1" accent2="accent2" accent3="accent3" accent4="accent4" accent5="accent5" accent6="accent6" hlink="hlink" folHlink="folHlink"/>
  <p:sldLayoutIdLst>
    <p:sldLayoutId id="2147483684" r:id="rId1"/>
    <p:sldLayoutId id="2147483661" r:id="rId2"/>
    <p:sldLayoutId id="2147483662" r:id="rId3"/>
    <p:sldLayoutId id="2147483685"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9519D1-36B1-461A-AA5D-D0DD991FF308}" type="datetimeFigureOut">
              <a:rPr lang="en-US" smtClean="0"/>
              <a:pPr/>
              <a:t>4/1/2026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D0460-0741-411E-B96B-31311F14D024}" type="slidenum">
              <a:rPr lang="en-US" smtClean="0"/>
              <a:pPr/>
              <a:t>‹#›</a:t>
            </a:fld>
            <a:endParaRPr lang="en-US"/>
          </a:p>
        </p:txBody>
      </p:sp>
    </p:spTree>
    <p:extLst>
      <p:ext uri="{BB962C8B-B14F-4D97-AF65-F5344CB8AC3E}">
        <p14:creationId xmlns:p14="http://schemas.microsoft.com/office/powerpoint/2010/main" val="9273873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hyperlink" Target="http://www.dubaiprnetwork.com/" TargetMode="External"/><Relationship Id="rId13" Type="http://schemas.openxmlformats.org/officeDocument/2006/relationships/hyperlink" Target="http://menafn.com/" TargetMode="External"/><Relationship Id="rId18" Type="http://schemas.openxmlformats.org/officeDocument/2006/relationships/hyperlink" Target="https://gulfnews.com/uae/give-back-this-ramadan-share-the-joy-give-a-toy-returns-in-uae-1.500462115" TargetMode="External"/><Relationship Id="rId3" Type="http://schemas.openxmlformats.org/officeDocument/2006/relationships/hyperlink" Target="http://www.godubai.com/" TargetMode="External"/><Relationship Id="rId21" Type="http://schemas.openxmlformats.org/officeDocument/2006/relationships/hyperlink" Target="https://my.mediastow.com/app/project/b2064a97-90e9-466e-969e-705dbab6b213/ArticleTracking/include/NB2HI4DTHIXS65DIMVTGS3TBNZRWK53POJWGILTDN5WS6YLMFVQXEYLCNEWXI4TVON2GKZLTFVZWK5DTFVXGK5ZNMJSW4Y3INVQXE2ZNMZXXELLFNVUXEYLUNEWXAYLSORUWG2LQMF2GS33OFVUW4LLEOVRGC2LTFVZGKYLMFVSXG5DBORSS243FMN2G64RP$eyJhIjp7InRrIjoiWWxTVnMxVFlOR2ZXT0lEQlhpcFV1R2lqVXF6M2h4aUNEYmFmY0QyajNqekZtX1dJLW5jSFNtejZkV0NVTjc1by03MmlPUHJYWXhFaWFXanRnVktZQWEtbFR0blhoZDIwOE5oMDFOUmNzMWFjWGl3b0xXQnBBTHhNSDZXdG0zdlJCeUVaVjlMbHJQYzJOdUd0LVo0RDVCRm1SOXVGTmRYQ2FqNGhuTGQ1SkdJZDQwZmZZSnJ6cUsxNHh2RWxGT29fMlJQQXVwTjF2d2FTbU5KR0FtT3N6V3ZEZFRQRTI1b0FqQ3ozTHJwaVhCY1x1MDAzZCIsImFpZCI6Ik5CMkhJNERUSElYUzY1RElNVlRHUzNUQk5aUldLNTNQT0pXR0lMVERONVdTNllMTUZWUVhFWUxDTkVXWEk0VFZPTjJHS1pMVEZWWldLNURURlZYR0s1Wk5NSlNXNFkzSU5WUVhFMlpOTVpYWEVMTEZOVlVYRVlMVU5FV1hBWUxTT1JVV0cyTFFNRjJHUzMzT0ZWVVc0TExFT1ZSR0MyTFRGVlpHS1lMTUZWU1hHNURCT1JTUzI0M0ZNTjJHNjRSUCJ9fQ==" TargetMode="External"/><Relationship Id="rId7" Type="http://schemas.openxmlformats.org/officeDocument/2006/relationships/image" Target="../media/image6.png"/><Relationship Id="rId12" Type="http://schemas.openxmlformats.org/officeDocument/2006/relationships/image" Target="../media/image8.png"/><Relationship Id="rId17" Type="http://schemas.openxmlformats.org/officeDocument/2006/relationships/hyperlink" Target="https://my.mediastow.com/app/project/b2064a97-90e9-466e-969e-705dbab6b213/ArticleTracking/include/NB2HI4DTHIXS6Z3VNRTG4ZLXOMXGG33NF52WCZJPM5UXMZJNMJQWG2ZNORUGS4ZNOJQW2YLEMFXC243IMFZGKLLUNBSS22TPPEWWO2LWMUWWCLLUN54S24TFOR2XE3TTFVUW4LLVMFSS2MJOGUYDANBWGIYTCNI$eyJhIjp7InRrIjoiWWxTVnMxVFlOR2ZXT0lEQlhpcFV1R2lqVXF6M2h4aUNEYmFmY0QyajNqekZtX1dJLW5jSFNtejZkV0NVTjc1b3ZnaTI3TlJkalo3WTVsVnJ3YXBkNEl4T1Q1SmNSd0NlbTJjN0l3aTNpSG1ZQmZYbmhyLWgyX3ozbE9DSm1LMXNOLWlPZUpFUEZYOXFUVENfSDNPbmRBcUtDWm53Tm9yZ1ZYX3hJbFF4LVVnZDQwZmZZSnJ6cUsxNHh2RWxGT29fMlJQQXVwTjF2d2FTbU5KR0FtT3N6V3ZEZFRQRTI1b0FqQ3ozTHJwaVhCY1x1MDAzZCIsImFpZCI6Ik5CMkhJNERUSElYUzZaM1ZOUlRHNFpMWE9NWEdHMzNORjUyV0NaSlBNNVVYTVpKTk1KUVdHMlpOT1JVR1M0Wk5PSlFXMllMRU1GWEMyNDNJTUZaR0tMTFVOQlNTMjJUUFBFV1dPMkxXTVVXV0NMTFVONTRTMjRURk9SMlhFM1RURlZVVzRMTFZNRlNTMk1KT0dVWURBTkJXR0lZVENOSSJ9fQ==" TargetMode="External"/><Relationship Id="rId2" Type="http://schemas.openxmlformats.org/officeDocument/2006/relationships/image" Target="../media/image4.png"/><Relationship Id="rId16" Type="http://schemas.openxmlformats.org/officeDocument/2006/relationships/hyperlink" Target="http://gulfnews.com/" TargetMode="External"/><Relationship Id="rId20" Type="http://schemas.openxmlformats.org/officeDocument/2006/relationships/hyperlink" Target="http://thefinanceworld.com/" TargetMode="External"/><Relationship Id="rId1" Type="http://schemas.openxmlformats.org/officeDocument/2006/relationships/slideLayout" Target="../slideLayouts/slideLayout9.xml"/><Relationship Id="rId6" Type="http://schemas.openxmlformats.org/officeDocument/2006/relationships/image" Target="../media/image5.png"/><Relationship Id="rId11" Type="http://schemas.openxmlformats.org/officeDocument/2006/relationships/image" Target="../media/image7.png"/><Relationship Id="rId5" Type="http://schemas.openxmlformats.org/officeDocument/2006/relationships/hyperlink" Target="https://www.godubai.com/citylife/press_release_page.asp?pr=190994" TargetMode="External"/><Relationship Id="rId15" Type="http://schemas.openxmlformats.org/officeDocument/2006/relationships/hyperlink" Target="https://menafn.com/1110813724/New-Benchmark-For-Emirati-Participation-In-Dubais-Real-Estate-Sector" TargetMode="External"/><Relationship Id="rId23" Type="http://schemas.openxmlformats.org/officeDocument/2006/relationships/image" Target="../media/image10.jpeg"/><Relationship Id="rId10" Type="http://schemas.openxmlformats.org/officeDocument/2006/relationships/hyperlink" Target="https://www.dubaiprnetwork.com/pr.asp?pr=190994" TargetMode="External"/><Relationship Id="rId19" Type="http://schemas.openxmlformats.org/officeDocument/2006/relationships/image" Target="../media/image9.jpeg"/><Relationship Id="rId4" Type="http://schemas.openxmlformats.org/officeDocument/2006/relationships/hyperlink" Target="https://my.mediastow.com/app/project/b2064a97-90e9-466e-969e-705dbab6b213/ArticleTracking/include/NB2HI4DTHIXS653XO4XGO33EOVRGC2JOMNXW2L3DNF2HS3DJMZSS64DSMVZXGX3SMVWGKYLTMVPXAYLHMUXGC43QH5YHEPJRHEYDSOJU$eyJhIjp7InRrIjoiWWxTVnMxVFlOR2ZXT0lEQlhpcFV1R2lqVXF6M2h4aUNEYmFmY0QyajNqekZtX1dJLW5jSFNtejZkV0NVTjc1bzBNWjktSVlwaTBpNkY3RngxUlhxM05nNEhoSk5BUDJNbDAyWFdVWEpRM194aE1UVkVJY3hHRWkyV2N1YzU1NW9WQkVmTXFIQ09qby03YWlFTTE0bmM4bmowSkNVbUpNUXpqSXVxcUttRWtrZDQwZmZZSnJ6cUsxNHh2RWxGT29fMlJQQXVwTjF2d2FTbU5KR0FtT3N6V3ZEZFRQRTI1b0FqQ3ozTHJwaVhCY1x1MDAzZCIsImFpZCI6Ik5CMkhJNERUSElYUzY1M1hPNFhHTzMzRU9WUkdDMkpPTU5YVzJMM0RORjJIUzNESk1aU1M2NERTTVZaWEdYM1NNVldHS1lMVE1WUFhBWUxITVVYR0M0M1FINVlIRVBKUkhFWURTT0pVIn19" TargetMode="External"/><Relationship Id="rId9" Type="http://schemas.openxmlformats.org/officeDocument/2006/relationships/hyperlink" Target="https://my.mediastow.com/app/project/b2064a97-90e9-466e-969e-705dbab6b213/ArticleTracking/include/NB2HI4DTHIXS653XO4XGI5LCMFUXA4TOMV2HO33SNMXGG33NF5YHELTBONYD64DSHUYTSMBZHE2A$eyJhIjp7InRrIjoiWWxTVnMxVFlOR2ZXT0lEQlhpcFV1R2lqVXF6M2h4aUNEYmFmY0QyajNqekZtX1dJLW5jSFNtejZkV0NVTjc1b29YNkxQbEliWHlVUWhoRjRPMVJpUVdkaHozZmQxdDN5SFltd2o2S1o5QVBMY05rZnlDRGtVYndBNzhTX2hteHkyNjFTT21aSnRMcmdDVTZYWHZBTTBwX3laZWdobFBDLXlwVUhBU0djcXRVZDQwZmZZSnJ6cUsxNHh2RWxGT29fMlJQQXVwTjF2d2FTbU5KR0FtT3N6V3ZEZFRQRTI1b0FqQ3ozTHJwaVhCY1x1MDAzZCIsImFpZCI6Ik5CMkhJNERUSElYUzY1M1hPNFhHSTVMQ01GVVhBNFRPTVYySE8zM1NOTVhHRzMzTkY1WUhFTFRCT05ZRDY0RFNIVVlUU01CWkhFMkEifX0=" TargetMode="External"/><Relationship Id="rId14" Type="http://schemas.openxmlformats.org/officeDocument/2006/relationships/hyperlink" Target="https://my.mediastow.com/app/project/b2064a97-90e9-466e-969e-705dbab6b213/ArticleTracking/include/NB2HI4DTHIXS63LFNZQWM3ROMNXW2LZRGEYTAOBRGM3TENBPJZSXOLKCMVXGG2DNMFZGWLKGN5ZC2RLNNFZGC5DJFVIGC4TUNFRWS4DBORUW63RNJFXC2RDVMJQWS4ZNKJSWC3BNIVZXIYLUMUWVGZLDORXXE$eyJhIjp7InRrIjoiWWxTVnMxVFlOR2ZXT0lEQlhpcFV1R2lqVXF6M2h4aUNEYmFmY0QyajNqekZtX1dJLW5jSFNtejZkV0NVTjc1bzlLeXRiT1hoTHhkYm1rLW8wSUZoQjhtcVNqaVlQaHpfTndnUWc1cXVIUFF4U2dUNkFMbThTNlI4dVQ1TGUyX09XcElKdFZ5bEwtakxXcjVQZ1laMXRoUk55Wkhha3BZY3ZUOHM1bnhBbWFvZDQwZmZZSnJ6cUsxNHh2RWxGT29fMlJQQXVwTjF2d2FTbU5KR0FtT3N6V3ZEZFRQRTI1b0FqQ3ozTHJwaVhCY1x1MDAzZCIsImFpZCI6Ik5CMkhJNERUSElYUzYzTEZOWlFXTTNST01OWFcyTFpSR0VZVEFPQlJHTTNURU5CUEpaU1hPTEtDTVZYR0cyRE5NRlpHV0xLR041WkMyUkxOTkZaR0M1REpGVklHQzRUVU5GUldTNERCT1JVVzYzUk5KRlhDMlJEVk1KUVdTNFpOS0pTV0MzQk5JVlpYSVlMVU1VV1ZHWkxET1JYWEUifX0=" TargetMode="External"/><Relationship Id="rId22" Type="http://schemas.openxmlformats.org/officeDocument/2006/relationships/hyperlink" Target="https://thefinanceworld.com/al-arabi-trustees-sets-new-benchmark-for-emirati-participation-in-dubais-real-estate-sector/"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www.albayan.ae/" TargetMode="External"/><Relationship Id="rId13" Type="http://schemas.openxmlformats.org/officeDocument/2006/relationships/hyperlink" Target="http://arabdaily.net/" TargetMode="External"/><Relationship Id="rId18" Type="http://schemas.openxmlformats.org/officeDocument/2006/relationships/hyperlink" Target="https://my.mediastow.com/app/project/b2064a97-90e9-466e-969e-705dbab6b213/ArticleTracking/include/NB2HI4DTHIXS63LFNZSXO4ZSGQ3S4Y3PNUXWC3BNMFZGCYTJFV2HE5LTORSWK4ZNONSXI4ZNNZSXOLLCMVXGG2DNMFZGWLLGN5ZC2ZLNNFZGC5DJFVYGC4TUNFRWS4DBORUW63RNNFXC2ZDVMJQWS4ZNOJSWC3BNMVZXIYLUMUWXGZLDORXXELY$eyJhIjp7InRrIjoiWWxTVnMxVFlOR2ZXT0lEQlhpcFV1R2lqVXF6M2h4aUNEYmFmY0QyajNqekZtX1dJLW5jSFNtejZkV0NVTjc1b3ZxWDBPcEsxLVhOR3BKS3F3T0FUNkdaYXNHcFJncWhnZ1NxWWZ2dmtYRkxkTWxUVWtuaGhEQVBaMTZzWmZtQjBiVVNXeVFJTm0yd1kxSXhyM015WmRhZGtlaHNjN1JibG4xdzVoNmtoQXhBZDQwZmZZSnJ6cUsxNHh2RWxGT29fMlJQQXVwTjF2d2FTbU5KR0FtT3N6V3ZEZFRQRTI1b0FqQ3ozTHJwaVhCY1x1MDAzZCIsImFpZCI6Ik5CMkhJNERUSElYUzYzTEZOWlNYTzRaU0dRM1M0WTNQTlVYV0MzQk5NRlpHQ1lUSkZWMkhFNUxUT1JTV0s0Wk5PTlNYSTRaTk5aU1hPTExDTVZYR0cyRE5NRlpHV0xMR041WkMyWkxOTkZaR0M1REpGVllHQzRUVU5GUldTNERCT1JVVzYzUk5ORlhDMlpEVk1KUVdTNFpOT0pTV0MzQk5NVlpYSVlMVU1VV1hHWkxET1JYWEVMWSJ9fQ==" TargetMode="External"/><Relationship Id="rId3" Type="http://schemas.openxmlformats.org/officeDocument/2006/relationships/hyperlink" Target="http://www.gulftoday.ae/" TargetMode="External"/><Relationship Id="rId21" Type="http://schemas.openxmlformats.org/officeDocument/2006/relationships/hyperlink" Target="http://www.merimedia.net/" TargetMode="External"/><Relationship Id="rId7" Type="http://schemas.openxmlformats.org/officeDocument/2006/relationships/image" Target="../media/image8.png"/><Relationship Id="rId12" Type="http://schemas.openxmlformats.org/officeDocument/2006/relationships/image" Target="../media/image12.png"/><Relationship Id="rId17" Type="http://schemas.openxmlformats.org/officeDocument/2006/relationships/hyperlink" Target="http://menews247.com/" TargetMode="External"/><Relationship Id="rId2" Type="http://schemas.openxmlformats.org/officeDocument/2006/relationships/image" Target="../media/image6.png"/><Relationship Id="rId16" Type="http://schemas.openxmlformats.org/officeDocument/2006/relationships/image" Target="../media/image13.jpeg"/><Relationship Id="rId20" Type="http://schemas.openxmlformats.org/officeDocument/2006/relationships/image" Target="../media/image14.jpeg"/><Relationship Id="rId1" Type="http://schemas.openxmlformats.org/officeDocument/2006/relationships/slideLayout" Target="../slideLayouts/slideLayout9.xml"/><Relationship Id="rId6" Type="http://schemas.openxmlformats.org/officeDocument/2006/relationships/image" Target="../media/image5.png"/><Relationship Id="rId11" Type="http://schemas.openxmlformats.org/officeDocument/2006/relationships/image" Target="../media/image11.jpeg"/><Relationship Id="rId24" Type="http://schemas.openxmlformats.org/officeDocument/2006/relationships/image" Target="../media/image15.jpeg"/><Relationship Id="rId5" Type="http://schemas.openxmlformats.org/officeDocument/2006/relationships/hyperlink" Target="https://www.gulftoday.ae/business/2026/03/03/al-arabi-trustees-sets-new-benchmark-in-realty-sector" TargetMode="External"/><Relationship Id="rId15" Type="http://schemas.openxmlformats.org/officeDocument/2006/relationships/hyperlink" Target="https://arabdaily.net/2026/03/04/al-arabi-trustees-sets-new-benchmark-for-emirati-participation-in-dubais-real-estate-sector/" TargetMode="External"/><Relationship Id="rId23" Type="http://schemas.openxmlformats.org/officeDocument/2006/relationships/hyperlink" Target="https://www.merimedia.net/en/2026/03/04/share-the-joy-give-a-toy-returns-this-ramadan-2026-to-support-children-in-need-across-the-uae/" TargetMode="External"/><Relationship Id="rId10" Type="http://schemas.openxmlformats.org/officeDocument/2006/relationships/hyperlink" Target="https://www.albayan.ae/economy/1110841" TargetMode="External"/><Relationship Id="rId19" Type="http://schemas.openxmlformats.org/officeDocument/2006/relationships/hyperlink" Target="https://menews247.com/al-arabi-trustees-sets-new-benchmark-for-emirati-participation-in-dubais-real-estate-sector/" TargetMode="External"/><Relationship Id="rId4" Type="http://schemas.openxmlformats.org/officeDocument/2006/relationships/hyperlink" Target="https://my.mediastow.com/app/project/b2064a97-90e9-466e-969e-705dbab6b213/ArticleTracking/include/NB2HI4DTHIXS653XO4XGO5LMMZ2G6ZDBPEXGCZJPMJ2XG2LOMVZXGLZSGAZDMLZQGMXTAMZPMFWC2YLSMFRGSLLUOJ2XG5DFMVZS243FORZS23TFO4WWEZLOMNUG2YLSNMWWS3RNOJSWC3DUPEWXGZLDORXXE$eyJhIjp7InRrIjoiWWxTVnMxVFlOR2ZXT0lEQlhpcFV1R2lqVXF6M2h4aUNEYmFmY0QyajNqekZtX1dJLW5jSFNtejZkV0NVTjc1b2RnSDNyRVRwMXoxdlYwZjlKNkVjQzJnRENpczYxY0YyWk9acEp4MWNRQTlRcWxCNHRxTkZlRnFmcUNOT2I4V0FHeEd4YVRLclJnNFk3Q1dEUGVQcndMaE11VUZneU9wSG8xbGhaX1hIT3FRZDQwZmZZSnJ6cUsxNHh2RWxGT29fMlJQQXVwTjF2d2FTbU5KR0FtT3N6V3ZEZFRQRTI1b0FqQ3ozTHJwaVhCY1x1MDAzZCIsImFpZCI6Ik5CMkhJNERUSElYUzY1M1hPNFhHTzVMTU1aMkc2WkRCUEVYR0NaSlBNSjJYRzJMT01WWlhHTFpTR0FaRE1MWlFHTVhUQU1aUE1GV0MyWUxTTUZSR1NMTFVPSjJYRzVERk1WWlMyNDNGT1JaUzIzVEZPNFdXRVpMT01OVUcyWUxTTk1XV1MzUk5PSlNXQzNEVVBFV1hHWkxET1JYWEUifX0=" TargetMode="External"/><Relationship Id="rId9" Type="http://schemas.openxmlformats.org/officeDocument/2006/relationships/hyperlink" Target="https://my.mediastow.com/app/project/b2064a97-90e9-466e-969e-705dbab6b213/ArticleTracking/include/NB2HI4DTHIXS653XO4XGC3DCMF4WC3ROMFSS6ZLDN5XG63LZF4YTCMJQHA2DC$eyJhIjp7InRrIjoiWWxTVnMxVFlOR2ZXT0lEQlhpcFV1R2lqVXF6M2h4aUNEYmFmY0QyajNqekZtX1dJLW5jSFNtejZkV0NVTjc1bzB6bHBfRDBiTDVIbkVCLWdUSGRKVC16UWhNVHIzX3lYNU5JQjhBaERrX29YdUFHemJQZTVqR25wbk8xdVpoZHctUHZaQW05MVcxOC1faklGNnlWbzNXTG9PZEFPbEtfdHc2YTBHMk1ocnFRZDQwZmZZSnJ6cUsxNHh2RWxGT29fMlJQQXVwTjF2d2FTbU5KR0FtT3N6V3ZEZFRQRTI1b0FqQ3ozTHJwaVhCY1x1MDAzZCIsImFpZCI6Ik5CMkhJNERUSElYUzY1M1hPNFhHQzNEQ01GNFdDM1JPTUZTUzZaTERONVhHNjNMWkY0WVRDTUpRSEEyREMifX0=" TargetMode="External"/><Relationship Id="rId14" Type="http://schemas.openxmlformats.org/officeDocument/2006/relationships/hyperlink" Target="https://my.mediastow.com/app/project/b2064a97-90e9-466e-969e-705dbab6b213/ArticleTracking/include/NB2HI4DTHIXS6YLSMFRGIYLJNR4S43TFOQXTEMBSGYXTAMZPGA2C6YLMFVQXEYLCNEWXI4TVON2GKZLTFVZWK5DTFVXGK5ZNMJSW4Y3INVQXE2ZNMZXXELLFNVUXEYLUNEWXAYLSORUWG2LQMF2GS33OFVUW4LLEOVRGC2LTFVZGKYLMFVSXG5DBORSS243FMN2G64RP$eyJhIjp7InRrIjoiWWxTVnMxVFlOR2ZXT0lEQlhpcFV1R2lqVXF6M2h4aUNEYmFmY0QyajNqekZtX1dJLW5jSFNtejZkV0NVTjc1b25MNmV3WlFtWW5XUEtIRzRXNWd0Mk1BeHk0SS1jei1GeFBzVVZVV0JSZjZKN0VIYWxscVYwQ1I1S1U2S3Q3VEYxWHo5VThKY3hxVmU4UFdJMWlLSG8tYy1ZbzVwMmNUZVFTQzc1YktoT1ZjZDQwZmZZSnJ6cUsxNHh2RWxGT29fa2VjNFBHTE9QR2VYOWJBTTdUV3VnZEdzM0l0aGU0RVJCdnNwQ284YnNWNFx1MDAzZCIsImFpZCI6Ik5CMkhJNERUSElYUzZZTFNNRlJHSVlMSk5SNFM0M1RGT1FYVEVNQlNHWVhUQU1aUEdBMkM2WUxNRlZRWEVZTENORVdYSTRUVk9OMkdLWkxURlZaV0s1RFRGVlhHSzVaTk1KU1c0WTNJTlZRWEUyWk5NWlhYRUxMRk5WVVhFWUxVTkVXWEFZTFNPUlVXRzJMUU1GMkdTMzNPRlZVVzRMTEVPVlJHQzJMVEZWWkdLWUxNRlZTWEc1REJPUlNTMjQzRk1OMkc2NFJQIn19" TargetMode="External"/><Relationship Id="rId22" Type="http://schemas.openxmlformats.org/officeDocument/2006/relationships/hyperlink" Target="https://my.mediastow.com/app/project/b2064a97-90e9-466e-969e-705dbab6b213/ArticleTracking/include/NB2HI4DTHIXS653XO4XG2ZLSNFWWKZDJMEXG4ZLUF5SW4LZSGAZDMLZQGMXTANBPONUGC4TFFV2GQZJNNJXXSLLHNF3GKLLBFV2G66JNOJSXI5LSNZZS25DINFZS24TBNVQWIYLOFUZDAMRWFV2G6LLTOVYHA33SOQWWG2DJNRSHEZLOFVUW4LLOMVSWILLBMNZG643TFV2GQZJNOVQWKLY$eyJhIjp7InRrIjoiWWxTVnMxVFlOR2ZXT0lEQlhpcFV1R2lqVXF6M2h4aUNEYmFmY0QyajNqekZtX1dJLW5jSFNtejZkV0NVTjc1bzdycUJ5NWFTNlRYaEt3WURkTG9xajlUQUtfWWNDaE9LV0ZRNEhsaWtqQTV0NEptb21ub0pyYjBKaFRDb3Z1U0xZQzh2czdweEZtb0szb0k5YVZCZnB6ZHFDOUdvRFBJMU1xR05TczZJdWV3ZDQwZmZZSnJ6cUsxNHh2RWxGT29fMlJQQXVwTjF2d2FTbU5KR0FtT3N6V3ZEZFRQRTI1b0FqQ3ozTHJwaVhCY1x1MDAzZCIsImFpZCI6Ik5CMkhJNERUSElYUzY1M1hPNFhHMlpMU05GV1dLWkRKTUVYRzRaTFVGNVNXNExaU0dBWkRNTFpRR01YVEFOQlBPTlVHQzRURkZWMkdRWkpOTkpYWFNMTEhORjNHS0xMQkZWMkc2NkpOT0pTWEk1TFNOWlpTMjVESU5GWlMyNFRCTlZRV0lZTE9GVVpEQU1SV0ZWMkc2TExUT1ZZSEEzM1NPUVdXRzJESk5SU0hFWkxPRlZVVzRMTE9NVlNXSUxMQk1OWkc2NDNURlYyR1FaSk5PVlFXS0xZIn19"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www.gulftoday.ae/" TargetMode="External"/><Relationship Id="rId13" Type="http://schemas.openxmlformats.org/officeDocument/2006/relationships/hyperlink" Target="http://www.kfzanmeldung.de/" TargetMode="External"/><Relationship Id="rId18" Type="http://schemas.openxmlformats.org/officeDocument/2006/relationships/hyperlink" Target="https://uaenews4u.com/2026/03/11/eid-shoppers-in-dubai-can-win-up-to-200000-dirhams-in-eidiya/" TargetMode="External"/><Relationship Id="rId3" Type="http://schemas.openxmlformats.org/officeDocument/2006/relationships/hyperlink" Target="http://pantimearabia.com/" TargetMode="External"/><Relationship Id="rId21" Type="http://schemas.openxmlformats.org/officeDocument/2006/relationships/hyperlink" Target="https://my.mediastow.com/app/project/b2064a97-90e9-466e-969e-705dbab6b213/ArticleTracking/include/NB2HI4DTHIXS65LBMVXGK53TGI2DOLTDN5WS6MRQGI3C6MBTF4YTCL3FNFSC243IN5YHAZLSOMWWS3RNMR2WEYLJFVRWC3RNO5UW4LLVOAWXI3ZNGIYDAMBQGAWWI2LSNBQW24ZNNFXC2ZLJMRUXSYJP$eyJhIjp7InRrIjoiWWxTVnMxVFlOR2ZXT0lEQlhpcFV1R2lqVXF6M2h4aUNEYmFmY0QyajNqekZtX1dJLW5jSFNtejZkV0NVTjc1b1hkOEpFTzhGdmFJbzlabElyZHlHcjdfUUNZSDJyN2xYQWVLUW5ZaE9nQUViTy1rYUFoM3JaTGU5TF9tVUJFZXRfYVMweXowRkNPcFI4eHJ3cFRmUkNJMXpES2QzMXU5VE1iUER6aGluQk1JZDQwZmZZSnJ6cUsxNHh2RWxGT29fMlJQQXVwTjF2d2FTbU5KR0FtT3N6V3ZEZFRQRTI1b0FqQ3ozTHJwaVhCY1x1MDAzZCIsImFpZCI6Ik5CMkhJNERUSElYUzY1TEJNVlhHSzUzVEdJMkRPTFRETjVXUzZNUlFHSTNDNk1CVEY0WVRDTDNGTkZTQzI0M0lONVlIQVpMU09NV1dTM1JOTVIyV0VZTEpGVlJXQzNSTk81VVc0TExWT0FXWEkzWk5HSVlEQU1CUUdBV1dJMkxTTkJRVzI0Wk5ORlhDMlpMSk1SVVhTWUpQIn19" TargetMode="External"/><Relationship Id="rId7" Type="http://schemas.openxmlformats.org/officeDocument/2006/relationships/image" Target="../media/image6.png"/><Relationship Id="rId12" Type="http://schemas.openxmlformats.org/officeDocument/2006/relationships/image" Target="../media/image12.png"/><Relationship Id="rId17" Type="http://schemas.openxmlformats.org/officeDocument/2006/relationships/hyperlink" Target="https://my.mediastow.com/app/project/b2064a97-90e9-466e-969e-705dbab6b213/ArticleTracking/include/NB2HI4DTHIXS65LBMVXGK53TGR2S4Y3PNUXTEMBSGYXTAMZPGEYS6ZLJMQWXG2DPOBYGK4TTFVUW4LLEOVRGC2JNMNQW4LLXNFXC25LQFV2G6LJSGAYDAMBQFVSGS4TIMFWXGLLJNYWWK2LENF4WCLY$eyJhIjp7InRrIjoiWWxTVnMxVFlOR2ZXT0lEQlhpcFV1R2lqVXF6M2h4aUNEYmFmY0QyajNqekZtX1dJLW5jSFNtejZkV0NVTjc1b2RrRHZMRTV5ZDdZc2g3NnpDaU5XaW1CWWF0b3BWT2VOWEdSTGtEMElndEUwUHNKZnc5R08tNHRRUmRpOXN6ZWdfVm14bk0wc0xtSWFRdEdMRHpjeXZWZ1EtWl9WWU1OSXVvclhxLUpkZzg0ZDQwZmZZSnJ6cUsxNHh2RWxGT29fa2VjNFBHTE9QR2VYOWJBTTdUV3VnZEdzM0l0aGU0RVJCdnNwQ284YnNWNFx1MDAzZCIsImFpZCI6Ik5CMkhJNERUSElYUzY1TEJNVlhHSzUzVEdSMlM0WTNQTlVYVEVNQlNHWVhUQU1aUEdFWVM2WkxKTVFXWEcyRFBPQllHSzRUVEZWVVc0TExFT1ZSR0MySk5NTlFXNExMWE5GWEMyNUxRRlYyRzZMSlNHQVlEQU1CUUZWU0dTNFRJTUZXWEdMTEpOWVdXSzJMRU5GNFdDTFkifX0=" TargetMode="External"/><Relationship Id="rId2" Type="http://schemas.openxmlformats.org/officeDocument/2006/relationships/image" Target="../media/image16.png"/><Relationship Id="rId16" Type="http://schemas.openxmlformats.org/officeDocument/2006/relationships/hyperlink" Target="http://uaenews4u.com/" TargetMode="External"/><Relationship Id="rId20" Type="http://schemas.openxmlformats.org/officeDocument/2006/relationships/hyperlink" Target="http://uaenews247.com/" TargetMode="External"/><Relationship Id="rId1" Type="http://schemas.openxmlformats.org/officeDocument/2006/relationships/slideLayout" Target="../slideLayouts/slideLayout9.xml"/><Relationship Id="rId6" Type="http://schemas.openxmlformats.org/officeDocument/2006/relationships/image" Target="../media/image17.png"/><Relationship Id="rId11" Type="http://schemas.openxmlformats.org/officeDocument/2006/relationships/image" Target="../media/image5.png"/><Relationship Id="rId5" Type="http://schemas.openxmlformats.org/officeDocument/2006/relationships/hyperlink" Target="https://pantimearabia.com/share-the-joy-give-a-toy-returns-this-ramadan-2026-to-support-children-in-need-across-the-uae/" TargetMode="External"/><Relationship Id="rId15" Type="http://schemas.openxmlformats.org/officeDocument/2006/relationships/hyperlink" Target="https://www.kfzanmeldung.de/?k=eu-26823114" TargetMode="External"/><Relationship Id="rId10" Type="http://schemas.openxmlformats.org/officeDocument/2006/relationships/hyperlink" Target="https://www.gulftoday.ae/news/2026/03/08/campaign-launched-to-support-children-in-need" TargetMode="External"/><Relationship Id="rId19" Type="http://schemas.openxmlformats.org/officeDocument/2006/relationships/image" Target="../media/image18.jpeg"/><Relationship Id="rId4" Type="http://schemas.openxmlformats.org/officeDocument/2006/relationships/hyperlink" Target="https://my.mediastow.com/app/project/b2064a97-90e9-466e-969e-705dbab6b213/ArticleTracking/include/NB2HI4DTHIXS64DBNZ2GS3LFMFZGCYTJMEXGG33NF5ZWQYLSMUWXI2DFFVVG66JNM5UXMZJNMEWXI33ZFVZGK5DVOJXHGLLUNBUXGLLSMFWWCZDBNYWTEMBSGYWXI3ZNON2XA4DPOJ2C2Y3INFWGI4TFNYWWS3RNNZSWKZBNMFRXE33TOMWXI2DFFV2WCZJP$eyJhIjp7InRrIjoiWWxTVnMxVFlOR2ZXT0lEQlhpcFV1R2lqVXF6M2h4aUNEYmFmY0QyajNqekZtX1dJLW5jSFNtejZkV0NVTjc1b3dDTWxCcUpGdDNMN2RMbFVwc1B4Rk9sRUdBSjNwUmxmODU3emtIR0VObUpVbGVCUlJjdkR4XzMzWDhZQVE0QkxxSDIyOFkxRjBqaFd0OTdNbE5OV0R2WkhKWWpDV0gzUkdoS2Z5bVNQQmc4ZDQwZmZZSnJ6cUsxNHh2RWxGT29fa2VjNFBHTE9QR2VYOWJBTTdUV3VnZEdzM0l0aGU0RVJCdnNwQ284YnNWNFx1MDAzZCIsImFpZCI6Ik5CMkhJNERUSElYUzY0REJOWjJHUzNMRk1GWkdDWVRKTUVYR0czM05GNVpXUVlMU01VV1hJMkRGRlZWRzY2Sk5NNVVYTVpKTk1FV1hJMzNaRlZaR0s1RFZPSlhIR0xMVU5CVVhHTExTTUZXV0NaREJOWVdURU1CU0dZV1hJM1pOT04yWEE0RFBPSjJDMlkzSU5GV0dJNFRGTllXV1MzUk5OWlNXS1pCTk1GUlhFMzNUT01XWEkyREZGVjJXQ1pKUCJ9fQ==" TargetMode="External"/><Relationship Id="rId9" Type="http://schemas.openxmlformats.org/officeDocument/2006/relationships/hyperlink" Target="https://my.mediastow.com/app/project/b2064a97-90e9-466e-969e-705dbab6b213/ArticleTracking/include/NB2HI4DTHIXS653XO4XGO5LMMZ2G6ZDBPEXGCZJPNZSXO4ZPGIYDENRPGAZS6MBYF5RWC3LQMFUWO3RNNRQXK3TDNBSWILLUN4WXG5LQOBXXE5BNMNUGS3DEOJSW4LLJNYWW4ZLFMQ$eyJhIjp7InRrIjoiWWxTVnMxVFlOR2ZXT0lEQlhpcFV1R2lqVXF6M2h4aUNEYmFmY0QyajNqekZtX1dJLW5jSFNtejZkV0NVTjc1b3VudlZPWk9fb1owX0Npb1czM3VsN3lOTXpKNWZpNFRFRDNXVHVpU3hHRG1aUENrUWlpYkJkQ1dkMm9RdklwM2txTzdaWUlfS0Zvb2xGMFZGX3NiZFpCRTJ5Qk4tcGxkVjdPWEhqRy1kUkVzZDQwZmZZSnJ6cUsxNHh2RWxGT29fMlJQQXVwTjF2d2FTbU5KR0FtT3N6V3ZEZFRQRTI1b0FqQ3ozTHJwaVhCY1x1MDAzZCIsImFpZCI6Ik5CMkhJNERUSElYUzY1M1hPNFhHTzVMTU1aMkc2WkRCUEVYR0NaSlBOWlNYTzRaUEdJWURFTlJQR0FaUzZNQllGNVJXQzNMUU1GVVdPM1JOTlJRWEszVEROQlNXSUxMVU40V1hHNUxRT0JYWEU1Qk5NTlVHUzNERU9KU1c0TExKTllXVzRaTEZNUSJ9fQ==" TargetMode="External"/><Relationship Id="rId14" Type="http://schemas.openxmlformats.org/officeDocument/2006/relationships/hyperlink" Target="https://my.mediastow.com/app/project/b2064a97-90e9-466e-969e-705dbab6b213/ArticleTracking/include/NB2HI4DTHIXS653XO4XGWZT2MFXG2ZLMMR2W4ZZOMRSS6P3LHVSXKLJSGY4DEMZRGE2A$eyJhIjp7InRrIjoiWWxTVnMxVFlOR2ZXT0lEQlhpcFV1R2lqVXF6M2h4aUNEYmFmY0QyajNqekZtX1dJLW5jSFNtejZkV0NVTjc1b2JaWkdJSHI2b2NTTGsydEt5SlQ4V2NZNUhEOUx6RTV1VldjQW9UMmxqczcyQVRvZHZISU9yX01SVFdwbWU5dWNEcFI4SXNQcTRSMXRmcjBpb0JUTlFzZk05dG5RSjZ0VTctNU9RUnZJdnpVZDQwZmZZSnJ6cUsxNHh2RWxGT29fMlJQQXVwTjF2d2FTbU5KR0FtT3N6V3ZEZFRQRTI1b0FqQ3ozTHJwaVhCY1x1MDAzZCIsImFpZCI6Ik5CMkhJNERUSElYUzY1M1hPNFhHV1pUMk1GWEcyWkxNTVIyVzRaWk9NUlNTNlAzTEhWU1hLTEpTR1k0REVNWlJHRTJBIn19" TargetMode="External"/><Relationship Id="rId22" Type="http://schemas.openxmlformats.org/officeDocument/2006/relationships/hyperlink" Target="https://uaenews247.com/2026/03/11/eid-shoppers-in-dubai-can-win-up-to-200000-dirhams-in-eidiya/"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my.mediastow.com/app/project/b2064a97-90e9-466e-969e-705dbab6b213/ArticleTracking/include/NB2HI4DTHIXS6ZDVMJQWS3TFO5ZXOZLFNMXGG33NF5SHKYTBNEWWK2LEFVZWQ33QOBUW4ZZNMNQW24DBNFTW4LLPMZTGK4TTFVSGQ4ZSGAYDAMBQFVUW4LLDMFZWQLLQOJUXUZLTF4$eyJhIjp7InRrIjoiWWxTVnMxVFlOR2ZXT0lEQlhpcFV1R2lqVXF6M2h4aUNEYmFmY0QyajNqekZtX1dJLW5jSFNtejZkV0NVTjc1b2RMR2tZRFdiZzNoajFuWDZSdUc0NnRKX3lVWmtoMGVjZzdMaTktZ210R1cyUExjZW9rN0Q0ZjRGWTlZa1VzaDM0RkN3LUtpRy1sTmw5UkI5MjVQWVRBR1BhTm5GZzFoR2FOQWZPVFFSQXRzZDQwZmZZSnJ6cUsxNHh2RWxGT29fa2VjNFBHTE9QR2VYOWJBTTdUV3VnZEdzM0l0aGU0RVJCdnNwQ284YnNWNFx1MDAzZCIsImFpZCI6Ik5CMkhJNERUSElYUzZaRFZNSlFXUzNURk81WlhPWkxGTk1YR0czM05GNVNIS1lUQk5FV1dLMkxFRlZaV1EzM1FPQlVXNFpaTk1OUVcyNERCTkZUVzRMTFBNWlRHSzRUVEZWU0dRNFpTR0FZREFNQlFGVlVXNExMRE1GWldRTExRT0pVWFVaTFRGNCJ9fQ==" TargetMode="External"/><Relationship Id="rId13" Type="http://schemas.openxmlformats.org/officeDocument/2006/relationships/hyperlink" Target="https://www.masralyoum.news/13249869" TargetMode="External"/><Relationship Id="rId18" Type="http://schemas.openxmlformats.org/officeDocument/2006/relationships/hyperlink" Target="https://www.dubaishoppingguide.com/eid-shoppers-in-dubai-can-win-up-to-200000-dirhams-in-eidiya/" TargetMode="External"/><Relationship Id="rId3" Type="http://schemas.openxmlformats.org/officeDocument/2006/relationships/hyperlink" Target="http://fastcompanyme.com/" TargetMode="External"/><Relationship Id="rId21" Type="http://schemas.openxmlformats.org/officeDocument/2006/relationships/hyperlink" Target="https://www.almadarmagazine.ae/2026/03/11/%d8%ac%d9%88%d8%a7%d8%a6%d8%b2-%d9%86%d9%82%d8%af%d9%8a%d8%a9-%d8%a8%d9%82%d9%8a%d9%85%d8%a9-200-%d8%a3%d9%84%d9%81-%d8%af%d8%b1%d9%87%d9%85-%d8%aa%d9%86%d8%aa%d8%b8%d8%b1-%d9%85%d8%aa%d8%b3%d9%88/" TargetMode="External"/><Relationship Id="rId7" Type="http://schemas.openxmlformats.org/officeDocument/2006/relationships/hyperlink" Target="http://dubainewsweek.com/" TargetMode="External"/><Relationship Id="rId12" Type="http://schemas.openxmlformats.org/officeDocument/2006/relationships/hyperlink" Target="https://my.mediastow.com/app/project/b2064a97-90e9-466e-969e-705dbab6b213/ArticleTracking/include/NB2HI4DTHIXS653XO4XG2YLTOJQWY6LPOVWS43TFO5ZS6MJTGI2DSOBWHE$eyJhIjp7InRrIjoiWWxTVnMxVFlOR2ZXT0lEQlhpcFV1R2lqVXF6M2h4aUNEYmFmY0QyajNqekZtX1dJLW5jSFNtejZkV0NVTjc1b0RqMFZwYjNjOHJGMEZrekFqT08taDRGdk1RdUl2dUpmLWhoZGxWbHFONmtRczEyWVJqSTNDT2J2cWY5a3hPVUFnR3ZoTXpkWmphTFFmTklHenFkanNJVmROX2ZiMHhVLVNrNUZPNm00WUFFZDQwZmZZSnJ6cUsxNHh2RWxGT29fMlJQQXVwTjF2d2FTbU5KR0FtT3N6V3ZEZFRQRTI1b0FqQ3ozTHJwaVhCY1x1MDAzZCIsImFpZCI6Ik5CMkhJNERUSElYUzY1M1hPNFhHMllMVE9KUVdZNkxQT1ZXUzQzVEZPNVpTNk1KVEdJMkRTT0JXSEUifX0=" TargetMode="External"/><Relationship Id="rId17" Type="http://schemas.openxmlformats.org/officeDocument/2006/relationships/hyperlink" Target="https://my.mediastow.com/app/project/b2064a97-90e9-466e-969e-705dbab6b213/ArticleTracking/include/NB2HI4DTHIXS653XO4XGI5LCMFUXG2DPOBYGS3THM52WSZDFFZRW63JPMVUWILLTNBXXA4DFOJZS22LOFVSHKYTBNEWWGYLOFV3WS3RNOVYC25DPFUZDAMBQGAYC2ZDJOJUGC3LTFVUW4LLFNFSGS6LBF4$eyJhIjp7InRrIjoiWWxTVnMxVFlOR2ZXT0lEQlhpcFV1R2lqVXF6M2h4aUNEYmFmY0QyajNqekZtX1dJLW5jSFNtejZkV0NVTjc1b1ZXbXhDTEpHTnhxaVczclpCay02bEI0cWI0VkFNdXZtS1hRam5UT1hNaDBqazJiSFBaTWJ3UjZ4VnBmVWlPU3dUWFhuMDNGZWJXS09WN29nWkZlV0dQS3pSa0pJckx4RmxKb3lDU0lQRXVFZDQwZmZZSnJ6cUsxNHh2RWxGT29fMlJQQXVwTjF2d2FTbU5KR0FtT3N6V3ZEZFRQRTI1b0FqQ3ozTHJwaVhCY1x1MDAzZCIsImFpZCI6Ik5CMkhJNERUSElYUzY1M1hPNFhHSTVMQ01GVVhHMkRQT0JZR1MzVEhNNTJXU1pERkZaUlc2M0pQTVZVV0lMTFROQlhYQTRERk9KWlMyMkxPRlZTSEtZVEJORVdXR1lMT0ZWM1dTM1JOT1ZZQzI1RFBGVVpEQU1CUUdBWUMyWkRKT0pVR0MzTFRGVlVXNExMRk5GU0dTNkxCRjQifX0=" TargetMode="External"/><Relationship Id="rId2" Type="http://schemas.openxmlformats.org/officeDocument/2006/relationships/image" Target="../media/image8.png"/><Relationship Id="rId16" Type="http://schemas.openxmlformats.org/officeDocument/2006/relationships/hyperlink" Target="http://www.dubaishoppingguide.com/" TargetMode="External"/><Relationship Id="rId20" Type="http://schemas.openxmlformats.org/officeDocument/2006/relationships/hyperlink" Target="http://www.almadarmagazine.ae/" TargetMode="External"/><Relationship Id="rId1" Type="http://schemas.openxmlformats.org/officeDocument/2006/relationships/slideLayout" Target="../slideLayouts/slideLayout9.xml"/><Relationship Id="rId6" Type="http://schemas.openxmlformats.org/officeDocument/2006/relationships/image" Target="../media/image19.jpeg"/><Relationship Id="rId11" Type="http://schemas.openxmlformats.org/officeDocument/2006/relationships/hyperlink" Target="http://www.masralyoum.news/" TargetMode="External"/><Relationship Id="rId5" Type="http://schemas.openxmlformats.org/officeDocument/2006/relationships/hyperlink" Target="https://fastcompanyme.com/retail-in-the-middle-east-is-being-rebuilt-in-real-time-these-60-leaders-are-designing-what-comes-next/" TargetMode="External"/><Relationship Id="rId15" Type="http://schemas.openxmlformats.org/officeDocument/2006/relationships/image" Target="../media/image21.png"/><Relationship Id="rId10" Type="http://schemas.openxmlformats.org/officeDocument/2006/relationships/image" Target="../media/image5.png"/><Relationship Id="rId19" Type="http://schemas.openxmlformats.org/officeDocument/2006/relationships/image" Target="../media/image22.jpeg"/><Relationship Id="rId4" Type="http://schemas.openxmlformats.org/officeDocument/2006/relationships/hyperlink" Target="https://my.mediastow.com/app/project/b2064a97-90e9-466e-969e-705dbab6b213/ArticleTracking/include/NB2HI4DTHIXS6ZTBON2GG33NOBQW46LNMUXGG33NF5ZGK5DBNFWC22LOFV2GQZJNNVUWIZDMMUWWKYLTOQWWS4ZNMJSWS3THFVZGKYTVNFWHILLJNYWXEZLBNQWXI2LNMUWXI2DFONSS2NRQFVWGKYLEMVZHGLLBOJSS2ZDFONUWO3TJNZTS253IMF2C2Y3PNVSXGLLOMV4HILY$eyJhIjp7InRrIjoiWWxTVnMxVFlOR2ZXT0lEQlhpcFV1R2lqVXF6M2h4aUNEYmFmY0QyajNqekZtX1dJLW5jSFNtejZkV0NVTjc1bzFTRWFHa1BrWXM0NXhmMVBwTEtnRkl5U0dNdGNWVTh1djZ3V1NLWF9WRjdiUjdOQXpmU3U4RzI4TEV1X2NKQTktUGJtbHdUWExFLXRlR2FZNnlwVWJSWUlKSkh3b1VyLU1LXzFQTkhRc1dVZDQwZmZZSnJ6cUsxNHh2RWxGT29fMlJQQXVwTjF2d2FTbU5KR0FtT3N6V3ZEZFRQRTI1b0FqQ3ozTHJwaVhCY1x1MDAzZCIsImFpZCI6Ik5CMkhJNERUSElYUzZaVEJPTjJHRzMzTk9CUVc0NkxOTVVYR0czM05GNVpHSzVEQk5GV0MyMkxPRlYyR1FaSk5OVlVXSVpETU1VV1dLWUxUT1FXV1M0Wk5NSlNXUzNUSEZWWkdLWVRWTkZXSElMTEpOWVdYRVpMQk5RV1hJMkxOTVVXWEkyREZPTlNTMk5SUUZWV0dLWUxFTVZaSEdMTEJPSlNTMlpERk9OVVdPM1RKTlpUUzI1M0lNRjJDMlkzUE5WU1hHTExPTVY0SElMWSJ9fQ==" TargetMode="External"/><Relationship Id="rId9" Type="http://schemas.openxmlformats.org/officeDocument/2006/relationships/hyperlink" Target="https://dubainewsweek.com/dubai-eid-shopping-campaign-offers-dhs200000-in-cash-prizes/" TargetMode="External"/><Relationship Id="rId14" Type="http://schemas.openxmlformats.org/officeDocument/2006/relationships/image" Target="../media/image20.jpeg"/><Relationship Id="rId22" Type="http://schemas.openxmlformats.org/officeDocument/2006/relationships/image" Target="../media/image23.jpeg"/></Relationships>
</file>

<file path=ppt/slides/_rels/slide7.xml.rels><?xml version="1.0" encoding="UTF-8" standalone="yes"?>
<Relationships xmlns="http://schemas.openxmlformats.org/package/2006/relationships"><Relationship Id="rId8" Type="http://schemas.openxmlformats.org/officeDocument/2006/relationships/hyperlink" Target="https://my.mediastow.com/app/project/b2064a97-90e9-466e-969e-705dbab6b213/ArticleTracking/include/NB2HI4DTHIXS6ZTPMN2XGLTINFSHKYTBNEXGG33NF5SWSZBNONUG64DQMVZHGLLJNYWWI5LCMFUS2Y3BNYWXO2LOFV2XALLUN4WTEMBQFUYDAMBNMRUXE2DBNVZS22LOFVSWSZDJPFQS6$eyJhIjp7InRrIjoiWWxTVnMxVFlOR2ZXT0lEQlhpcFV1R2lqVXF6M2h4aUNEYmFmY0QyajNqekZtX1dJLW5jSFNtejZkV0NVTjc1b1V4RktKZ0JteVEzTWhZUzBvaUNrdlVGektFbWlucDlyYVA5TVhfQkVmWnRWNEZhVkgzRFI4U0RRR0NVbjFxX1pkbDZ3NTFyTVd2cWh3eGhUOFBmT1QtOXVIVktnblFEeU1yLUNrZlYxNDlBZDQwZmZZSnJ6cUsxNHh2RWxGT29fMlJQQXVwTjF2d2FTbU5KR0FtT3N6V3ZEZFRQRTI1b0FqQ3ozTHJwaVhCY1x1MDAzZCIsImFpZCI6Ik5CMkhJNERUSElYUzZaVFBNTjJYR0xUSU5GU0hLWVRCTkVYR0czM05GNVNXU1pCTk9OVUc2NERRTVZaSEdMTEpOWVdXSTVMQ01GVVMyWTNCTllXWE8yTE9GVjJYQUxMVU40V1RFTUJRRlVZREFNQk5NUlVYRTJEQk5WWlMyMkxPRlZTV1NaREpQRlFTNiJ9fQ==" TargetMode="External"/><Relationship Id="rId13" Type="http://schemas.openxmlformats.org/officeDocument/2006/relationships/image" Target="../media/image5.png"/><Relationship Id="rId18" Type="http://schemas.openxmlformats.org/officeDocument/2006/relationships/image" Target="../media/image26.jpeg"/><Relationship Id="rId3" Type="http://schemas.openxmlformats.org/officeDocument/2006/relationships/hyperlink" Target="http://arqam.news/" TargetMode="External"/><Relationship Id="rId21" Type="http://schemas.openxmlformats.org/officeDocument/2006/relationships/hyperlink" Target="https://thebrewnews.com/thebrew-news/uae/dubai-eid-shopping-campaign/" TargetMode="External"/><Relationship Id="rId7" Type="http://schemas.openxmlformats.org/officeDocument/2006/relationships/hyperlink" Target="http://focus.hidubai.com/" TargetMode="External"/><Relationship Id="rId12" Type="http://schemas.openxmlformats.org/officeDocument/2006/relationships/hyperlink" Target="https://kl-alarab.com/%d9%85%d9%86%d9%88%d8%b9%d8%a7%d8%aa/%d8%ac%d9%88%d8%a7%d8%a6%d8%b2-%d9%86%d9%82%d8%af%d9%8a%d8%a9-%d8%a8%d9%82%d9%8a%d9%85%d8%a9-200-%d8%a3%d9%84%d9%81-%d8%af%d8%b1%d9%87%d9%85-%d8%aa%d9%86%d8%aa%d8%b8%d8%b1-%d9%85%d8%aa%d8%b3%d9%88/" TargetMode="External"/><Relationship Id="rId17" Type="http://schemas.openxmlformats.org/officeDocument/2006/relationships/hyperlink" Target="http://www.cnegypt.com/2026/03/200.html" TargetMode="External"/><Relationship Id="rId2" Type="http://schemas.openxmlformats.org/officeDocument/2006/relationships/image" Target="../media/image8.png"/><Relationship Id="rId16" Type="http://schemas.openxmlformats.org/officeDocument/2006/relationships/hyperlink" Target="https://my.mediastow.com/app/project/b2064a97-90e9-466e-969e-705dbab6b213/ArticleTracking/include/NB2HI4B2F4XXO53XFZRW4ZLHPFYHILTDN5WS6MRQGI3C6MBTF4ZDAMBONB2G23A$eyJhIjp7InRrIjoiWWxTVnMxVFlOR2ZXT0lEQlhpcFV1R2lqVXF6M2h4aUNEYmFmY0QyajNqekZtX1dJLW5jSFNtejZkV0NVTjc1b2ZneENOYlNzRWNZb21ISHl1bnJocnh0Z0wxejQtS2JTa0x5cUc0OHBFU1A5TnprZk11Q3M4dVh5R0Q0T3M1a09oa3NCMDBvcmFNczJCVXJkR3dBaEhzeWJkVTJta3ZLZVZqcnl4Z0VyUHFNZDQwZmZZSnJ6cUsxNHh2RWxGT29fMlJQQXVwTjF2d2FTbU5KR0FtT3N6V3ZEZFRQRTI1b0FqQ3ozTHJwaVhCY1x1MDAzZCIsImFpZCI6Ik5CMkhJNEIyRjRYWE81M1hGWlJXNFpMSFBGWUhJTFRETjVXUzZNUlFHSTNDNk1CVEY0WkRBTUJPTkIyRzIzQSJ9fQ==" TargetMode="External"/><Relationship Id="rId20" Type="http://schemas.openxmlformats.org/officeDocument/2006/relationships/hyperlink" Target="https://my.mediastow.com/app/project/b2064a97-90e9-466e-969e-705dbab6b213/ArticleTracking/include/NB2HI4DTHIXS65DIMVRHEZLXNZSXO4ZOMNXW2L3UNBSWE4TFO4WW4ZLXOMXXKYLFF5SHKYTBNEWWK2LEFVZWQ33QOBUW4ZZNMNQW24DBNFTW4LY$eyJhIjp7InRrIjoiWWxTVnMxVFlOR2ZXT0lEQlhpcFV1R2lqVXF6M2h4aUNEYmFmY0QyajNqekZtX1dJLW5jSFNtejZkV0NVTjc1b2g2Q1NrQXN1Ti1udlhLd2dxR0NvUDgzR3NIekJKV3pESkQ2bFNCdmo2Z0pqbDNINVhsSFhEVUdzX0lfSU5VbTk2bUo5TmVYaUpicEk4TVdLQzVFUzF6Qk03c08yNEhrMzNSS3A1elZYWGJBZDQwZmZZSnJ6cUsxNHh2RWxGT29fMlJQQXVwTjF2d2FTbU5KR0FtT3N6V3ZEZFRQRTI1b0FqQ3ozTHJwaVhCY1x1MDAzZCIsImFpZCI6Ik5CMkhJNERUSElYUzY1RElNVlJIRVpMWE5aU1hPNFpPTU5YVzJMM1VOQlNXRTRURk80V1c0WkxYT01YWEtZTEZGNVNIS1lUQk5FV1dLMkxFRlZaV1EzM1FPQlVXNFpaTk1OUVcyNERCTkZUVzRMWSJ9fQ==" TargetMode="External"/><Relationship Id="rId1" Type="http://schemas.openxmlformats.org/officeDocument/2006/relationships/slideLayout" Target="../slideLayouts/slideLayout9.xml"/><Relationship Id="rId6" Type="http://schemas.openxmlformats.org/officeDocument/2006/relationships/image" Target="../media/image24.jpeg"/><Relationship Id="rId11" Type="http://schemas.openxmlformats.org/officeDocument/2006/relationships/hyperlink" Target="http://kl-alarab.com/" TargetMode="External"/><Relationship Id="rId5" Type="http://schemas.openxmlformats.org/officeDocument/2006/relationships/hyperlink" Target="https://arqam.news/546046/" TargetMode="External"/><Relationship Id="rId15" Type="http://schemas.openxmlformats.org/officeDocument/2006/relationships/hyperlink" Target="http://www.cnegypt.com/" TargetMode="External"/><Relationship Id="rId10" Type="http://schemas.openxmlformats.org/officeDocument/2006/relationships/image" Target="../media/image25.jpeg"/><Relationship Id="rId19" Type="http://schemas.openxmlformats.org/officeDocument/2006/relationships/hyperlink" Target="http://thebrewnews.com/" TargetMode="External"/><Relationship Id="rId4" Type="http://schemas.openxmlformats.org/officeDocument/2006/relationships/hyperlink" Target="https://my.mediastow.com/app/project/b2064a97-90e9-466e-969e-705dbab6b213/ArticleTracking/include/NB2HI4DTHIXS6YLSOFQW2LTOMV3XGLZVGQ3DANBWF4$eyJhIjp7InRrIjoiWWxTVnMxVFlOR2ZXT0lEQlhpcFV1R2lqVXF6M2h4aUNEYmFmY0QyajNqekZtX1dJLW5jSFNtejZkV0NVTjc1b19pazRPekEwSzVQeTl5V20zeGR1cFpxSm1ia0VqbENzeGlobVIyeTMzNkE5eGJqNkV4ZkMxdDVGVVk2V2lwSnU2YjhTMGdSNlBJbjNLUkd3d0pIdzBPa2M5QnhoOWt2UWJRSGF0SGs5RHZjZDQwZmZZSnJ6cUsxNHh2RWxGT29fMlJQQXVwTjF2d2FTbU5KR0FtT3N6V3ZEZFRQRTI1b0FqQ3ozTHJwaVhCY1x1MDAzZCIsImFpZCI6Ik5CMkhJNERUSElYUzZZTFNPRlFXMkxUT01WM1hHTFpWR1EzREFOQldGNCJ9fQ==" TargetMode="External"/><Relationship Id="rId9" Type="http://schemas.openxmlformats.org/officeDocument/2006/relationships/hyperlink" Target="https://focus.hidubai.com/eid-shoppers-in-dubai-can-win-up-to-200-000-dirhams-in-eidiya/" TargetMode="External"/><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mollyyxuf698340.pointblog.net/" TargetMode="External"/><Relationship Id="rId18" Type="http://schemas.openxmlformats.org/officeDocument/2006/relationships/hyperlink" Target="https://my.mediastow.com/app/project/b2064a97-90e9-466e-969e-705dbab6b213/ArticleTracking/include/NB2HI4DTHIXS653XO4XGO5LMMZRHK6T2FZRW63JPO5QXS4ZNORXS2Y3FNRSWE4TBORSS2ZLJMQWWC3BNMZUXI4RNMFRXE33TOMWWI5LCMFUS6$eyJhIjp7InRrIjoiWWxTVnMxVFlOR2ZXT0lEQlhpcFV1R2lqVXF6M2h4aUNEYmFmY0QyajNqekZtX1dJLW5jSFNtejZkV0NVTjc1b3FncmJEZHB1NEI2N19SUUdCbU12dldiSFFvbG9DZkc1am5rZzVmUlBuWEg4cUdDWW1peG4wNzhhOF9vUVhVbE5Cb2ZKUk9aa2cwQzRSbXRPVzQyRnVNeVQ3WklpZGtHZjlnTDhrR0FpeXJFZDQwZmZZSnJ6cUsxNHh2RWxGT29fMlJQQXVwTjF2d2FTbU5KR0FtT3N6V3ZEZFRQRTI1b0FqQ3ozTHJwaVhCY1x1MDAzZCIsImFpZCI6Ik5CMkhJNERUSElYUzY1M1hPNFhHTzVMTU1aUkhLNlQyRlpSVzYzSlBPNVFYUzRaTk9SWFMyWTNGTlJTV0U0VEJPUlNTMlpMSk1RV1dDM0JOTVpVWEk0Uk5NRlJYRTMzVE9NV1dJNUxDTUZVUzYifX0=" TargetMode="External"/><Relationship Id="rId3" Type="http://schemas.openxmlformats.org/officeDocument/2006/relationships/hyperlink" Target="http://9cnews.com/" TargetMode="External"/><Relationship Id="rId7" Type="http://schemas.openxmlformats.org/officeDocument/2006/relationships/hyperlink" Target="https://9cnews.com/2026/03/11/eid-shoppers-in-dubai-can-win-up-to-200000-dirhams-in-eidiya/" TargetMode="External"/><Relationship Id="rId12" Type="http://schemas.openxmlformats.org/officeDocument/2006/relationships/image" Target="../media/image28.jpeg"/><Relationship Id="rId17" Type="http://schemas.openxmlformats.org/officeDocument/2006/relationships/hyperlink" Target="http://www.gulfbuzz.com/" TargetMode="External"/><Relationship Id="rId2" Type="http://schemas.openxmlformats.org/officeDocument/2006/relationships/image" Target="../media/image12.png"/><Relationship Id="rId16" Type="http://schemas.openxmlformats.org/officeDocument/2006/relationships/image" Target="../media/image5.png"/><Relationship Id="rId20" Type="http://schemas.openxmlformats.org/officeDocument/2006/relationships/image" Target="../media/image7.png"/><Relationship Id="rId1" Type="http://schemas.openxmlformats.org/officeDocument/2006/relationships/slideLayout" Target="../slideLayouts/slideLayout9.xml"/><Relationship Id="rId6" Type="http://schemas.openxmlformats.org/officeDocument/2006/relationships/hyperlink" Target="https://my.mediastow.com/app/project/b2064a97-90e9-466e-969e-705dbab6b213/ArticleTracking/include/NB2HI4DTHIXS6OLDNZSXO4ZOMNXW2LZSGAZDMLZQGMXTCMJPMVUWILLTNBXXA4DFOJZS22LOFVSHKYTBNEWWGYLOFV3WS3RNOVYC25DPFUZDAMBQGAYC2ZDJOJUGC3LTFVUW4LLFNFSGS6LBF4$eyJhIjp7InRrIjoiWWxTVnMxVFlOR2ZXT0lEQlhpcFV1R2lqVXF6M2h4aUNEYmFmY0QyajNqekZtX1dJLW5jSFNtejZkV0NVTjc1b0twMFlfWE1WdWU4R2RnYjN1RUU0OFhScHpQSl9CWW1aOWpycmxfaGlQZE04Z3ZYUTAyX2NYN1lFU1U4SlMyX1ZTU1laY0FnU0tBWmdEeV9nNXBrak9UUXcyOXFWZG5SeFhncXd6LV9nRW04ZDQwZmZZSnJ6cUsxNHh2RWxGT29fMlJQQXVwTjF2d2FTbU5KR0FtT3N6V3ZEZFRQRTI1b0FqQ3ozTHJwaVhCY1x1MDAzZCIsImFpZCI6Ik5CMkhJNERUSElYUzZPTEROWlNYTzRaT01OWFcyTFpTR0FaRE1MWlFHTVhUQ01KUE1WVVdJTExUTkJYWEE0REZPSlpTMjJMT0ZWU0hLWVRCTkVXV0dZTE9GVjNXUzNSTk9WWUMyNURQRlVaREFNQlFHQVlDMlpESk9KVUdDM0xURlZVVzRMTEZORlNHUzZMQkY0In19" TargetMode="External"/><Relationship Id="rId11" Type="http://schemas.openxmlformats.org/officeDocument/2006/relationships/hyperlink" Target="https://onevillenews.com/2026/03/11/dubai-eid-shoppers-to-share-dh200000-in-cash-eidiya/" TargetMode="External"/><Relationship Id="rId5" Type="http://schemas.openxmlformats.org/officeDocument/2006/relationships/image" Target="../media/image27.jpeg"/><Relationship Id="rId15" Type="http://schemas.openxmlformats.org/officeDocument/2006/relationships/hyperlink" Target="https://mollyyxuf698340.pointblog.net/unveil-uae-centre-your-gateway-to-emirati-insights-91304405" TargetMode="External"/><Relationship Id="rId10" Type="http://schemas.openxmlformats.org/officeDocument/2006/relationships/hyperlink" Target="https://my.mediastow.com/app/project/b2064a97-90e9-466e-969e-705dbab6b213/ArticleTracking/include/NB2HI4DTHIXS633OMV3GS3DMMVXGK53TFZRW63JPGIYDENRPGAZS6MJRF5SHKYTBNEWWK2LEFVZWQ33QOBSXE4ZNORXS243IMFZGKLLENAZDAMBQGAYC22LOFVRWC43IFVSWSZDJPFQS6$eyJhIjp7InRrIjoiWWxTVnMxVFlOR2ZXT0lEQlhpcFV1R2lqVXF6M2h4aUNEYmFmY0QyajNqekZtX1dJLW5jSFNtejZkV0NVTjc1bzZNai1iX3RmeDQya0FocDFmQW5MYkdXZWN2Y0NEMTBvZ3BLNzNSR1o4V3hFNUFuZy1ULXFPbWM5elRWankxRWxueXdSbm5hVUZsR2NnU2EyckU2RXlwTGlkYkZHRFRrcDduRm90SGxHeWxvZDQwZmZZSnJ6cUsxNHh2RWxGT29fMlJQQXVwTjF2d2FTbU5KR0FtT3N6V3ZEZFRQRTI1b0FqQ3ozTHJwaVhCY1x1MDAzZCIsImFpZCI6Ik5CMkhJNERUSElYUzYzM09NVjNHUzNETU1WWEdLNTNURlpSVzYzSlBHSVlERU5SUEdBWlM2TUpSRjVTSEtZVEJORVdXSzJMRUZWWldRMzNRT0JTWEU0Wk5PUlhTMjQzSU1GWkdLTExFTkFaREFNQlFHQVlDMjJMT0ZWUldDNDNJRlZTV1NaREpQRlFTNiJ9fQ==" TargetMode="External"/><Relationship Id="rId19" Type="http://schemas.openxmlformats.org/officeDocument/2006/relationships/hyperlink" Target="https://www.gulfbuzz.com/ways-to-celebrate-eid-al-fitr-across-dubai/" TargetMode="External"/><Relationship Id="rId4" Type="http://schemas.openxmlformats.org/officeDocument/2006/relationships/hyperlink" Target="https://9cnews.com/ar/2026/03/11/%d8%ac%d9%88%d8%a7%d8%a6%d8%b2-%d9%86%d9%82%d8%af%d9%8a%d8%a9-%d8%a8%d9%82%d9%8a%d9%85%d8%a9-200-%d8%a3%d9%84%d9%81-%d8%af%d8%b1%d9%87%d9%85-%d8%aa%d9%86%d8%aa%d8%b8%d8%b1-%d9%85%d8%aa%d8%b3%d9%88/" TargetMode="External"/><Relationship Id="rId9" Type="http://schemas.openxmlformats.org/officeDocument/2006/relationships/hyperlink" Target="http://onevillenews.com/" TargetMode="External"/><Relationship Id="rId14" Type="http://schemas.openxmlformats.org/officeDocument/2006/relationships/hyperlink" Target="https://my.mediastow.com/app/project/b2064a97-90e9-466e-969e-705dbab6b213/ArticleTracking/include/NB2HI4DTHIXS63LPNRWHS6LYOVTDMOJYGM2DALTQN5UW45DCNRXWOLTOMV2C65LOOZSWS3BNOVQWKLLDMVXHI4TFFV4W65LSFVTWC5DFO5QXSLLUN4WWK3LJOJQXI2JNNFXHG2LHNB2HGLJZGEZTANBUGA2Q$eyJhIjp7InRrIjoiWWxTVnMxVFlOR2ZXT0lEQlhpcFV1R2lqVXF6M2h4aUNEYmFmY0QyajNqekZtX1dJLW5jSFNtejZkV0NVTjc1b1hzX0tfRV9nODliODByaS1TcmEwTzNWT0tCSHVMLXVNZjFHRHkxYXRlMmRGNVE5UkI3LWtkUTNSMDhfSHhjUFBzXzdjbTVFSkNjbmpVU1plem1CdHhYMW9LQW05c0lORjBieUM1RnpZVE1NZDQwZmZZSnJ6cUsxNHh2RWxGT29fa2VjNFBHTE9QR2VYOWJBTTdUV3VnZEdzM0l0aGU0RVJCdnNwQ284YnNWNFx1MDAzZCIsImFpZCI6Ik5CMkhJNERUSElYUzYzTFBOUldIUzZMWU9WVERNT0pZR00yREFMVFFONVVXNDVEQ05SWFdPTFRPTVYyQzY1TE9PWlNXUzNCTk9WUVdLTExETVZYSEk0VEZGVjRXNjVMU0ZWVFdDNURGTzVRWFNMTFVONFdXSzNMSk9KUVhJMkpOTkZYSEcyTEhOQjJIR0xKWkdFWlRBTkJVR0EyUSJ9fQ=="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hatson.ae/2026/03/adrenaline-pumping-indoor-activities-in-dubai-to-escape-the-rain/" TargetMode="External"/><Relationship Id="rId13" Type="http://schemas.openxmlformats.org/officeDocument/2006/relationships/image" Target="../media/image6.png"/><Relationship Id="rId18" Type="http://schemas.openxmlformats.org/officeDocument/2006/relationships/hyperlink" Target="https://alwahdanews.ae/articles/%D9%85%D8%B1%D8%A7%D9%83%D8%B2-%D8%A7%D9%84%D8%AA%D8%B3%D9%88%D9%82-%D8%A7%D9%84%D8%AA%D8%A7%D8%A8%D8%B9%D8%A9-%D9%84%D9%80-%D8%A7%D9%84%D9%81%D8%B7%D9%8A%D9%85-%D8%AA%D8%B3%D8%AC%D9%84-%D8%A3%D8%AF%D8%A7%D8%A1-%D9%82%D9%88%D9%8A-%D8%AE%D9%84%D8%A7%D9%84-%D8%B4%D9%87%D8%B1-%D8%B1%D9%85%D8%B6%D8%A7%D9%86-%D9%88%D8%B9%D9%8A%D8%AF-%D8%A7%D9%84%D9%81%D8%B7%D8%B1" TargetMode="External"/><Relationship Id="rId3" Type="http://schemas.openxmlformats.org/officeDocument/2006/relationships/hyperlink" Target="http://whatson.ae/" TargetMode="External"/><Relationship Id="rId7" Type="http://schemas.openxmlformats.org/officeDocument/2006/relationships/hyperlink" Target="https://my.mediastow.com/app/project/b2064a97-90e9-466e-969e-705dbab6b213/ArticleTracking/include/NB2HI4DTHIXS653IMF2HG33OFZQWKLZSGAZDMLZQGMXWCZDSMVXGC3DJNZSS24DVNVYGS3THFVUW4ZDPN5ZC2YLDORUXM2LUNFSXGLLJNYWWI5LCMFUS25DPFVSXGY3BOBSS25DIMUWXEYLJNYXQ$eyJhIjp7InRrIjoiWWxTVnMxVFlOR2ZXT0lEQlhpcFV1R2lqVXF6M2h4aUNEYmFmY0QyajNqekZtX1dJLW5jSFNtejZkV0NVTjc1b2VOdUZWd1VmbVlhY0Ewem5WVmwyU2g3bWRPZzJIRGJjS0h1dWY0azVwYURxeE85SEpKQmlxaW9xY0U2blEtVURpb3JuNktWMlEwSzZrV1lIS3FsMVdYUVY1TGhqOXU3TVFUcE5iSEtELVpjZDQwZmZZSnJ6cUsxNHh2RWxGT29fMlJQQXVwTjF2d2FTbU5KR0FtT3N6V3ZEZFRQRTI1b0FqQ3ozTHJwaVhCY1x1MDAzZCIsImFpZCI6Ik5CMkhJNERUSElYUzY1M0lNRjJIRzMzT0ZaUVdLTFpTR0FaRE1MWlFHTVhXQ1pEU01WWEdDM0RKTlpTUzI0RFZOVllHUzNUSEZWVVc0WkRQTjVaQzJZTERPUlVYTTJMVU5GU1hHTExKTllXV0k1TENNRlVTMjVEUEZWU1hHWTNCT0JTUzI1RElNVVdYRVlMSk5ZWFEifX0=" TargetMode="External"/><Relationship Id="rId12" Type="http://schemas.openxmlformats.org/officeDocument/2006/relationships/image" Target="../media/image32.jpeg"/><Relationship Id="rId17" Type="http://schemas.openxmlformats.org/officeDocument/2006/relationships/hyperlink" Target="http://alwahdanews.ae/" TargetMode="External"/><Relationship Id="rId2" Type="http://schemas.openxmlformats.org/officeDocument/2006/relationships/image" Target="../media/image29.png"/><Relationship Id="rId16" Type="http://schemas.openxmlformats.org/officeDocument/2006/relationships/image" Target="../media/image33.jpeg"/><Relationship Id="rId1" Type="http://schemas.openxmlformats.org/officeDocument/2006/relationships/slideLayout" Target="../slideLayouts/slideLayout9.xml"/><Relationship Id="rId6" Type="http://schemas.openxmlformats.org/officeDocument/2006/relationships/image" Target="../media/image30.jpeg"/><Relationship Id="rId11" Type="http://schemas.openxmlformats.org/officeDocument/2006/relationships/hyperlink" Target="https://whatson.ae/2026/03/best-indoor-play-areas-for-kids-in-dubai/" TargetMode="External"/><Relationship Id="rId5" Type="http://schemas.openxmlformats.org/officeDocument/2006/relationships/hyperlink" Target="https://whatson.ae/2026/03/indoor-activities-in-dubai-2025/" TargetMode="External"/><Relationship Id="rId15" Type="http://schemas.openxmlformats.org/officeDocument/2006/relationships/hyperlink" Target="https://www.alkhaleej.ae/2026-03-27/8-%D9%86%D9%85%D9%88-%D9%85%D8%A8%D9%8A%D8%B9%D8%A7%D8%AA-%D9%85%D8%B1%D8%A7%D9%83%D8%B2-%D8%A7%D9%84%D9%81%D8%B7%D9%8A%D9%85-%D8%AE%D9%84%D8%A7%D9%84-%D8%B1%D9%85%D8%B6%D8%A7%D9%86-%D9%88%D8%A7%D9%84%D8%B9%D9%8A%D8%AF-6377356/%D8%A3%D8%B3%D9%88%D8%A7%D9%82-%D8%A7%D9%84%D8%A5%D9%85%D8%A7%D8%B1%D8%A7%D8%AA/%D8%A7%D9%82%D8%AA%D8%B5%D8%A7%D8%AF" TargetMode="External"/><Relationship Id="rId10" Type="http://schemas.openxmlformats.org/officeDocument/2006/relationships/hyperlink" Target="https://my.mediastow.com/app/project/b2064a97-90e9-466e-969e-705dbab6b213/ArticleTracking/include/NB2HI4DTHIXS653IMF2HG33OFZQWKLZSGAZDMLZQGMXWEZLTOQWWS3TEN5XXELLQNRQXSLLBOJSWC4ZNMZXXELLLNFSHGLLJNYWWI5LCMFUS6$eyJhIjp7InRrIjoiWWxTVnMxVFlOR2ZXT0lEQlhpcFV1R2lqVXF6M2h4aUNEYmFmY0QyajNqekZtX1dJLW5jSFNtejZkV0NVTjc1b1loUHhBcjlUV3p1RG1EZUFQMEJiNVl6dDdaamZSOEJlRkRuQ3JZb05YWjJVQndGcEF3N3pNSFVYMzdzWmNnR0JDT19lOEYxdHFrTVFsUGQ1T0pORk9hVHlLZjd3bFpYbzVfSmFFNGJCbWpjZDQwZmZZSnJ6cUsxNHh2RWxGT29fMlJQQXVwTjF2d2FTbU5KR0FtT3N6V3ZEZFRQRTI1b0FqQ3ozTHJwaVhCY1x1MDAzZCIsImFpZCI6Ik5CMkhJNERUSElYUzY1M0lNRjJIRzMzT0ZaUVdLTFpTR0FaRE1MWlFHTVhXRVpMVE9RV1dTM1RFTjVYWEVMTFFOUlFYU0xMQk9KU1dDNFpOTVpYWEVMTExORlNIR0xMSk5ZV1dJNUxDTUZVUzYifX0=" TargetMode="External"/><Relationship Id="rId19" Type="http://schemas.openxmlformats.org/officeDocument/2006/relationships/image" Target="../media/image5.png"/><Relationship Id="rId4" Type="http://schemas.openxmlformats.org/officeDocument/2006/relationships/hyperlink" Target="https://my.mediastow.com/app/project/b2064a97-90e9-466e-969e-705dbab6b213/ArticleTracking/include/NB2HI4DTHIXS653IMF2HG33OFZQWKLZSGAZDMLZQGMXWS3TEN5XXELLBMN2GS5TJORUWK4ZNNFXC2ZDVMJQWSLJSGAZDKLY$eyJhIjp7InRrIjoiWWxTVnMxVFlOR2ZXT0lEQlhpcFV1R2lqVXF6M2h4aUNEYmFmY0QyajNqekZtX1dJLW5jSFNtejZkV0NVTjc1bzl2ZUJ1R1hxQ0FFTVM2azhHUjdTcUtGQ294NkRuR2JyRjVLOU5EX05kVmNzbGJTOGFNNmwyMVN0cUlrNUdyeGk4ZlR2anlkTVQyQ3B1STlXc2dVdzFObGNXdmdLR1BaZEtNeS0wVlpzWTcwZDQwZmZZSnJ6cUsxNHh2RWxGT29fMlJQQXVwTjF2d2FTbU5KR0FtT3N6V3ZEZFRQRTI1b0FqQ3ozTHJwaVhCY1x1MDAzZCIsImFpZCI6Ik5CMkhJNERUSElYUzY1M0lNRjJIRzMzT0ZaUVdLTFpTR0FaRE1MWlFHTVhXUzNURU41WFhFTExCTU4yR1M1VEpPUlVXSzRaTk5GWEMyWkRWTUpRV1NMSlNHQVpES0xZIn19" TargetMode="External"/><Relationship Id="rId9" Type="http://schemas.openxmlformats.org/officeDocument/2006/relationships/image" Target="../media/image31.jpeg"/><Relationship Id="rId14" Type="http://schemas.openxmlformats.org/officeDocument/2006/relationships/hyperlink" Target="http://www.alkhaleej.ae/"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my.mediastow.com/app/project/b2064a97-90e9-466e-969e-705dbab6b213/ArticleTracking/include/NB2HI4DTHIXS653XO4XG2YLTOJQWY6LPOVWS43TFO5ZS6MJTGI3TMNRZGY$eyJhIjp7InRrIjoiWWxTVnMxVFlOR2ZXT0lEQlhpcFV1R2lqVXF6M2h4aUNEYmFmY0QyajNqekZtX1dJLW5jSFNtejZkV0NVTjc1b2FLV3l5R3dzWXVjQnNFNjVkd0VSWXlCUmxvRnZ2VkZaSlR2b0hldWJfc3hUSkZJMFhZUHE5WFN1cWs1LTE3WkF5RVB0Tnc0SGR1VjVESWZTcWVhRXZWTk5fOURualJWQ2hTQkExN1dpeTRzZDQwZmZZSnJ6cUsxNHh2RWxGT29fMlJQQXVwTjF2d2FTbU5KR0FtT3N6V3ZEZFRQRTI1b0FqQ3ozTHJwaVhCY1x1MDAzZCIsImFpZCI6Ik5CMkhJNERUSElYUzY1M1hPNFhHMllMVE9KUVdZNkxQT1ZXUzQzVEZPNVpTNk1KVEdJM1RNTlJaR1kifX0=" TargetMode="External"/><Relationship Id="rId13" Type="http://schemas.openxmlformats.org/officeDocument/2006/relationships/hyperlink" Target="https://www.dubaishoppingguide.com/al-futtaims-malls-report-strong-ramadan-eid-performance-signaling-positive-momentum-and-long-rerm-resilience-for-the-retail-sector/" TargetMode="External"/><Relationship Id="rId18" Type="http://schemas.openxmlformats.org/officeDocument/2006/relationships/image" Target="../media/image38.png"/><Relationship Id="rId3" Type="http://schemas.openxmlformats.org/officeDocument/2006/relationships/hyperlink" Target="http://www.aljazeeraeyes.com/" TargetMode="External"/><Relationship Id="rId21" Type="http://schemas.openxmlformats.org/officeDocument/2006/relationships/image" Target="../media/image39.jpeg"/><Relationship Id="rId7" Type="http://schemas.openxmlformats.org/officeDocument/2006/relationships/hyperlink" Target="http://www.masralyoum.news/" TargetMode="External"/><Relationship Id="rId12" Type="http://schemas.openxmlformats.org/officeDocument/2006/relationships/hyperlink" Target="http://www.dubaishoppingguide.com/" TargetMode="External"/><Relationship Id="rId17" Type="http://schemas.openxmlformats.org/officeDocument/2006/relationships/image" Target="../media/image37.jpeg"/><Relationship Id="rId2" Type="http://schemas.openxmlformats.org/officeDocument/2006/relationships/image" Target="../media/image8.png"/><Relationship Id="rId16" Type="http://schemas.openxmlformats.org/officeDocument/2006/relationships/hyperlink" Target="https://www.mydubainews.com/al-futtaims-malls-report-strong-ramadan-eid-performance-signaling-positive-momentum-and-long-term-resilience-for-the-retail-sector/" TargetMode="External"/><Relationship Id="rId20" Type="http://schemas.openxmlformats.org/officeDocument/2006/relationships/hyperlink" Target="https://hashtagdubai.org/index.php/2026/03/28/malls-report-strong-ramadan-eid-performance-signaling-positive-momentum-and-long-term-resilience-for-the-retail-sector/" TargetMode="External"/><Relationship Id="rId1" Type="http://schemas.openxmlformats.org/officeDocument/2006/relationships/slideLayout" Target="../slideLayouts/slideLayout9.xml"/><Relationship Id="rId6" Type="http://schemas.openxmlformats.org/officeDocument/2006/relationships/image" Target="../media/image34.jpeg"/><Relationship Id="rId11" Type="http://schemas.openxmlformats.org/officeDocument/2006/relationships/image" Target="../media/image21.png"/><Relationship Id="rId5" Type="http://schemas.openxmlformats.org/officeDocument/2006/relationships/hyperlink" Target="https://www.aljazeeraeyes.com/forexnews/19986" TargetMode="External"/><Relationship Id="rId15" Type="http://schemas.openxmlformats.org/officeDocument/2006/relationships/hyperlink" Target="http://www.mydubainews.com/" TargetMode="External"/><Relationship Id="rId10" Type="http://schemas.openxmlformats.org/officeDocument/2006/relationships/image" Target="../media/image35.jpeg"/><Relationship Id="rId19" Type="http://schemas.openxmlformats.org/officeDocument/2006/relationships/hyperlink" Target="http://hashtagdubai.org/" TargetMode="External"/><Relationship Id="rId4" Type="http://schemas.openxmlformats.org/officeDocument/2006/relationships/hyperlink" Target="https://my.mediastow.com/app/project/b2064a97-90e9-466e-969e-705dbab6b213/ArticleTracking/include/NB2HI4DTHIXS653XO4XGC3DKMF5GKZLSMFSXSZLTFZRW63JPMZXXEZLYNZSXO4ZPGE4TSOBW$eyJhIjp7InRrIjoiWWxTVnMxVFlOR2ZXT0lEQlhpcFV1R2lqVXF6M2h4aUNEYmFmY0QyajNqekZtX1dJLW5jSFNtejZkV0NVTjc1by0xZjJBbktBVEktVUpCWTZHbHFVeDBUS0hwcmlYbW94QWloeUU3V1pDcUJqOGpMcGVlVjZucVVoOV9fT3VCY0ZCRGEzaTVRVzV0QTVhRTVqbC1QTWhuM1dQVXpUMzFVdDI2SkZsdnc2SzUwZDQwZmZZSnJ6cUsxNHh2RWxGT29fMlJQQXVwTjF2d2FTbU5KR0FtT3N6V3ZEZFRQRTI1b0FqQ3ozTHJwaVhCY1x1MDAzZCIsImFpZCI6Ik5CMkhJNERUSElYUzY1M1hPNFhHQzNES01GNUdLWkxTTUZTWFNaTFRGWlJXNjNKUE1aWFhFWkxZTlpTWE80WlBHRTRUU09CVyJ9fQ==" TargetMode="External"/><Relationship Id="rId9" Type="http://schemas.openxmlformats.org/officeDocument/2006/relationships/hyperlink" Target="https://www.masralyoum.news/13276696" TargetMode="External"/><Relationship Id="rId14" Type="http://schemas.openxmlformats.org/officeDocument/2006/relationships/image" Target="../media/image36.jpeg"/></Relationships>
</file>

<file path=ppt/slides/_rels/slide11.xml.rels><?xml version="1.0" encoding="UTF-8" standalone="yes"?>
<Relationships xmlns="http://schemas.openxmlformats.org/package/2006/relationships"><Relationship Id="rId8" Type="http://schemas.openxmlformats.org/officeDocument/2006/relationships/hyperlink" Target="http://mea-biz.com/" TargetMode="External"/><Relationship Id="rId13" Type="http://schemas.openxmlformats.org/officeDocument/2006/relationships/hyperlink" Target="https://25h.app/2026/03/30/%d9%85%d8%b1%d8%a7%d9%83%d8%b2-%d8%a7%d9%84%d8%aa%d8%b3%d9%88%d9%82-%d8%a7%d9%84%d8%aa%d8%a7%d8%a8%d8%b9%d8%a9-%d9%84%d9%80-%d8%a7%d9%84%d9%81%d8%b7%d9%8a%d9%85-%d8%aa%d8%b3%d8%ac%d9%84-%d8%a3/" TargetMode="External"/><Relationship Id="rId3" Type="http://schemas.openxmlformats.org/officeDocument/2006/relationships/hyperlink" Target="http://www.abudhabitalking.com/" TargetMode="External"/><Relationship Id="rId7" Type="http://schemas.openxmlformats.org/officeDocument/2006/relationships/image" Target="../media/image8.png"/><Relationship Id="rId12" Type="http://schemas.openxmlformats.org/officeDocument/2006/relationships/hyperlink" Target="http://25h.app/" TargetMode="External"/><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40.jpeg"/><Relationship Id="rId11" Type="http://schemas.openxmlformats.org/officeDocument/2006/relationships/image" Target="../media/image5.png"/><Relationship Id="rId5" Type="http://schemas.openxmlformats.org/officeDocument/2006/relationships/hyperlink" Target="https://www.abudhabitalking.com/al-futtaim-malls-ramadan-eid-performance-uae/" TargetMode="External"/><Relationship Id="rId15" Type="http://schemas.openxmlformats.org/officeDocument/2006/relationships/hyperlink" Target="https://gate.mwlana.com/mix/%D9%85%D8%B1%D8%A7%D9%83%D8%B2-%D8%A7%D9%84%D8%AA%D8%B3%D9%88%D9%82-%D8%A7%D9%84%D8%AA%D8%A7%D8%A8%D8%B9%D8%A9-%D9%84%D9%80-%D8%A7%D9%84%D9%81%D8%B7%D9%8A%D9%85-%D8%AA%D8%AD%D9%82%D9%82-%D8%A3%D8%AF-2/" TargetMode="External"/><Relationship Id="rId10" Type="http://schemas.openxmlformats.org/officeDocument/2006/relationships/hyperlink" Target="https://mea-biz.com/al-futtaims-malls-report-strong-ramadan-eid-performance-signaling-positive-momentum-and-long-term-resilience-for-the-retail-sector/" TargetMode="External"/><Relationship Id="rId4" Type="http://schemas.openxmlformats.org/officeDocument/2006/relationships/hyperlink" Target="https://my.mediastow.com/app/project/b2064a97-90e9-466e-969e-705dbab6b213/ArticleTracking/include/NB2HI4DTHIXS653XO4XGCYTVMRUGCYTJORQWY23JNZTS4Y3PNUXWC3BNMZ2XI5DBNFWS23LBNRWHGLLSMFWWCZDBNYWWK2LEFVYGK4TGN5ZG2YLOMNSS25LBMUXQ$eyJhIjp7InRrIjoiWWxTVnMxVFlOR2ZXT0lEQlhpcFV1R2lqVXF6M2h4aUNEYmFmY0QyajNqekZtX1dJLW5jSFNtejZkV0NVTjc1b2FqZEFCRVZHbWJCWTNKUmpXNlFvbUI0VWxJdWs5bUpiaGpsRTR1bGRHZC0xV0ctYWhhcGlMdHZZWjEzMFBQWmRBc2NLdHpDNjdIV0oxM0hxTTNkRzZTV21JZm5UUXktV1hCQ29hd1huZ3FnZDQwZmZZSnJ6cUsxNHh2RWxGT29fMlJQQXVwTjF2d2FTbU5KR0FtT3N6V3ZEZFRQRTI1b0FqQ3ozTHJwaVhCY1x1MDAzZCIsImFpZCI6Ik5CMkhJNERUSElYUzY1M1hPNFhHQ1lUVk1SVUdDWVRKT1JRV1kyM0pOWlRTNFkzUE5VWFdDM0JOTVoyWEk1REJORldTMjNMQk5SV0hHTExTTUZXV0NaREJOWVdXSzJMRUZWWUdLNFRHTjVaRzJZTE9NTlNTMjVMQk1VWFEifX0=" TargetMode="External"/><Relationship Id="rId9" Type="http://schemas.openxmlformats.org/officeDocument/2006/relationships/hyperlink" Target="https://my.mediastow.com/app/project/b2064a97-90e9-466e-969e-705dbab6b213/ArticleTracking/include/NB2HI4DTHIXS63LFMEWWE2L2FZRW63JPMFWC2ZTVOR2GC2LNOMWW2YLMNRZS24TFOBXXE5BNON2HE33OM4WXEYLNMFSGC3RNMVUWILLQMVZGM33SNVQW4Y3FFVZWSZ3OMFWGS3THFVYG643JORUXMZJNNVXW2ZLOOR2W2LLBNZSC23DPNZTS25DFOJWS24TFONUWY2LFNZRWKLLGN5ZC25DIMUWXEZLUMFUWYLLTMVRXI33SF4$eyJhIjp7InRrIjoiWWxTVnMxVFlOR2ZXT0lEQlhpcFV1R2lqVXF6M2h4aUNEYmFmY0QyajNqekZtX1dJLW5jSFNtejZkV0NVTjc1b2RieG9VTUxrQnNVUzRmX2ZHM2RjTnp0bmhqalAtdTREWlJQNzMwbFp2Q2tqaVBOUE9OMmV6MDFSb181QnNjZmJXYnpYbk5qZ0dqWlpLeHFsNTNFUnZvbi1QdE9qdE1KbV9McFlCeU0wWUdnZDQwZmZZSnJ6cUsxNHh2RWxGT29fMlJQQXVwTjF2d2FTbU5KR0FtT3N6V3ZEZFRQRTI1b0FqQ3ozTHJwaVhCY1x1MDAzZCIsImFpZCI6Ik5CMkhJNERUSElYUzYzTEZNRVdXRTJMMkZaUlc2M0pQTUZXQzJaVFZPUjJHQzJMTk9NV1cyWUxNTlJaUzI0VEZPQlhYRTVCTk9OMkhFMzNPTTRXWEVZTE5NRlNHQzNSTk1WVVdJTExRTVZaR00zM1NOVlFXNFkzRkZWWldTWjNPTUZXR1MzVEhGVllHNjQzSk9SVVhNWkpOTlZYVzJaTE9PUjJXMkxMQk5aU0MyM0RQTlpUUzI1REZPSldTMjRURk9OVVdZMkxGTlpSV0tMTEdONVpDMjVESU1VV1hFWkxVTUZVV1lMTFRNVlJYSTMzU0Y0In19" TargetMode="External"/><Relationship Id="rId14" Type="http://schemas.openxmlformats.org/officeDocument/2006/relationships/hyperlink" Target="http://gate.mwlana.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hyperlink" Target="https://my.mediastow.com/app/project/b2064a97-90e9-466e-969e-705dbab6b213/ArticleTracking/include/NB2HI4B2F4XWS3TTORQWO4TBNUXGG33NF5YC6RCWOB2XA53KIYWTA4Y$eyJhIjp7InRrIjoiWWxTVnMxVFlOR2ZXT0lEQlhpcFV1R2lqVXF6M2h4aUNEYmFmY0QyajNqekZtX1dJLW5jSFNtejZkV0NVTjc1b3hZZk56WnpnY04xcEYwZlFNZ052Tnd5NDhEYXlaRFFHNHdQeC1WTEVXdk5relQ0RjdvRzR6STRJemE3YURBYkgxX0huVXVzem56RDAxaGItQ0RSd2g4OG1lekZ0dnp0ZFVGTWdhbldRdWRFZDQwZmZZSnJ6cUsxNHh2RWxGT29fMXczYVdXajloY29vQ29laEUwZ254eVBFNFNfaXlINTVWbkhic2tZTTZVNVZVQTZJZm1UbmxMdkI3UlZyNHp0WCIsImFpZCI6Ik5CMkhJNEIyRjRYV1MzVFRPUlFXTzRUQk5VWEdHMzNORjVZQzZSQ1dPQjJYQTUzS0lZV1RBNFkifX0=" TargetMode="External"/><Relationship Id="rId13" Type="http://schemas.openxmlformats.org/officeDocument/2006/relationships/hyperlink" Target="http://instagram.com/p/DVqIb7ZAnkR" TargetMode="External"/><Relationship Id="rId18" Type="http://schemas.openxmlformats.org/officeDocument/2006/relationships/hyperlink" Target="http://twitter.com/arabiancenter/" TargetMode="External"/><Relationship Id="rId3" Type="http://schemas.openxmlformats.org/officeDocument/2006/relationships/image" Target="../media/image41.png"/><Relationship Id="rId21" Type="http://schemas.openxmlformats.org/officeDocument/2006/relationships/hyperlink" Target="http://twitter.com/arabiancenter/status/2031990936784265439" TargetMode="External"/><Relationship Id="rId7" Type="http://schemas.openxmlformats.org/officeDocument/2006/relationships/image" Target="../media/image7.png"/><Relationship Id="rId12" Type="http://schemas.openxmlformats.org/officeDocument/2006/relationships/hyperlink" Target="https://my.mediastow.com/app/project/b2064a97-90e9-466e-969e-705dbab6b213/ArticleTracking/include/NB2HI4B2F4XWS3TTORQWO4TBNUXGG33NF5YC6RCWOFEWEN22IFXGWUQ$eyJhIjp7InRrIjoiWWxTVnMxVFlOR2ZXT0lEQlhpcFV1R2lqVXF6M2h4aUNEYmFmY0QyajNqekZtX1dJLW5jSFNtejZkV0NVTjc1b1MxUjJUenA5d0t1bkp4T0tLamljaXVHbVNJdV96YUNxX0JUcTBlN29UZzVZMU1LRnJnN19WVU1lR0VES0NsTG9yMEJsMHhlRElMMEFScHkyUzRVQ2VLQ1F2emdFQ0ZicC0tc2c4cDhaaXgwZDQwZmZZSnJ6cUsxNHh2RWxGT29fMXczYVdXajloY29vQ29laEUwZ254eVBFNFNfaXlINTVWbkhic2tZTTZVNjIwd29mZXIzcGZYRERjWlNzNWpLTHZlMjZteW01SDJScmM2M01CVmpmVGhqM09CZmZKS2dPc2NIMkNWalRITjNLXzc5UnhzbmR2REZoaHl1eGJVeEQ4UWMybjR3d1EzR3hCU1hVWG1UYlhrd3ZOTVFCbkNuakpqSWM3Vjd0U3FmaUFybVhqdW5TaVpWMkxxX1pfNHE0IiwiYWlkIjoiTkIySEk0QjJGNFhXUzNUVE9SUVdPNFRCTlVYR0czM05GNVlDNlJDV09GRVdFTjIySUZYR1dVUSJ9fQ==" TargetMode="External"/><Relationship Id="rId17" Type="http://schemas.openxmlformats.org/officeDocument/2006/relationships/image" Target="../media/image43.jpeg"/><Relationship Id="rId2" Type="http://schemas.openxmlformats.org/officeDocument/2006/relationships/image" Target="../media/image12.png"/><Relationship Id="rId16" Type="http://schemas.openxmlformats.org/officeDocument/2006/relationships/image" Target="../media/image42.jpeg"/><Relationship Id="rId20" Type="http://schemas.openxmlformats.org/officeDocument/2006/relationships/hyperlink" Target="https://my.mediastow.com/app/project/b2064a97-90e9-466e-969e-705dbab6b213/ArticleTracking/include/NB2HI4B2F4XXI53JOR2GK4ROMNXW2L3BOJQWE2LBNZRWK3TUMVZC643UMF2HK4ZPGIYDGMJZHEYDSMZWG44DIMRWGU2DGOI$eyJhIjp7InRrIjoiWWxTVnMxVFlOR2ZXT0lEQlhpcFV1R2lqVXF6M2h4aUNEYmFmY0QyajNqekZtX1dJLW5jSFNtejZkV0NVTjc1b1M2aEJ0dnFHMDZqeHp5VEZZaHZCWDF4Z2Y1RnJaN0Y3NXFqYjdRLVlqWGRENE9LdVpQcWktN05vdEhsUXJsNm9NdXUtSjhTMHJ4blVMZElJbHNybl9FN2l4ekV6di1DUHhEZlFGNmJPTkg0ZDQwZmZZSnJ6cUsxNHh2RWxGT29fbUgydnFMSXBka0lFT1NfX2VUUDFzQVZOekNGZUc4RXFEQnVvR1RPSldrMHFvZm5Cb1lrQ0E3VG9LcExNYm53eiIsImFpZCI6Ik5CMkhJNEIyRjRYWEk1M0pPUjJHSzRST01OWFcyTDNCT0pRV0UyTEJOWlJXSzNUVU1WWkM2NDNVTUYySEs0WlBHSVlER01KWkhFWURTTVpXRzQ0RElNUldHVTJER09JIn19" TargetMode="External"/><Relationship Id="rId1" Type="http://schemas.openxmlformats.org/officeDocument/2006/relationships/slideLayout" Target="../slideLayouts/slideLayout9.xml"/><Relationship Id="rId6" Type="http://schemas.openxmlformats.org/officeDocument/2006/relationships/hyperlink" Target="http://instagram.com/p/DVV8xwzErt3" TargetMode="External"/><Relationship Id="rId11" Type="http://schemas.openxmlformats.org/officeDocument/2006/relationships/hyperlink" Target="http://instagram.com/arabiancenter" TargetMode="External"/><Relationship Id="rId5" Type="http://schemas.openxmlformats.org/officeDocument/2006/relationships/hyperlink" Target="https://my.mediastow.com/app/project/b2064a97-90e9-466e-969e-705dbab6b213/ArticleTracking/include/NB2HI4B2F4XWS3TTORQWO4TBNUXGG33NF5YC6RCWKY4HQ532IVZHIMY$eyJhIjp7InRrIjoiWWxTVnMxVFlOR2ZXT0lEQlhpcFV1R2lqVXF6M2h4aUNEYmFmY0QyajNqekZtX1dJLW5jSFNtejZkV0NVTjc1b05uQVhvQ1VMRE15R2ZTMzJwd2M1eHJzLU9pSlBfcWt3aGZmVm1UbGRqT0d5emgxcXdSazBETVpoa1Eya3MyYWhCUUdkcWotcVBOTnZWR2UyWEIzZjBBNF9rTVFYWmQ1Rzl5UVd6cXZQNGNRZDQwZmZZSnJ6cUsxNHh2RWxGT29fMXczYVdXajloY29vQ29laEUwZ254eVBFNFNfaXlINTVWbkhic2tZTTZVNVZVQTZJZm1UbmxMdkI3UlZyNHp0WCIsImFpZCI6Ik5CMkhJNEIyRjRYV1MzVFRPUlFXTzRUQk5VWEdHMzNORjVZQzZSQ1dLWTRIUTUzMklWWkhJTVkifX0=" TargetMode="External"/><Relationship Id="rId15" Type="http://schemas.openxmlformats.org/officeDocument/2006/relationships/hyperlink" Target="http://instagram.com/reel/DVvFkYbAvvt" TargetMode="External"/><Relationship Id="rId10" Type="http://schemas.openxmlformats.org/officeDocument/2006/relationships/image" Target="../media/image6.png"/><Relationship Id="rId19" Type="http://schemas.openxmlformats.org/officeDocument/2006/relationships/hyperlink" Target="http://twitter.com/" TargetMode="External"/><Relationship Id="rId4" Type="http://schemas.openxmlformats.org/officeDocument/2006/relationships/hyperlink" Target="http://instagram.com/" TargetMode="External"/><Relationship Id="rId9" Type="http://schemas.openxmlformats.org/officeDocument/2006/relationships/hyperlink" Target="http://instagram.com/p/DVpupwjF-0s" TargetMode="External"/><Relationship Id="rId14" Type="http://schemas.openxmlformats.org/officeDocument/2006/relationships/hyperlink" Target="https://my.mediastow.com/app/project/b2064a97-90e9-466e-969e-705dbab6b213/ArticleTracking/include/NB2HI4B2F4XWS3TTORQWO4TBNUXGG33NF5ZGKZLMF5CFM5SGNNMWEQLWOZ2A$eyJhIjp7InRrIjoiWWxTVnMxVFlOR2ZXT0lEQlhpcFV1R2lqVXF6M2h4aUNEYmFmY0QyajNqekZtX1dJLW5jSFNtejZkV0NVTjc1b3FRVVpCUmFrYnFWQ2hJZE5FOGpFUllWWS05aWZVSnBlRXJEczkxVEtlaXZDczFwdFhUcTlXcW1UTk9sS05fbTNvTkdpQ2xIZnQ3S3VMQjlheDFkejVfbm9qal9wSktZTFd3d3R6U2ZUbkI4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pHS1pMTUY1Q0ZNNVNHTk5NV0VRTFdPWjJBIn19" TargetMode="External"/><Relationship Id="rId22" Type="http://schemas.openxmlformats.org/officeDocument/2006/relationships/image" Target="../media/image44.jpeg"/></Relationships>
</file>

<file path=ppt/slides/_rels/slide14.xml.rels><?xml version="1.0" encoding="UTF-8" standalone="yes"?>
<Relationships xmlns="http://schemas.openxmlformats.org/package/2006/relationships"><Relationship Id="rId8" Type="http://schemas.openxmlformats.org/officeDocument/2006/relationships/image" Target="../media/image45.jpeg"/><Relationship Id="rId13" Type="http://schemas.openxmlformats.org/officeDocument/2006/relationships/hyperlink" Target="https://my.mediastow.com/app/project/b2064a97-90e9-466e-969e-705dbab6b213/ArticleTracking/include/NB2HI4B2F4XWS3TTORQWO4TBNUXGG33NF5ZGKZLMF5CFMOCPIN4HORDEM5BQ$eyJhIjp7InRrIjoiWWxTVnMxVFlOR2ZXT0lEQlhpcFV1R2lqVXF6M2h4aUNEYmFmY0QyajNqekZtX1dJLW5jSFNtejZkV0NVTjc1b0pGd0VHNDBydWxDUkpzc2xBWFRRYVNGTlkxVk5XeUhxSGZWRldmMW1MY3BlZ0NtNllFOUN4SVdqU1dGOC1YQW9CZ0kzMllGUlRaZnZjQmtreC12UlNaQlJUSEg4WGgxVnVVWmJldzd5U1MwZDQwZmZZSnJ6cUsxNHh2RWxGT29fMXczYVdXajloY29vQ29laEUwZ254Mm9xUnZtTGt1dXlfTFZGSGc5WmxRbGpYbWUzeFV2MFA3NW5oMnNZSS1yTVhvWExYWWFDWkx5d2R4dURwQ1hjLXk5V09Ec2xGNjVUY3Y3NEpwQ3RTWlNRQjNzSmlFRHM3THBqS0hzYjNwNkhqM2kzNG04NktRMDB0Qmc0QUlCSFN3XHUwMDNkXHUwMDNkIiwiYWlkIjoiTkIySEk0QjJGNFhXUzNUVE9SUVdPNFRCTlVYR0czM05GNVpHS1pMTUY1Q0ZNT0NQSU40SE9SREVNNUJRIn19" TargetMode="External"/><Relationship Id="rId18" Type="http://schemas.openxmlformats.org/officeDocument/2006/relationships/hyperlink" Target="http://twitter.com/" TargetMode="External"/><Relationship Id="rId3" Type="http://schemas.openxmlformats.org/officeDocument/2006/relationships/image" Target="../media/image41.png"/><Relationship Id="rId21" Type="http://schemas.openxmlformats.org/officeDocument/2006/relationships/image" Target="../media/image47.jpeg"/><Relationship Id="rId7" Type="http://schemas.openxmlformats.org/officeDocument/2006/relationships/hyperlink" Target="http://instagram.com/p/DVxoX3vEvqg" TargetMode="External"/><Relationship Id="rId12" Type="http://schemas.openxmlformats.org/officeDocument/2006/relationships/image" Target="../media/image7.png"/><Relationship Id="rId17" Type="http://schemas.openxmlformats.org/officeDocument/2006/relationships/hyperlink" Target="http://twitter.com/arabiancenter/" TargetMode="External"/><Relationship Id="rId2" Type="http://schemas.openxmlformats.org/officeDocument/2006/relationships/image" Target="../media/image6.png"/><Relationship Id="rId16" Type="http://schemas.openxmlformats.org/officeDocument/2006/relationships/image" Target="../media/image43.jpeg"/><Relationship Id="rId20" Type="http://schemas.openxmlformats.org/officeDocument/2006/relationships/hyperlink" Target="http://twitter.com/arabiancenter/status/2033481374372344207" TargetMode="External"/><Relationship Id="rId1" Type="http://schemas.openxmlformats.org/officeDocument/2006/relationships/slideLayout" Target="../slideLayouts/slideLayout9.xml"/><Relationship Id="rId6" Type="http://schemas.openxmlformats.org/officeDocument/2006/relationships/hyperlink" Target="https://my.mediastow.com/app/project/b2064a97-90e9-466e-969e-705dbab6b213/ArticleTracking/include/NB2HI4B2F4XWS3TTORQWO4TBNUXGG33NF5YC6RCWPBXVQM3WIV3HCZY$eyJhIjp7InRrIjoiWWxTVnMxVFlOR2ZXT0lEQlhpcFV1R2lqVXF6M2h4aUNEYmFmY0QyajNqekZtX1dJLW5jSFNtejZkV0NVTjc1b2xWQnVzQ3lKbjYwUUFZSkZLRkNLel9JWDFyT1dpRHdRakZwRDRRV296VFAxZXUtbG1IQ1p6V1FnRDdOM1g5a2dBQlFDYlpTREVDMEhmdG9sR0ViOE9mbGZ5aENKaHdDSUlrczJsWnpHZUJvZDQwZmZZSnJ6cUsxNHh2RWxGT29fMXczYVdXajloY29vQ29laEUwZ254eVBFNFNfaXlINTVWbkhic2tZTTZVNjIwd29mZXIzcGZYRERjWlNzNWpLTHZlMjZteW01SDJScmM2M01CVmpmVGk5V09Ec2xGNjVUY3Y3NEpwQ3RTWlNRQjNzSmlFRHM3THBqS0hzYjNwNkhweVl4MmhmSGJsbmxCY0p2c2VoOHBkMGVoZDdpTXZTcGxlbE9mQnZfdmQ3aUFybVhqdW5TaVpWMkxxX1pfNHE0IiwiYWlkIjoiTkIySEk0QjJGNFhXUzNUVE9SUVdPNFRCTlVYR0czM05GNVlDNlJDV1BCWFZRTTNXSVYzSENaWSJ9fQ==" TargetMode="External"/><Relationship Id="rId11" Type="http://schemas.openxmlformats.org/officeDocument/2006/relationships/hyperlink" Target="http://instagram.com/p/DV0ISKhDIFK" TargetMode="External"/><Relationship Id="rId24" Type="http://schemas.openxmlformats.org/officeDocument/2006/relationships/image" Target="../media/image48.jpeg"/><Relationship Id="rId5" Type="http://schemas.openxmlformats.org/officeDocument/2006/relationships/hyperlink" Target="http://instagram.com/" TargetMode="External"/><Relationship Id="rId15" Type="http://schemas.openxmlformats.org/officeDocument/2006/relationships/image" Target="../media/image46.jpeg"/><Relationship Id="rId23" Type="http://schemas.openxmlformats.org/officeDocument/2006/relationships/hyperlink" Target="http://instagram.com/reel/DV-lrQZDfDf" TargetMode="External"/><Relationship Id="rId10" Type="http://schemas.openxmlformats.org/officeDocument/2006/relationships/hyperlink" Target="https://my.mediastow.com/app/project/b2064a97-90e9-466e-969e-705dbab6b213/ArticleTracking/include/NB2HI4B2F4XWS3TTORQWO4TBNUXGG33NF5YC6RCWGBEVGS3IIREUMSY$eyJhIjp7InRrIjoiWWxTVnMxVFlOR2ZXT0lEQlhpcFV1R2lqVXF6M2h4aUNEYmFmY0QyajNqekZtX1dJLW5jSFNtejZkV0NVTjc1b0xvRXVRRjlMY0dENW9kbnhxb3FOUFhvLVloTHE4cmlyMkhmbndiQUxPajdYSFlGXzFEMFA1XzRnTzJ6WXJ0ODlLZHFFUWhUSlZnMDhSRkRyRnZNdUxhTFFVaW50T1BUTnc1OGZzNU91SDZj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lDNlJDV0dCRVZHUzNJSVJFVU1TWSJ9fQ==" TargetMode="External"/><Relationship Id="rId19" Type="http://schemas.openxmlformats.org/officeDocument/2006/relationships/hyperlink" Target="https://my.mediastow.com/app/project/b2064a97-90e9-466e-969e-705dbab6b213/ArticleTracking/include/NB2HI4B2F4XXI53JOR2GK4ROMNXW2L3BOJQWE2LBNZRWK3TUMVZC643UMF2HK4ZPGIYDGMZUHAYTGNZUGM3TEMZUGQZDANY$eyJhIjp7InRrIjoiWWxTVnMxVFlOR2ZXT0lEQlhpcFV1R2lqVXF6M2h4aUNEYmFmY0QyajNqekZtX1dJLW5jSFNtejZkV0NVTjc1b3VuVEN2UUlUUFpyRFJaYldBYmZnOUdrVUNwU0UwWkRIRlNYU1lqajl3MDVyNE5xU05wS3VDY19rQjBPUFlhZGFpa1JDWVBKOUdicGdXdldDaFlkRDRSLUxkYnRZOW82N0twd1dNTjVGUTY4ZDQwZmZZSnJ6cUsxNHh2RWxGT29fbUgydnFMSXBka0lFT1NfX2VUUDFzRkVFWnlrRzZtNFhwUXJ5T3NoUVpIa1x1MDAzZCIsImFpZCI6Ik5CMkhJNEIyRjRYWEk1M0pPUjJHSzRST01OWFcyTDNCT0pRV0UyTEJOWlJXSzNUVU1WWkM2NDNVTUYySEs0WlBHSVlER01aVUhBWVRHTlpVR00zVEVNWlVHUVpEQU5ZIn19" TargetMode="External"/><Relationship Id="rId4" Type="http://schemas.openxmlformats.org/officeDocument/2006/relationships/hyperlink" Target="http://instagram.com/arabiancenter" TargetMode="External"/><Relationship Id="rId9" Type="http://schemas.openxmlformats.org/officeDocument/2006/relationships/hyperlink" Target="http://instagram.com/gulfnews" TargetMode="External"/><Relationship Id="rId14" Type="http://schemas.openxmlformats.org/officeDocument/2006/relationships/hyperlink" Target="http://instagram.com/reel/DV8OCxwDdgC" TargetMode="External"/><Relationship Id="rId22" Type="http://schemas.openxmlformats.org/officeDocument/2006/relationships/hyperlink" Target="https://my.mediastow.com/app/project/b2064a97-90e9-466e-969e-705dbab6b213/ArticleTracking/include/NB2HI4B2F4XWS3TTORQWO4TBNUXGG33NF5ZGKZLMF5CFMLLMOJIVURDGIRTA$eyJhIjp7InRrIjoiWWxTVnMxVFlOR2ZXT0lEQlhpcFV1R2lqVXF6M2h4aUNEYmFmY0QyajNqekZtX1dJLW5jSFNtejZkV0NVTjc1b054N2ROM0VYaHJfcXNsa0JrOEJYWDlROU9fY2J4bmNWS1lzUnBSX3VDaUJDdnhXWTV4Q2c1TG5nNGgwb0pzZzNCU09YUGtrdVB0QzI3eVRQdVdSWTlMS2dNUGhXc0RpNmVPRnZxZUhvR05NZDQwZmZZSnJ6cUsxNHh2RWxGT29fMXczYVdXajloY29vQ29laEUwZ254Mm9xUnZtTGt1dXlfTFZGSGc5WmxRbGpYbWUzeFV2MFA3NW5oMnNZSS1yTVhvWExYWWFDWkx5d2R4dURwQ1hjLXk5V09Ec2xGNjVUY3Y3NEpwQ3RTWlNRQjNzSmlFRHM3THBqS0hzYjNwNkhqM2kzNG04NktRMDB0Qmc0QUlCSFN3XHUwMDNkXHUwMDNkIiwiYWlkIjoiTkIySEk0QjJGNFhXUzNUVE9SUVdPNFRCTlVYR0czM05GNVpHS1pMTUY1Q0ZNTExNT0pJVlVSREdJUlRBIn19"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instagram.com/reel/DV-uFWiAb-7" TargetMode="External"/><Relationship Id="rId18" Type="http://schemas.openxmlformats.org/officeDocument/2006/relationships/image" Target="../media/image7.png"/><Relationship Id="rId3" Type="http://schemas.openxmlformats.org/officeDocument/2006/relationships/image" Target="../media/image41.png"/><Relationship Id="rId21" Type="http://schemas.openxmlformats.org/officeDocument/2006/relationships/hyperlink" Target="https://my.mediastow.com/app/project/b2064a97-90e9-466e-969e-705dbab6b213/ArticleTracking/include/NB2HI4B2F4XWS3TTORQWO4TBNUXGG33NF5YC6RCXIQ3XKV2ENJCTATA$eyJhIjp7InRrIjoiWWxTVnMxVFlOR2ZXT0lEQlhpcFV1R2lqVXF6M2h4aUNEYmFmY0QyajNqekZtX1dJLW5jSFNtejZkV0NVTjc1b0FUa053NGQ4cXA5ZEpvOEhjQ082STQtVlRISmVUQkNJMXhmcGFFWEt1VWFrUUc1a2pTLVp2aXdTX2ZTQkpUUTB3WTkxZmMxLWVLeUkyTTdENDNpUVlkYzdxR18tcGtnZTh4SVlOMGhSckQ4ZDQwZmZZSnJ6cUsxNHh2RWxGT29fMXczYVdXajloY29vQ29laEUwZ254eVBFNFNfaXlINTVWbkhic2tZTTZVNVZVQTZJZm1UbmxMdkI3UlZyNHp0WCIsImFpZCI6Ik5CMkhJNEIyRjRYV1MzVFRPUlFXTzRUQk5VWEdHMzNORjVZQzZSQ1hJUTNYS1YyRU5KQ1RBVEEifX0=" TargetMode="External"/><Relationship Id="rId7" Type="http://schemas.openxmlformats.org/officeDocument/2006/relationships/hyperlink" Target="http://twitter.com/arabiancenter/status/2033832914887053662" TargetMode="External"/><Relationship Id="rId12" Type="http://schemas.openxmlformats.org/officeDocument/2006/relationships/hyperlink" Target="https://my.mediastow.com/app/project/b2064a97-90e9-466e-969e-705dbab6b213/ArticleTracking/include/NB2HI4B2F4XWS3TTORQWO4TBNUXGG33NF5ZGKZLMF5CFMLLVIZLWSQLCFU3Q$eyJhIjp7InRrIjoiWWxTVnMxVFlOR2ZXT0lEQlhpcFV1R2lqVXF6M2h4aUNEYmFmY0QyajNqekZtX1dJLW5jSFNtejZkV0NVTjc1bzhsdVlLYlk5amwyZkpiZEIzcnUtUmczM251Z0pmaVZJMlRyamg2bUROa0t5X3l1Um5xaUktZHJOMFRtWldDaUthWHQxcFVVM3BjVy01a01zSEJ6MmdaMTN4RDVwOWNEY3hrblRzXzBJcHIwZDQwZmZZSnJ6cUsxNHh2RWxGT29fMXczYVdXajloY29vQ29laEUwZ254Mm9xUnZtTGt1dXlfTFZGSGc5WmxRbGpYbWUzeFV2MFA3NW5oMnNZSS1yTV9nSXNvZzNpa2FMMU1JQWR6S2RFOFRjQjJHZGlVdnlMMDQ1VzM3a3RkaUlcdTAwM2QiLCJhaWQiOiJOQjJISTRCMkY0WFdTM1RUT1JRV080VEJOVVhHRzMzTkY1WkdLWkxNRjVDRk1MTFZJWkxXU1FMQ0ZVM1EifX0=" TargetMode="External"/><Relationship Id="rId17" Type="http://schemas.openxmlformats.org/officeDocument/2006/relationships/hyperlink" Target="http://instagram.com/p/DWD4-aqDDDE" TargetMode="External"/><Relationship Id="rId2" Type="http://schemas.openxmlformats.org/officeDocument/2006/relationships/image" Target="../media/image43.jpeg"/><Relationship Id="rId16" Type="http://schemas.openxmlformats.org/officeDocument/2006/relationships/hyperlink" Target="https://my.mediastow.com/app/project/b2064a97-90e9-466e-969e-705dbab6b213/ArticleTracking/include/NB2HI4B2F4XWS3TTORQWO4TBNUXGG33NF5YC6RCXIQ2C2YLRIRCEIRI$eyJhIjp7InRrIjoiWWxTVnMxVFlOR2ZXT0lEQlhpcFV1R2lqVXF6M2h4aUNEYmFmY0QyajNqekZtX1dJLW5jSFNtejZkV0NVTjc1b2l0RXpXRVltLWZUenNBandfR1NmY2pRWmtvMi1CZkN5dnppakJoZ0FrcXB6eVl6N2l6TXg0bjcyN0ctR0JTSHlRUTdscXFVRHlFVGU4YVJyTVdjR0VMR1A2U0hyWUxYdi1FeVkzbFpLTzk0ZDQwZmZZSnJ6cUsxNHh2RWxGT29fMXczYVdXajloY29vQ29laEUwZ254eVBFNFNfaXlINTVWbkhic2tZTTZVNVZVQTZJZm1UbmxMdkI3UlZyNHp0WCIsImFpZCI6Ik5CMkhJNEIyRjRYV1MzVFRPUlFXTzRUQk5VWEdHMzNORjVZQzZSQ1hJUTJDMllMUklSQ0VJUkkifX0=" TargetMode="External"/><Relationship Id="rId20" Type="http://schemas.openxmlformats.org/officeDocument/2006/relationships/hyperlink" Target="http://instagram.com/reel/DWD6twQkjLY" TargetMode="External"/><Relationship Id="rId1" Type="http://schemas.openxmlformats.org/officeDocument/2006/relationships/slideLayout" Target="../slideLayouts/slideLayout9.xml"/><Relationship Id="rId6" Type="http://schemas.openxmlformats.org/officeDocument/2006/relationships/hyperlink" Target="https://my.mediastow.com/app/project/b2064a97-90e9-466e-969e-705dbab6b213/ArticleTracking/include/NB2HI4B2F4XXI53JOR2GK4ROMNXW2L3BOJQWE2LBNZRWK3TUMVZC643UMF2HK4ZPGIYDGMZYGMZDSMJUHA4DOMBVGM3DMMQ$eyJhIjp7InRrIjoiWWxTVnMxVFlOR2ZXT0lEQlhpcFV1R2lqVXF6M2h4aUNEYmFmY0QyajNqekZtX1dJLW5jSFNtejZkV0NVTjc1b1ZxMFFiTmxrNjNPUWEwV2JqYjBQcS1GNTh4WVRiLW9VSDdJc1pjSm5NVHB4OGdyS0ItNGdJcVd6ejhab3QxdFRLci11cThRQ0I5WWNNN1RqdGV1M3cwYTVYUDJMR0JsQXRWQjNfWFJiNGY4ZDQwZmZZSnJ6cUsxNHh2RWxGT29fbUgydnFMSXBka0lFT1NfX2VUUDFzRkVFWnlrRzZtNFhwUXJ5T3NoUVpIa1x1MDAzZCIsImFpZCI6Ik5CMkhJNEIyRjRYWEk1M0pPUjJHSzRST01OWFcyTDNCT0pRV0UyTEJOWlJXSzNUVU1WWkM2NDNVTUYySEs0WlBHSVlER01aWUdNWkRTTUpVSEE0RE9NQlZHTTNETU1RIn19" TargetMode="External"/><Relationship Id="rId11" Type="http://schemas.openxmlformats.org/officeDocument/2006/relationships/hyperlink" Target="http://instagram.com/" TargetMode="External"/><Relationship Id="rId5" Type="http://schemas.openxmlformats.org/officeDocument/2006/relationships/hyperlink" Target="http://twitter.com/" TargetMode="External"/><Relationship Id="rId15" Type="http://schemas.openxmlformats.org/officeDocument/2006/relationships/image" Target="../media/image12.png"/><Relationship Id="rId10" Type="http://schemas.openxmlformats.org/officeDocument/2006/relationships/hyperlink" Target="http://instagram.com/arabiancenter" TargetMode="External"/><Relationship Id="rId19" Type="http://schemas.openxmlformats.org/officeDocument/2006/relationships/hyperlink" Target="https://my.mediastow.com/app/project/b2064a97-90e9-466e-969e-705dbab6b213/ArticleTracking/include/NB2HI4B2F4XWS3TTORQWO4TBNUXGG33NF5ZGKZLMF5CFORBWOR3VC23KJRMQ$eyJhIjp7InRrIjoiWWxTVnMxVFlOR2ZXT0lEQlhpcFV1R2lqVXF6M2h4aUNEYmFmY0QyajNqekZtX1dJLW5jSFNtejZkV0NVTjc1bzllYTlXZzJJb0FSVFFGY0g2N21pajdReU1Ic0FLcU1wY240M2ZOYllNM0JmUVRabDNGWnBTRXBqUlFsMTMtT2ZLNk1vTFVrcWtGMDU5X1dMRU5yTGJjUmJ0SHdiSkRmcHVoVk5qMXRacW5nZDQwZmZZSnJ6cUsxNHh2RWxGT29fMXczYVdXajloY29vQ29laEUwZ254eVBFNFNfaXlINTVWbkhic2tZTTZVNVZVQTZJZm1UbmxMdkI3UlZyNHp0WCIsImFpZCI6Ik5CMkhJNEIyRjRYV1MzVFRPUlFXTzRUQk5VWEdHMzNORjVaR0taTE1GNUNGT1JCV09SM1ZDMjNLSlJNUSJ9fQ==" TargetMode="External"/><Relationship Id="rId4" Type="http://schemas.openxmlformats.org/officeDocument/2006/relationships/hyperlink" Target="http://twitter.com/arabiancenter/" TargetMode="External"/><Relationship Id="rId9" Type="http://schemas.openxmlformats.org/officeDocument/2006/relationships/image" Target="../media/image6.png"/><Relationship Id="rId14" Type="http://schemas.openxmlformats.org/officeDocument/2006/relationships/image" Target="../media/image49.jpeg"/><Relationship Id="rId22" Type="http://schemas.openxmlformats.org/officeDocument/2006/relationships/hyperlink" Target="http://instagram.com/p/DWD7uWDjE0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50.jpeg"/><Relationship Id="rId13" Type="http://schemas.openxmlformats.org/officeDocument/2006/relationships/hyperlink" Target="http://instagram.com/p/DWEf_3imlIe" TargetMode="External"/><Relationship Id="rId18" Type="http://schemas.openxmlformats.org/officeDocument/2006/relationships/hyperlink" Target="https://my.mediastow.com/app/project/b2064a97-90e9-466e-969e-705dbab6b213/ArticleTracking/include/NB2HI4B2F4XWS3TTORQWO4TBNUXGG33NF5YC6RCXJFZG2ULPNV3HARQ$eyJhIjp7InRrIjoiWWxTVnMxVFlOR2ZXT0lEQlhpcFV1R2lqVXF6M2h4aUNEYmFmY0QyajNqekZtX1dJLW5jSFNtejZkV0NVTjc1b3VpRTkwVk5HVW0wUTQ5YmJZRmtTRmhJbDBOMXRFSGtYTV9YTEtiNTBaeDh3NWkzZkJVdmw5TG1sTDRmR01mUjhweWg2dXRULTZROG9sM3ZWSDg3UGhIOVdMRzc5b0xvYXYyWG1KSTNGdHhF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lDNlJDWEpGWkcyVUxQTlYzSEFSUSJ9fQ==" TargetMode="External"/><Relationship Id="rId3" Type="http://schemas.openxmlformats.org/officeDocument/2006/relationships/image" Target="../media/image41.png"/><Relationship Id="rId21" Type="http://schemas.openxmlformats.org/officeDocument/2006/relationships/hyperlink" Target="https://my.mediastow.com/app/project/b2064a97-90e9-466e-969e-705dbab6b213/ArticleTracking/include/NB2HI4B2F4XWS3TTORQWO4TBNUXGG33NF5ZGKZLMF5CFOSJRGZWTO6BVM42Q$eyJhIjp7InRrIjoiWWxTVnMxVFlOR2ZXT0lEQlhpcFV1R2lqVXF6M2h4aUNEYmFmY0QyajNqekZtX1dJLW5jSFNtejZkV0NVTjc1b2JBRWNQSDdzNnVHUkJmTHZESHN0cGdva1RaZFV6UjN2NU9CMllNTlZtMkFoU0lfNnJnV1FvYnNxU3NFRTJBc05TNlVPS0t4RXNiTFNpQmZqRjBFczE5WG8wWVFucXhrYUs2RnRra3NrMDlFZDQwZmZZSnJ6cUsxNHh2RWxGT29fMXczYVdXajloY29vQ29laEUwZ254Mm9xUnZtTGt1dXlfTFZGSGc5WmxRbGpYbWUzeFV2MFA3NW5oMnNZSS1yTV9nSXNvZzNpa2FMMU1JQWR6S2RFOFRjQjJHZGlVdnlMMDQ1VzM3a3RkaUlcdTAwM2QiLCJhaWQiOiJOQjJISTRCMkY0WFdTM1RUT1JRV080VEJOVVhHRzMzTkY1WkdLWkxNRjVDRk9TSlJHWldUTzZCVk00MlEifX0=" TargetMode="External"/><Relationship Id="rId7" Type="http://schemas.openxmlformats.org/officeDocument/2006/relationships/hyperlink" Target="http://twitter.com/arabiancenter/status/2034646518418813336" TargetMode="External"/><Relationship Id="rId12" Type="http://schemas.openxmlformats.org/officeDocument/2006/relationships/hyperlink" Target="https://my.mediastow.com/app/project/b2064a97-90e9-466e-969e-705dbab6b213/ArticleTracking/include/NB2HI4B2F4XWS3TTORQWO4TBNUXGG33NF5YC6RCXIVTF6M3JNVWESZI$eyJhIjp7InRrIjoiWWxTVnMxVFlOR2ZXT0lEQlhpcFV1R2lqVXF6M2h4aUNEYmFmY0QyajNqekZtX1dJLW5jSFNtejZkV0NVTjc1b2VEekpRUVYyazgyS19vWVVJS19PZjkxcFNiWFNZMnhfOFBGNUNsbHd5MU1jOGphTjhGeG1pUkdveW5abkRaeDRWbEliOXl2akpNTUtTZURRaUtwc2tyMjFjTlVfd09Vc0o1bkt3R29UZDJzZDQwZmZZSnJ6cUsxNHh2RWxGT29fMXczYVdXajloY29vQ29laEUwZ254eVBFNFNfaXlINTVWbkhic2tZTTZVN0JmM2s2ZWw5SWRHR1dTblVJODkzSG9kaWNCQmg5NDZoeEpSUEdtZkJUYjRxTVk5NnVlQjljOHdHQUNUeFptMUxLOEtndXBhVjhWOGptYUQwS2hEZGs4UWMybjR3d1EzR3hCU1hVWG1UYlhrd3ZOTVFCbkNuakpqSWM3Vjd0U3FmaUFybVhqdW5TaVpWMkxxX1pfNHE0IiwiYWlkIjoiTkIySEk0QjJGNFhXUzNUVE9SUVdPNFRCTlVYR0czM05GNVlDNlJDWElWVEY2TTNKTlZXRVNaSSJ9fQ==" TargetMode="External"/><Relationship Id="rId17" Type="http://schemas.openxmlformats.org/officeDocument/2006/relationships/image" Target="../media/image52.jpeg"/><Relationship Id="rId2" Type="http://schemas.openxmlformats.org/officeDocument/2006/relationships/image" Target="../media/image43.jpeg"/><Relationship Id="rId16" Type="http://schemas.openxmlformats.org/officeDocument/2006/relationships/hyperlink" Target="http://instagram.com/reel/DWEg_HBj6__" TargetMode="External"/><Relationship Id="rId20" Type="http://schemas.openxmlformats.org/officeDocument/2006/relationships/image" Target="../media/image53.jpeg"/><Relationship Id="rId1" Type="http://schemas.openxmlformats.org/officeDocument/2006/relationships/slideLayout" Target="../slideLayouts/slideLayout9.xml"/><Relationship Id="rId6" Type="http://schemas.openxmlformats.org/officeDocument/2006/relationships/hyperlink" Target="https://my.mediastow.com/app/project/b2064a97-90e9-466e-969e-705dbab6b213/ArticleTracking/include/NB2HI4B2F4XXI53JOR2GK4ROMNXW2L3BOJQWE2LBNZRWK3TUMVZC643UMF2HK4ZPGIYDGNBWGQ3DKMJYGQYTQOBRGMZTGNQ$eyJhIjp7InRrIjoiWWxTVnMxVFlOR2ZXT0lEQlhpcFV1R2lqVXF6M2h4aUNEYmFmY0QyajNqekZtX1dJLW5jSFNtejZkV0NVTjc1bzNsSGl5YzlFcDk5OGxjcXpBWXJERXNDZWZkMnNuTlpOcFJzYzMxcGdubzFIZXpCTkgwdnVHc1NkbkVNRjRYUlFjZGN5N09DNllGNWRQS3d6THdqaXpxWHpZMWFwSElrUlpmYmJhaTRlcWJRZDQwZmZZSnJ6cUsxNHh2RWxGT29fbUgydnFMSXBka0lFT1NfX2VUUDFzRkVFWnlrRzZtNFhwUXJ5T3NoUVpIa1x1MDAzZCIsImFpZCI6Ik5CMkhJNEIyRjRYWEk1M0pPUjJHSzRST01OWFcyTDNCT0pRV0UyTEJOWlJXSzNUVU1WWkM2NDNVTUYySEs0WlBHSVlER05CV0dRM0RLTUpZR1FZVFFPQlJHTVpUR05RIn19" TargetMode="External"/><Relationship Id="rId11" Type="http://schemas.openxmlformats.org/officeDocument/2006/relationships/hyperlink" Target="http://instagram.com/" TargetMode="External"/><Relationship Id="rId5" Type="http://schemas.openxmlformats.org/officeDocument/2006/relationships/hyperlink" Target="http://twitter.com/" TargetMode="External"/><Relationship Id="rId15" Type="http://schemas.openxmlformats.org/officeDocument/2006/relationships/hyperlink" Target="https://my.mediastow.com/app/project/b2064a97-90e9-466e-969e-705dbab6b213/ArticleTracking/include/NB2HI4B2F4XWS3TTORQWO4TBNUXGG33NF5ZGKZLMF5CFORLHL5EEE2RWL5PQ$eyJhIjp7InRrIjoiWWxTVnMxVFlOR2ZXT0lEQlhpcFV1R2lqVXF6M2h4aUNEYmFmY0QyajNqekZtX1dJLW5jSFNtejZkV0NVTjc1b1ZWOVZvWnpub3FDaHU4cERsSC1kNkRrZU40SEF3cUxGNHpEN2xZTFJvZkhJSHJMaDdiSjZ2OFB2bEI5MXNtMGpxZFdtQWJfR0REbW5wdldxWjZHck5UemVXMjJOTmRYTndIeUoyWFplN1pV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pHS1pMTUY1Q0ZPUkxITDVFRUUyUldMNVBRIn19" TargetMode="External"/><Relationship Id="rId23" Type="http://schemas.openxmlformats.org/officeDocument/2006/relationships/image" Target="../media/image54.jpeg"/><Relationship Id="rId10" Type="http://schemas.openxmlformats.org/officeDocument/2006/relationships/hyperlink" Target="http://instagram.com/arabiancenter" TargetMode="External"/><Relationship Id="rId19" Type="http://schemas.openxmlformats.org/officeDocument/2006/relationships/hyperlink" Target="http://instagram.com/p/DWIrmQomvpF" TargetMode="External"/><Relationship Id="rId4" Type="http://schemas.openxmlformats.org/officeDocument/2006/relationships/hyperlink" Target="http://twitter.com/arabiancenter/" TargetMode="External"/><Relationship Id="rId9" Type="http://schemas.openxmlformats.org/officeDocument/2006/relationships/image" Target="../media/image6.png"/><Relationship Id="rId14" Type="http://schemas.openxmlformats.org/officeDocument/2006/relationships/image" Target="../media/image51.jpeg"/><Relationship Id="rId22" Type="http://schemas.openxmlformats.org/officeDocument/2006/relationships/hyperlink" Target="http://instagram.com/reel/DWI16m7x5g5"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55.jpeg"/><Relationship Id="rId13" Type="http://schemas.openxmlformats.org/officeDocument/2006/relationships/hyperlink" Target="http://twitter.com/arabiancenter/status/2035990022961217587" TargetMode="External"/><Relationship Id="rId18" Type="http://schemas.openxmlformats.org/officeDocument/2006/relationships/image" Target="../media/image58.jpeg"/><Relationship Id="rId3" Type="http://schemas.openxmlformats.org/officeDocument/2006/relationships/image" Target="../media/image41.png"/><Relationship Id="rId21" Type="http://schemas.openxmlformats.org/officeDocument/2006/relationships/hyperlink" Target="http://twitter.com/AsterVolunteers/status/2036338754164760982" TargetMode="External"/><Relationship Id="rId7" Type="http://schemas.openxmlformats.org/officeDocument/2006/relationships/hyperlink" Target="http://instagram.com/reel/DWLxOY-gsKH" TargetMode="External"/><Relationship Id="rId12" Type="http://schemas.openxmlformats.org/officeDocument/2006/relationships/hyperlink" Target="https://my.mediastow.com/app/project/b2064a97-90e9-466e-969e-705dbab6b213/ArticleTracking/include/NB2HI4B2F4XXI53JOR2GK4ROMNXW2L3BOJQWE2LBNZRWK3TUMVZC643UMF2HK4ZPGIYDGNJZHEYDAMRSHE3DCMRRG42TQNY$eyJhIjp7InRrIjoiWWxTVnMxVFlOR2ZXT0lEQlhpcFV1R2lqVXF6M2h4aUNEYmFmY0QyajNqekZtX1dJLW5jSFNtejZkV0NVTjc1b3JKUlZyLVZMUzYwZDVMblNkdlc1c0NQUERqSFZyV2I1UUhPV25qNnFkUHdFMlYtUVVOY2M1VWNfSnlIdm55NmdqVDlCUVl3RXZ5R1Z6TFFZa3pKVWF6TmotRDdwc2xHWm5JU2d4NU96aGdvZDQwZmZZSnJ6cUsxNHh2RWxGT29fbUgydnFMSXBka0lFT1NfX2VUUDFzRkVFWnlrRzZtNFhwUXJ5T3NoUVpIa1x1MDAzZCIsImFpZCI6Ik5CMkhJNEIyRjRYWEk1M0pPUjJHSzRST01OWFcyTDNCT0pRV0UyTEJOWlJXSzNUVU1WWkM2NDNVTUYySEs0WlBHSVlER05KWkhFWURBTVJTSEUzRENNUlJHNDJUUU5ZIn19" TargetMode="External"/><Relationship Id="rId17" Type="http://schemas.openxmlformats.org/officeDocument/2006/relationships/image" Target="../media/image57.jpeg"/><Relationship Id="rId25" Type="http://schemas.openxmlformats.org/officeDocument/2006/relationships/image" Target="../media/image60.jpeg"/><Relationship Id="rId2" Type="http://schemas.openxmlformats.org/officeDocument/2006/relationships/image" Target="../media/image6.png"/><Relationship Id="rId16" Type="http://schemas.openxmlformats.org/officeDocument/2006/relationships/hyperlink" Target="http://instagram.com/p/DWOC8WBDPgb" TargetMode="External"/><Relationship Id="rId20" Type="http://schemas.openxmlformats.org/officeDocument/2006/relationships/hyperlink" Target="https://my.mediastow.com/app/project/b2064a97-90e9-466e-969e-705dbab6b213/ArticleTracking/include/NB2HI4B2F4XXI53JOR2GK4ROMNXW2L2BON2GK4SWN5WHK3TUMVSXE4ZPON2GC5DVOMXTEMBTGYZTGOBXGU2DCNRUG43DAOJYGI$eyJhIjp7InRrIjoiWWxTVnMxVFlOR2ZXT0lEQlhpcFV1R2lqVXF6M2h4aUNEYmFmY0QyajNqekZtX1dJLW5jSFNtejZkV0NVTjc1b1Z2dkdiZnZTQW81UTFXQ0FKRkdpN3lrYVhLbUxxTy1DdHY4eTFvYllURWl5ZzJQSjFEUEJCMi0tQVVqdm14OEdVc0p0UDk1Q0ZkY1RKT3FydHZIeFlTV2dBOFhVWDdrd3hLc1NKaFU3U2k4ZDQwZmZZSnJ6cUsxNHh2RWxGT29fbUgydnFMSXBka0lFT1NfX2VUUDFzRkVFWnlrRzZtNFhwUXJ5T3NoUVpIa1x1MDAzZCIsImFpZCI6Ik5CMkhJNEIyRjRYWEk1M0pPUjJHSzRST01OWFcyTDJCT04yR0s0U1dONVdISzNUVU1WU1hFNFpQT04yR0M1RFZPTVhURU1CVEdZWlRHT0JYR1UyRENOUlVHNDNEQU9KWUdJIn19" TargetMode="External"/><Relationship Id="rId1" Type="http://schemas.openxmlformats.org/officeDocument/2006/relationships/slideLayout" Target="../slideLayouts/slideLayout9.xml"/><Relationship Id="rId6" Type="http://schemas.openxmlformats.org/officeDocument/2006/relationships/hyperlink" Target="https://my.mediastow.com/app/project/b2064a97-90e9-466e-969e-705dbab6b213/ArticleTracking/include/NB2HI4B2F4XWS3TTORQWO4TBNUXGG33NF5ZGKZLMF5CFOTDYJ5MS2Z3TJNEA$eyJhIjp7InRrIjoiWWxTVnMxVFlOR2ZXT0lEQlhpcFV1R2lqVXF6M2h4aUNEYmFmY0QyajNqekZtX1dJLW5jSFNtejZkV0NVTjc1b2RGa0l1MFBVMGtiYnI1S1lZRE1tVklhMHZQNEVMbG1qdFJYT0VhaWhxcjkxUE16S2VWUVlobjByb0k2VkIxanBNRV9Kc0RCb2lBR0RDYllpZzR2WHkwVmdfUkZHUjVCbUFUa0dBbjRjU3NF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pHS1pMTUY1Q0ZPVERZSjVNUzJaM1RKTkVBIn19" TargetMode="External"/><Relationship Id="rId11" Type="http://schemas.openxmlformats.org/officeDocument/2006/relationships/hyperlink" Target="http://twitter.com/" TargetMode="External"/><Relationship Id="rId24" Type="http://schemas.openxmlformats.org/officeDocument/2006/relationships/hyperlink" Target="http://twitter.com/arabiancenter/status/2037801906756583732" TargetMode="External"/><Relationship Id="rId5" Type="http://schemas.openxmlformats.org/officeDocument/2006/relationships/hyperlink" Target="http://instagram.com/" TargetMode="External"/><Relationship Id="rId15" Type="http://schemas.openxmlformats.org/officeDocument/2006/relationships/hyperlink" Target="https://my.mediastow.com/app/project/b2064a97-90e9-466e-969e-705dbab6b213/ArticleTracking/include/NB2HI4B2F4XWS3TTORQWO4TBNUXGG33NF5YC6RCXJ5BTQV2CIRIGOYQ$eyJhIjp7InRrIjoiWWxTVnMxVFlOR2ZXT0lEQlhpcFV1R2lqVXF6M2h4aUNEYmFmY0QyajNqekZtX1dJLW5jSFNtejZkV0NVTjc1b1UxQVBvRzdrMnNETEstdG5Cbm9STDRVREh0WlMtWElRUy1qdDRhRkZnb3ZNRUFEb0dkclpsSVBheGFPdWtOTlBSMDBQZ09SamxPWjU3NHVTenN6NTNHTlBNTEYxU05UWlc1eEZhMjJQdXJNZDQwZmZZSnJ6cUsxNHh2RWxGT29fMXczYVdXajloY29vQ29laEUwZ254Mm9xUnZtTGt1dXlfTFZGSGc5WmxRbGpYbWUzeFV2MFA3NW5oMnNZSS1yTV9nSXNvZzNpa2FMMU1JQWR6S2RFOFRjQjJHZGlVdnlMMDQ1VzM3a3RkaUlcdTAwM2QiLCJhaWQiOiJOQjJISTRCMkY0WFdTM1RUT1JRV080VEJOVVhHRzMzTkY1WUM2UkNYSjVCVFFWMkNJUklHT1lRIn19" TargetMode="External"/><Relationship Id="rId23" Type="http://schemas.openxmlformats.org/officeDocument/2006/relationships/hyperlink" Target="https://my.mediastow.com/app/project/b2064a97-90e9-466e-969e-705dbab6b213/ArticleTracking/include/NB2HI4B2F4XXI53JOR2GK4ROMNXW2L3BOJQWE2LBNZRWK3TUMVZC643UMF2HK4ZPGIYDGNZYGAYTSMBWG42TMNJYGM3TGMQ$eyJhIjp7InRrIjoiWWxTVnMxVFlOR2ZXT0lEQlhpcFV1R2lqVXF6M2h4aUNEYmFmY0QyajNqekZtX1dJLW5jSFNtejZkV0NVTjc1b0dOLWFhMU9Fa0NKUEpMb0hsaTRqTnV0WVpFR1gyRkdNOURxMXkwSGVuQ3ZVc2wwelVHaE91a25ZSURKaXM1anpkWmhndUxEQnJtbWhXMmpZRjNJU0tiNmc5UzdNcHhIWFpuS3BYaGdJNldzZDQwZmZZSnJ6cUsxNHh2RWxGT29fbUgydnFMSXBka0lFT1NfX2VUUDFzQVZOekNGZUc4RXFEQnVvR1RPSldrMUdUaDRUWnZOdHRFSmVfUFp2dUxsY3pZVDM4cWNmN2gzRW5SS0hYUWJ3N3htMENlZHY1WlhRZEtIZHJaOFZ1blFcdTAwM2QiLCJhaWQiOiJOQjJISTRCMkY0WFhJNTNKT1IyR0s0Uk9NTlhXMkwzQk9KUVdFMkxCTlpSV0szVFVNVlpDNjQzVU1GMkhLNFpQR0lZREdOWllHQVlUU01CV0c0MlRNTkpZR00zVEdNUSJ9fQ==" TargetMode="External"/><Relationship Id="rId10" Type="http://schemas.openxmlformats.org/officeDocument/2006/relationships/hyperlink" Target="http://twitter.com/arabiancenter/" TargetMode="External"/><Relationship Id="rId19" Type="http://schemas.openxmlformats.org/officeDocument/2006/relationships/hyperlink" Target="http://twitter.com/AsterVolunteers/" TargetMode="External"/><Relationship Id="rId4" Type="http://schemas.openxmlformats.org/officeDocument/2006/relationships/hyperlink" Target="http://instagram.com/arabiancenter" TargetMode="External"/><Relationship Id="rId9" Type="http://schemas.openxmlformats.org/officeDocument/2006/relationships/image" Target="../media/image43.jpeg"/><Relationship Id="rId14" Type="http://schemas.openxmlformats.org/officeDocument/2006/relationships/image" Target="../media/image56.jpeg"/><Relationship Id="rId22" Type="http://schemas.openxmlformats.org/officeDocument/2006/relationships/image" Target="../media/image59.jpeg"/></Relationships>
</file>

<file path=ppt/slides/_rels/slide18.xml.rels><?xml version="1.0" encoding="UTF-8" standalone="yes"?>
<Relationships xmlns="http://schemas.openxmlformats.org/package/2006/relationships"><Relationship Id="rId8" Type="http://schemas.openxmlformats.org/officeDocument/2006/relationships/image" Target="../media/image62.jpeg"/><Relationship Id="rId13" Type="http://schemas.openxmlformats.org/officeDocument/2006/relationships/hyperlink" Target="http://twitter.com/arabiancenter/status/2038541898118205738" TargetMode="External"/><Relationship Id="rId3" Type="http://schemas.openxmlformats.org/officeDocument/2006/relationships/image" Target="../media/image41.png"/><Relationship Id="rId7" Type="http://schemas.openxmlformats.org/officeDocument/2006/relationships/hyperlink" Target="http://instagram.com/reel/DWa6WhTgvVP" TargetMode="External"/><Relationship Id="rId12" Type="http://schemas.openxmlformats.org/officeDocument/2006/relationships/hyperlink" Target="https://my.mediastow.com/app/project/b2064a97-90e9-466e-969e-705dbab6b213/ArticleTracking/include/NB2HI4B2F4XXI53JOR2GK4ROMNXW2L3BOJQWE2LBNZRWK3TUMVZC643UMF2HK4ZPGIYDGOBVGQYTQOJYGEYTQMRQGU3TGOA$eyJhIjp7InRrIjoiWWxTVnMxVFlOR2ZXT0lEQlhpcFV1R2lqVXF6M2h4aUNEYmFmY0QyajNqekZtX1dJLW5jSFNtejZkV0NVTjc1b1NDMFJXRW9IMHRkTnMyLVBNME40TENaV2NaNEotN296TXBJT2RBQnFSNzJ1WmZld25qclZVYVNzLTA2LXhuS1pxbXlGOERlcVRwZDV0NTJGNlNyblFsRDFtQUxncXpyRmJRemNsWjJ5ZjhrZDQwZmZZSnJ6cUsxNHh2RWxGT29fbUgydnFMSXBka0lFT1NfX2VUUDFzRkVFWnlrRzZtNFhwUXJ5T3NoUVpIa1x1MDAzZCIsImFpZCI6Ik5CMkhJNEIyRjRYWEk1M0pPUjJHSzRST01OWFcyTDNCT0pRV0UyTEJOWlJXSzNUVU1WWkM2NDNVTUYySEs0WlBHSVlER09CVkdRWVRRT0pZR0VZVFFNUlFHVTNUR09BIn19" TargetMode="External"/><Relationship Id="rId17" Type="http://schemas.openxmlformats.org/officeDocument/2006/relationships/image" Target="../media/image63.jpeg"/><Relationship Id="rId2" Type="http://schemas.openxmlformats.org/officeDocument/2006/relationships/image" Target="../media/image61.jpeg"/><Relationship Id="rId16" Type="http://schemas.openxmlformats.org/officeDocument/2006/relationships/hyperlink" Target="http://instagram.com/reel/DWgLbfgEupV" TargetMode="External"/><Relationship Id="rId1" Type="http://schemas.openxmlformats.org/officeDocument/2006/relationships/slideLayout" Target="../slideLayouts/slideLayout9.xml"/><Relationship Id="rId6" Type="http://schemas.openxmlformats.org/officeDocument/2006/relationships/hyperlink" Target="https://my.mediastow.com/app/project/b2064a97-90e9-466e-969e-705dbab6b213/ArticleTracking/include/NB2HI4B2F4XWS3TTORQWO4TBNUXGG33NF5ZGKZLMF5CFOYJWK5UFIZ3WKZIA$eyJhIjp7InRrIjoiWWxTVnMxVFlOR2ZXT0lEQlhpcFV1R2lqVXF6M2h4aUNEYmFmY0QyajNqekZtX1dJLW5jSFNtejZkV0NVTjc1b056enpkVTZaeHg1UGw1OGM0OGdiV1FKcE94NGlYbWhfS2w2Nkx0bWE5U0d5VHhzUkFsSDY1RGNFSTRScnNOS2VOdnZQRVhBMW9HbFliVm5yMGdHX1VzcTJyQWZsSXh3a1VFQ1p2UnM2VUIw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pHS1pMTUY1Q0ZPWUpXSzVVRklaM1dLWklBIn19" TargetMode="External"/><Relationship Id="rId11" Type="http://schemas.openxmlformats.org/officeDocument/2006/relationships/hyperlink" Target="http://twitter.com/" TargetMode="External"/><Relationship Id="rId5" Type="http://schemas.openxmlformats.org/officeDocument/2006/relationships/hyperlink" Target="http://instagram.com/" TargetMode="External"/><Relationship Id="rId15" Type="http://schemas.openxmlformats.org/officeDocument/2006/relationships/hyperlink" Target="https://my.mediastow.com/app/project/b2064a97-90e9-466e-969e-705dbab6b213/ArticleTracking/include/NB2HI4B2F4XWS3TTORQWO4TBNUXGG33NF5ZGKZLMF5CFOZ2MMJTGORLVOBLA$eyJhIjp7InRrIjoiWWxTVnMxVFlOR2ZXT0lEQlhpcFV1R2lqVXF6M2h4aUNEYmFmY0QyajNqekZtX1dJLW5jSFNtejZkV0NVTjc1bzFkLTFsUV8xZ3huUXg0UDVXMmR4VFN1bFNxV3cxV19LZ1B0NENIalFfTW1mb0hiZnBTd2g3cnNsbWhQSGEwZlFzMVRRdDNJQm1GTVJQeDR5ejBiZDZId0JIcnRiUGRYdW1kN3BCNDMtWGdBZDQwZmZZSnJ6cUsxNHh2RWxGT29fMXczYVdXajloY29vQ29laEUwZ254eVBFNFNfaXlINTVWbkhic2tZTTZVNjIwd29mZXIzcGZYRERjWlNzNWpLTHZlMjZteW01SDJScmM2M01CVmpmVGk5V09Ec2xGNjVUY3Y3NEpwQ3RTWlNRQjNzSmlFRHM3THBqS0hzYjNwNkhqM2kzNG04NktRMDB0Qmc0QUlCSFN3XHUwMDNkXHUwMDNkIiwiYWlkIjoiTkIySEk0QjJGNFhXUzNUVE9SUVdPNFRCTlVYR0czM05GNVpHS1pMTUY1Q0ZPWjJNTUpUR09STFZPQkxBIn19" TargetMode="External"/><Relationship Id="rId10" Type="http://schemas.openxmlformats.org/officeDocument/2006/relationships/hyperlink" Target="http://twitter.com/arabiancenter/" TargetMode="External"/><Relationship Id="rId4" Type="http://schemas.openxmlformats.org/officeDocument/2006/relationships/hyperlink" Target="http://instagram.com/arabiancenter" TargetMode="External"/><Relationship Id="rId9" Type="http://schemas.openxmlformats.org/officeDocument/2006/relationships/image" Target="../media/image43.jpeg"/><Relationship Id="rId1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7947" y="1973179"/>
            <a:ext cx="8044061" cy="830997"/>
          </a:xfrm>
          <a:prstGeom prst="rect">
            <a:avLst/>
          </a:prstGeom>
        </p:spPr>
        <p:txBody>
          <a:bodyPr wrap="square">
            <a:spAutoFit/>
          </a:bodyPr>
          <a:lstStyle/>
          <a:p>
            <a:r>
              <a:rPr lang="en-US" sz="2400" b="1" i="1" dirty="0"/>
              <a:t>                           ARABIAN CENTER MALL</a:t>
            </a:r>
          </a:p>
          <a:p>
            <a:r>
              <a:rPr lang="en-US" sz="2400" b="1" i="1" dirty="0"/>
              <a:t>                                       March,2026</a:t>
            </a:r>
          </a:p>
        </p:txBody>
      </p:sp>
    </p:spTree>
    <p:extLst>
      <p:ext uri="{BB962C8B-B14F-4D97-AF65-F5344CB8AC3E}">
        <p14:creationId xmlns:p14="http://schemas.microsoft.com/office/powerpoint/2010/main" val="3074699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35382" y="2286000"/>
            <a:ext cx="7329054" cy="830997"/>
          </a:xfrm>
          <a:prstGeom prst="rect">
            <a:avLst/>
          </a:prstGeom>
          <a:noFill/>
        </p:spPr>
        <p:txBody>
          <a:bodyPr wrap="square" rtlCol="0">
            <a:spAutoFit/>
          </a:bodyPr>
          <a:lstStyle/>
          <a:p>
            <a:pPr algn="ctr"/>
            <a:r>
              <a:rPr lang="en-US" sz="4800" dirty="0"/>
              <a:t>Online News Coverage</a:t>
            </a:r>
          </a:p>
        </p:txBody>
      </p:sp>
    </p:spTree>
    <p:extLst>
      <p:ext uri="{BB962C8B-B14F-4D97-AF65-F5344CB8AC3E}">
        <p14:creationId xmlns:p14="http://schemas.microsoft.com/office/powerpoint/2010/main" val="3549527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C8363-18D6-7D39-92B5-AF24FE6537F0}"/>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434B1C66-37ED-0104-2FDE-8782B0F4D41B}"/>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9B9607DE-4738-D817-89FF-3D57EA3F4723}"/>
              </a:ext>
            </a:extLst>
          </p:cNvPr>
          <p:cNvCxnSpPr/>
          <p:nvPr/>
        </p:nvCxnSpPr>
        <p:spPr>
          <a:xfrm>
            <a:off x="432137" y="1059734"/>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B183E459-FAA3-0079-3A37-217A2C99300A}"/>
              </a:ext>
            </a:extLst>
          </p:cNvPr>
          <p:cNvSpPr/>
          <p:nvPr/>
        </p:nvSpPr>
        <p:spPr>
          <a:xfrm>
            <a:off x="765623" y="844466"/>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B31866E7-ED5A-A584-91ED-3993A478ADAB}"/>
              </a:ext>
            </a:extLst>
          </p:cNvPr>
          <p:cNvCxnSpPr/>
          <p:nvPr/>
        </p:nvCxnSpPr>
        <p:spPr>
          <a:xfrm>
            <a:off x="3767005" y="820548"/>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738A27B5-B91C-DD54-3BD1-4CC0B52A27ED}"/>
              </a:ext>
            </a:extLst>
          </p:cNvPr>
          <p:cNvSpPr/>
          <p:nvPr/>
        </p:nvSpPr>
        <p:spPr>
          <a:xfrm>
            <a:off x="4100491" y="844466"/>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FD0CCD6D-D834-F85D-FB56-418890217DF1}"/>
              </a:ext>
            </a:extLst>
          </p:cNvPr>
          <p:cNvCxnSpPr/>
          <p:nvPr/>
        </p:nvCxnSpPr>
        <p:spPr>
          <a:xfrm>
            <a:off x="8769307" y="820548"/>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F83618F5-6F7A-7707-C3E1-0C104FC89181}"/>
              </a:ext>
            </a:extLst>
          </p:cNvPr>
          <p:cNvSpPr/>
          <p:nvPr/>
        </p:nvSpPr>
        <p:spPr>
          <a:xfrm>
            <a:off x="8880469" y="844466"/>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080487AB-2F78-DE42-C58B-BC758D14E960}"/>
              </a:ext>
            </a:extLst>
          </p:cNvPr>
          <p:cNvCxnSpPr/>
          <p:nvPr/>
        </p:nvCxnSpPr>
        <p:spPr>
          <a:xfrm>
            <a:off x="9880929" y="820548"/>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54995F84-0837-5CAE-9C82-225FAFF1DB72}"/>
              </a:ext>
            </a:extLst>
          </p:cNvPr>
          <p:cNvSpPr/>
          <p:nvPr/>
        </p:nvSpPr>
        <p:spPr>
          <a:xfrm>
            <a:off x="10047672" y="844466"/>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DAA67B01-E361-5DB5-C4C7-C5C9336C2575}"/>
              </a:ext>
            </a:extLst>
          </p:cNvPr>
          <p:cNvPicPr/>
          <p:nvPr/>
        </p:nvPicPr>
        <p:blipFill>
          <a:blip r:embed="rId2"/>
          <a:srcRect/>
          <a:stretch/>
        </p:blipFill>
        <p:spPr>
          <a:xfrm>
            <a:off x="546549" y="1134104"/>
            <a:ext cx="438150" cy="457200"/>
          </a:xfrm>
          <a:prstGeom prst="rect">
            <a:avLst/>
          </a:prstGeom>
        </p:spPr>
      </p:pic>
      <p:sp>
        <p:nvSpPr>
          <p:cNvPr id="12" name="Shape">
            <a:extLst>
              <a:ext uri="{FF2B5EF4-FFF2-40B4-BE49-F238E27FC236}">
                <a16:creationId xmlns:a16="http://schemas.microsoft.com/office/drawing/2014/main" id="{BCD82A26-575A-5B5B-6B55-490E9211A4BC}"/>
              </a:ext>
            </a:extLst>
          </p:cNvPr>
          <p:cNvSpPr/>
          <p:nvPr/>
        </p:nvSpPr>
        <p:spPr>
          <a:xfrm>
            <a:off x="1121343" y="118092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Check our Privicy Policy</a:t>
            </a:r>
            <a:endParaRPr/>
          </a:p>
        </p:txBody>
      </p:sp>
      <p:sp>
        <p:nvSpPr>
          <p:cNvPr id="13" name="Shape">
            <a:extLst>
              <a:ext uri="{FF2B5EF4-FFF2-40B4-BE49-F238E27FC236}">
                <a16:creationId xmlns:a16="http://schemas.microsoft.com/office/drawing/2014/main" id="{6D309A54-89A4-2DDD-5EA5-9A701E035892}"/>
              </a:ext>
            </a:extLst>
          </p:cNvPr>
          <p:cNvSpPr/>
          <p:nvPr/>
        </p:nvSpPr>
        <p:spPr>
          <a:xfrm>
            <a:off x="1121343" y="146116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3"/>
              </a:rPr>
              <a:t>godubai.com</a:t>
            </a:r>
            <a:endParaRPr/>
          </a:p>
        </p:txBody>
      </p:sp>
      <p:sp>
        <p:nvSpPr>
          <p:cNvPr id="14" name="Shape">
            <a:extLst>
              <a:ext uri="{FF2B5EF4-FFF2-40B4-BE49-F238E27FC236}">
                <a16:creationId xmlns:a16="http://schemas.microsoft.com/office/drawing/2014/main" id="{3EC603BA-9BE2-D3C8-8C86-5BA2913AA29F}"/>
              </a:ext>
            </a:extLst>
          </p:cNvPr>
          <p:cNvSpPr/>
          <p:nvPr/>
        </p:nvSpPr>
        <p:spPr>
          <a:xfrm>
            <a:off x="598880" y="169597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4"/>
              </a:rPr>
              <a:t>01/03/26 13:09</a:t>
            </a:r>
            <a:r>
              <a:t> | </a:t>
            </a:r>
            <a:r>
              <a:rPr lang="en" b="0" i="0"/>
              <a:t>United Arab Emirates</a:t>
            </a:r>
            <a:endParaRPr/>
          </a:p>
        </p:txBody>
      </p:sp>
      <p:sp>
        <p:nvSpPr>
          <p:cNvPr id="15" name="Shape">
            <a:extLst>
              <a:ext uri="{FF2B5EF4-FFF2-40B4-BE49-F238E27FC236}">
                <a16:creationId xmlns:a16="http://schemas.microsoft.com/office/drawing/2014/main" id="{77D583F9-DF24-7F8F-BCE1-90CD938B09DA}"/>
              </a:ext>
            </a:extLst>
          </p:cNvPr>
          <p:cNvSpPr/>
          <p:nvPr/>
        </p:nvSpPr>
        <p:spPr>
          <a:xfrm>
            <a:off x="3912905" y="112108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4"/>
              </a:rPr>
              <a:t>Eid Shoppers in Dubai Can Win...</a:t>
            </a:r>
            <a:endParaRPr/>
          </a:p>
        </p:txBody>
      </p:sp>
      <p:sp>
        <p:nvSpPr>
          <p:cNvPr id="16" name="Shape">
            <a:extLst>
              <a:ext uri="{FF2B5EF4-FFF2-40B4-BE49-F238E27FC236}">
                <a16:creationId xmlns:a16="http://schemas.microsoft.com/office/drawing/2014/main" id="{13B931BE-BEB2-B228-CDAB-5B30D8586A5B}"/>
              </a:ext>
            </a:extLst>
          </p:cNvPr>
          <p:cNvSpPr/>
          <p:nvPr/>
        </p:nvSpPr>
        <p:spPr>
          <a:xfrm>
            <a:off x="3933748" y="136649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17" name="Picture">
            <a:hlinkClick r:id="rId5"/>
            <a:extLst>
              <a:ext uri="{FF2B5EF4-FFF2-40B4-BE49-F238E27FC236}">
                <a16:creationId xmlns:a16="http://schemas.microsoft.com/office/drawing/2014/main" id="{1261AE2E-0E20-45F7-AE48-8B56F6762017}"/>
              </a:ext>
            </a:extLst>
          </p:cNvPr>
          <p:cNvPicPr/>
          <p:nvPr/>
        </p:nvPicPr>
        <p:blipFill>
          <a:blip r:embed="rId6"/>
          <a:srcRect/>
          <a:stretch/>
        </p:blipFill>
        <p:spPr>
          <a:xfrm>
            <a:off x="7545065" y="1123664"/>
            <a:ext cx="781050" cy="781050"/>
          </a:xfrm>
          <a:prstGeom prst="rect">
            <a:avLst/>
          </a:prstGeom>
        </p:spPr>
      </p:pic>
      <p:sp>
        <p:nvSpPr>
          <p:cNvPr id="18" name="Shape">
            <a:extLst>
              <a:ext uri="{FF2B5EF4-FFF2-40B4-BE49-F238E27FC236}">
                <a16:creationId xmlns:a16="http://schemas.microsoft.com/office/drawing/2014/main" id="{1986521D-D241-0F9B-0362-600F27BE4DA0}"/>
              </a:ext>
            </a:extLst>
          </p:cNvPr>
          <p:cNvSpPr/>
          <p:nvPr/>
        </p:nvSpPr>
        <p:spPr>
          <a:xfrm>
            <a:off x="8769307" y="133240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50F2CC03-775B-DF9D-152B-61A69E6A5A49}"/>
              </a:ext>
            </a:extLst>
          </p:cNvPr>
          <p:cNvSpPr/>
          <p:nvPr/>
        </p:nvSpPr>
        <p:spPr>
          <a:xfrm>
            <a:off x="8769307" y="133240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4209CA53-855E-CF2E-3EAA-99907C6766D5}"/>
              </a:ext>
            </a:extLst>
          </p:cNvPr>
          <p:cNvSpPr/>
          <p:nvPr/>
        </p:nvSpPr>
        <p:spPr>
          <a:xfrm>
            <a:off x="10047672" y="107488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886F7CED-2002-85EE-7FE2-575DEBD0847A}"/>
              </a:ext>
            </a:extLst>
          </p:cNvPr>
          <p:cNvCxnSpPr/>
          <p:nvPr/>
        </p:nvCxnSpPr>
        <p:spPr>
          <a:xfrm>
            <a:off x="432137" y="1968644"/>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A946EE80-9729-CC41-5A63-652F96B9F0F0}"/>
              </a:ext>
            </a:extLst>
          </p:cNvPr>
          <p:cNvPicPr/>
          <p:nvPr/>
        </p:nvPicPr>
        <p:blipFill>
          <a:blip r:embed="rId7"/>
          <a:srcRect/>
          <a:stretch/>
        </p:blipFill>
        <p:spPr>
          <a:xfrm>
            <a:off x="546549" y="2052539"/>
            <a:ext cx="438150" cy="438150"/>
          </a:xfrm>
          <a:prstGeom prst="rect">
            <a:avLst/>
          </a:prstGeom>
        </p:spPr>
      </p:pic>
      <p:sp>
        <p:nvSpPr>
          <p:cNvPr id="23" name="Shape">
            <a:extLst>
              <a:ext uri="{FF2B5EF4-FFF2-40B4-BE49-F238E27FC236}">
                <a16:creationId xmlns:a16="http://schemas.microsoft.com/office/drawing/2014/main" id="{9161E411-C220-AB21-154B-9AAF9183B7FF}"/>
              </a:ext>
            </a:extLst>
          </p:cNvPr>
          <p:cNvSpPr/>
          <p:nvPr/>
        </p:nvSpPr>
        <p:spPr>
          <a:xfrm>
            <a:off x="1121343" y="208983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Fashion, Lifestyle &amp; Luxury</a:t>
            </a:r>
            <a:endParaRPr/>
          </a:p>
        </p:txBody>
      </p:sp>
      <p:sp>
        <p:nvSpPr>
          <p:cNvPr id="24" name="Shape">
            <a:extLst>
              <a:ext uri="{FF2B5EF4-FFF2-40B4-BE49-F238E27FC236}">
                <a16:creationId xmlns:a16="http://schemas.microsoft.com/office/drawing/2014/main" id="{407DFC2B-B7B4-1496-4827-E9652D9BDF90}"/>
              </a:ext>
            </a:extLst>
          </p:cNvPr>
          <p:cNvSpPr/>
          <p:nvPr/>
        </p:nvSpPr>
        <p:spPr>
          <a:xfrm>
            <a:off x="1121343" y="237007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8"/>
              </a:rPr>
              <a:t>dubaiprnetwork.com</a:t>
            </a:r>
            <a:endParaRPr/>
          </a:p>
        </p:txBody>
      </p:sp>
      <p:sp>
        <p:nvSpPr>
          <p:cNvPr id="25" name="Shape">
            <a:extLst>
              <a:ext uri="{FF2B5EF4-FFF2-40B4-BE49-F238E27FC236}">
                <a16:creationId xmlns:a16="http://schemas.microsoft.com/office/drawing/2014/main" id="{060D0868-BF1C-02AF-D6E9-0749B2976530}"/>
              </a:ext>
            </a:extLst>
          </p:cNvPr>
          <p:cNvSpPr/>
          <p:nvPr/>
        </p:nvSpPr>
        <p:spPr>
          <a:xfrm>
            <a:off x="598880" y="260488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9"/>
              </a:rPr>
              <a:t>02/03/26 01:29</a:t>
            </a:r>
            <a:r>
              <a:t> | </a:t>
            </a:r>
            <a:r>
              <a:rPr lang="en" b="0" i="0"/>
              <a:t>United Arab Emirates</a:t>
            </a:r>
            <a:endParaRPr/>
          </a:p>
        </p:txBody>
      </p:sp>
      <p:sp>
        <p:nvSpPr>
          <p:cNvPr id="26" name="Shape">
            <a:extLst>
              <a:ext uri="{FF2B5EF4-FFF2-40B4-BE49-F238E27FC236}">
                <a16:creationId xmlns:a16="http://schemas.microsoft.com/office/drawing/2014/main" id="{26AF4A3B-BD1D-917D-BC15-EC1CD87C211E}"/>
              </a:ext>
            </a:extLst>
          </p:cNvPr>
          <p:cNvSpPr/>
          <p:nvPr/>
        </p:nvSpPr>
        <p:spPr>
          <a:xfrm>
            <a:off x="3912905" y="202999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9"/>
              </a:rPr>
              <a:t>Eid Shoppers in Dubai Can Win...</a:t>
            </a:r>
            <a:endParaRPr/>
          </a:p>
        </p:txBody>
      </p:sp>
      <p:sp>
        <p:nvSpPr>
          <p:cNvPr id="27" name="Shape">
            <a:extLst>
              <a:ext uri="{FF2B5EF4-FFF2-40B4-BE49-F238E27FC236}">
                <a16:creationId xmlns:a16="http://schemas.microsoft.com/office/drawing/2014/main" id="{7F2571C2-2D4C-DD01-83AF-C66CCCE06C41}"/>
              </a:ext>
            </a:extLst>
          </p:cNvPr>
          <p:cNvSpPr/>
          <p:nvPr/>
        </p:nvSpPr>
        <p:spPr>
          <a:xfrm>
            <a:off x="3933748" y="227540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28" name="Picture">
            <a:hlinkClick r:id="rId10"/>
            <a:extLst>
              <a:ext uri="{FF2B5EF4-FFF2-40B4-BE49-F238E27FC236}">
                <a16:creationId xmlns:a16="http://schemas.microsoft.com/office/drawing/2014/main" id="{89443673-A0B9-A149-8A30-FD1FE325D368}"/>
              </a:ext>
            </a:extLst>
          </p:cNvPr>
          <p:cNvPicPr/>
          <p:nvPr/>
        </p:nvPicPr>
        <p:blipFill>
          <a:blip r:embed="rId11"/>
          <a:srcRect/>
          <a:stretch/>
        </p:blipFill>
        <p:spPr>
          <a:xfrm>
            <a:off x="7545065" y="2032574"/>
            <a:ext cx="781050" cy="781050"/>
          </a:xfrm>
          <a:prstGeom prst="rect">
            <a:avLst/>
          </a:prstGeom>
        </p:spPr>
      </p:pic>
      <p:sp>
        <p:nvSpPr>
          <p:cNvPr id="29" name="Shape">
            <a:extLst>
              <a:ext uri="{FF2B5EF4-FFF2-40B4-BE49-F238E27FC236}">
                <a16:creationId xmlns:a16="http://schemas.microsoft.com/office/drawing/2014/main" id="{285E2ECE-5FCC-42F7-63FB-4C63606EFB93}"/>
              </a:ext>
            </a:extLst>
          </p:cNvPr>
          <p:cNvSpPr/>
          <p:nvPr/>
        </p:nvSpPr>
        <p:spPr>
          <a:xfrm>
            <a:off x="8769307" y="224131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D9B7DC9A-588D-525E-3193-2B367066F877}"/>
              </a:ext>
            </a:extLst>
          </p:cNvPr>
          <p:cNvSpPr/>
          <p:nvPr/>
        </p:nvSpPr>
        <p:spPr>
          <a:xfrm>
            <a:off x="8769307" y="224131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38C4C6EF-6619-AFDF-8570-ADF755E7858B}"/>
              </a:ext>
            </a:extLst>
          </p:cNvPr>
          <p:cNvSpPr/>
          <p:nvPr/>
        </p:nvSpPr>
        <p:spPr>
          <a:xfrm>
            <a:off x="10047672" y="198379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6BBA3CCA-5D20-B358-5E46-9BF5D0E5858C}"/>
              </a:ext>
            </a:extLst>
          </p:cNvPr>
          <p:cNvCxnSpPr/>
          <p:nvPr/>
        </p:nvCxnSpPr>
        <p:spPr>
          <a:xfrm>
            <a:off x="432137" y="2877554"/>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5862A582-072B-EDF7-FB1A-AA4D6BC23BE1}"/>
              </a:ext>
            </a:extLst>
          </p:cNvPr>
          <p:cNvPicPr/>
          <p:nvPr/>
        </p:nvPicPr>
        <p:blipFill>
          <a:blip r:embed="rId12"/>
          <a:srcRect/>
          <a:stretch/>
        </p:blipFill>
        <p:spPr>
          <a:xfrm>
            <a:off x="546549" y="2961449"/>
            <a:ext cx="438150" cy="438150"/>
          </a:xfrm>
          <a:prstGeom prst="rect">
            <a:avLst/>
          </a:prstGeom>
        </p:spPr>
      </p:pic>
      <p:sp>
        <p:nvSpPr>
          <p:cNvPr id="34" name="Shape">
            <a:extLst>
              <a:ext uri="{FF2B5EF4-FFF2-40B4-BE49-F238E27FC236}">
                <a16:creationId xmlns:a16="http://schemas.microsoft.com/office/drawing/2014/main" id="{ECB1D1F0-2681-B5F0-4CA1-2322883611D6}"/>
              </a:ext>
            </a:extLst>
          </p:cNvPr>
          <p:cNvSpPr/>
          <p:nvPr/>
        </p:nvSpPr>
        <p:spPr>
          <a:xfrm>
            <a:off x="1121343" y="299874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date</a:t>
            </a:r>
            <a:endParaRPr/>
          </a:p>
        </p:txBody>
      </p:sp>
      <p:sp>
        <p:nvSpPr>
          <p:cNvPr id="35" name="Shape">
            <a:extLst>
              <a:ext uri="{FF2B5EF4-FFF2-40B4-BE49-F238E27FC236}">
                <a16:creationId xmlns:a16="http://schemas.microsoft.com/office/drawing/2014/main" id="{F1A8113A-BFE6-A0A8-F276-76D6463C7372}"/>
              </a:ext>
            </a:extLst>
          </p:cNvPr>
          <p:cNvSpPr/>
          <p:nvPr/>
        </p:nvSpPr>
        <p:spPr>
          <a:xfrm>
            <a:off x="1121343" y="327898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13"/>
              </a:rPr>
              <a:t>menafn.com</a:t>
            </a:r>
            <a:endParaRPr/>
          </a:p>
        </p:txBody>
      </p:sp>
      <p:sp>
        <p:nvSpPr>
          <p:cNvPr id="36" name="Shape">
            <a:extLst>
              <a:ext uri="{FF2B5EF4-FFF2-40B4-BE49-F238E27FC236}">
                <a16:creationId xmlns:a16="http://schemas.microsoft.com/office/drawing/2014/main" id="{515E2F43-AA53-2426-DE13-74A6152ECF70}"/>
              </a:ext>
            </a:extLst>
          </p:cNvPr>
          <p:cNvSpPr/>
          <p:nvPr/>
        </p:nvSpPr>
        <p:spPr>
          <a:xfrm>
            <a:off x="598880" y="351379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4"/>
              </a:rPr>
              <a:t>03/03/26 05:24</a:t>
            </a:r>
            <a:r>
              <a:t> | </a:t>
            </a:r>
            <a:r>
              <a:rPr lang="en" b="0" i="0"/>
              <a:t>Jordan</a:t>
            </a:r>
            <a:endParaRPr/>
          </a:p>
        </p:txBody>
      </p:sp>
      <p:sp>
        <p:nvSpPr>
          <p:cNvPr id="37" name="Shape">
            <a:extLst>
              <a:ext uri="{FF2B5EF4-FFF2-40B4-BE49-F238E27FC236}">
                <a16:creationId xmlns:a16="http://schemas.microsoft.com/office/drawing/2014/main" id="{C9E7FDE5-3C78-EC64-D67A-F455EA03DA74}"/>
              </a:ext>
            </a:extLst>
          </p:cNvPr>
          <p:cNvSpPr/>
          <p:nvPr/>
        </p:nvSpPr>
        <p:spPr>
          <a:xfrm>
            <a:off x="3912905" y="293890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4"/>
              </a:rPr>
              <a:t>New Benchmark For Emirati P...</a:t>
            </a:r>
            <a:endParaRPr/>
          </a:p>
        </p:txBody>
      </p:sp>
      <p:sp>
        <p:nvSpPr>
          <p:cNvPr id="38" name="Shape">
            <a:extLst>
              <a:ext uri="{FF2B5EF4-FFF2-40B4-BE49-F238E27FC236}">
                <a16:creationId xmlns:a16="http://schemas.microsoft.com/office/drawing/2014/main" id="{C13DB4A6-2484-55C1-EFDD-B3310CEF4AEC}"/>
              </a:ext>
            </a:extLst>
          </p:cNvPr>
          <p:cNvSpPr/>
          <p:nvPr/>
        </p:nvSpPr>
        <p:spPr>
          <a:xfrm>
            <a:off x="3933748" y="318431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...services into the heart of the community at Arabian Center, Al Arabi Trustees is directly addressing the need for... ” The Al Arabi Trustees Registration Office at Arabian Center is now operational, serving as a beacon of the UAE's...</a:t>
            </a:r>
            <a:endParaRPr/>
          </a:p>
        </p:txBody>
      </p:sp>
      <p:pic>
        <p:nvPicPr>
          <p:cNvPr id="39" name="Picture">
            <a:hlinkClick r:id="rId15"/>
            <a:extLst>
              <a:ext uri="{FF2B5EF4-FFF2-40B4-BE49-F238E27FC236}">
                <a16:creationId xmlns:a16="http://schemas.microsoft.com/office/drawing/2014/main" id="{E8B3A69F-8403-7824-99C8-F77B42B46BD2}"/>
              </a:ext>
            </a:extLst>
          </p:cNvPr>
          <p:cNvPicPr/>
          <p:nvPr/>
        </p:nvPicPr>
        <p:blipFill>
          <a:blip r:embed="rId6"/>
          <a:srcRect/>
          <a:stretch/>
        </p:blipFill>
        <p:spPr>
          <a:xfrm>
            <a:off x="7545065" y="2941484"/>
            <a:ext cx="781050" cy="781050"/>
          </a:xfrm>
          <a:prstGeom prst="rect">
            <a:avLst/>
          </a:prstGeom>
        </p:spPr>
      </p:pic>
      <p:sp>
        <p:nvSpPr>
          <p:cNvPr id="40" name="Shape">
            <a:extLst>
              <a:ext uri="{FF2B5EF4-FFF2-40B4-BE49-F238E27FC236}">
                <a16:creationId xmlns:a16="http://schemas.microsoft.com/office/drawing/2014/main" id="{76FA6B3E-1E9F-5C8F-E041-EA2C1FB7F21D}"/>
              </a:ext>
            </a:extLst>
          </p:cNvPr>
          <p:cNvSpPr/>
          <p:nvPr/>
        </p:nvSpPr>
        <p:spPr>
          <a:xfrm>
            <a:off x="8769307" y="315022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95F80FA4-75AD-0357-A40E-74AFB480613B}"/>
              </a:ext>
            </a:extLst>
          </p:cNvPr>
          <p:cNvSpPr/>
          <p:nvPr/>
        </p:nvSpPr>
        <p:spPr>
          <a:xfrm>
            <a:off x="8769307" y="315022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C7B7005A-4123-CD19-E210-733FE7F34877}"/>
              </a:ext>
            </a:extLst>
          </p:cNvPr>
          <p:cNvSpPr/>
          <p:nvPr/>
        </p:nvSpPr>
        <p:spPr>
          <a:xfrm>
            <a:off x="10047672" y="289270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B519095A-5FB5-3B71-48E5-DA80395387D4}"/>
              </a:ext>
            </a:extLst>
          </p:cNvPr>
          <p:cNvCxnSpPr/>
          <p:nvPr/>
        </p:nvCxnSpPr>
        <p:spPr>
          <a:xfrm>
            <a:off x="432137" y="3786464"/>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E81A63E7-2BF2-35F8-EE91-99B4FE19350A}"/>
              </a:ext>
            </a:extLst>
          </p:cNvPr>
          <p:cNvPicPr/>
          <p:nvPr/>
        </p:nvPicPr>
        <p:blipFill>
          <a:blip r:embed="rId7"/>
          <a:srcRect/>
          <a:stretch/>
        </p:blipFill>
        <p:spPr>
          <a:xfrm>
            <a:off x="546549" y="3870359"/>
            <a:ext cx="438150" cy="438150"/>
          </a:xfrm>
          <a:prstGeom prst="rect">
            <a:avLst/>
          </a:prstGeom>
        </p:spPr>
      </p:pic>
      <p:sp>
        <p:nvSpPr>
          <p:cNvPr id="45" name="Shape">
            <a:extLst>
              <a:ext uri="{FF2B5EF4-FFF2-40B4-BE49-F238E27FC236}">
                <a16:creationId xmlns:a16="http://schemas.microsoft.com/office/drawing/2014/main" id="{70270762-3203-2E3F-18BE-95D913BA0CC0}"/>
              </a:ext>
            </a:extLst>
          </p:cNvPr>
          <p:cNvSpPr/>
          <p:nvPr/>
        </p:nvSpPr>
        <p:spPr>
          <a:xfrm>
            <a:off x="1121343" y="390765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Tricia GajitosReporter</a:t>
            </a:r>
            <a:endParaRPr/>
          </a:p>
        </p:txBody>
      </p:sp>
      <p:sp>
        <p:nvSpPr>
          <p:cNvPr id="46" name="Shape">
            <a:extLst>
              <a:ext uri="{FF2B5EF4-FFF2-40B4-BE49-F238E27FC236}">
                <a16:creationId xmlns:a16="http://schemas.microsoft.com/office/drawing/2014/main" id="{8AFC6C2F-0FFE-5B2D-6F76-648C7CF86DDE}"/>
              </a:ext>
            </a:extLst>
          </p:cNvPr>
          <p:cNvSpPr/>
          <p:nvPr/>
        </p:nvSpPr>
        <p:spPr>
          <a:xfrm>
            <a:off x="1121343" y="418789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16"/>
              </a:rPr>
              <a:t>gulfnews.com</a:t>
            </a:r>
            <a:endParaRPr/>
          </a:p>
        </p:txBody>
      </p:sp>
      <p:sp>
        <p:nvSpPr>
          <p:cNvPr id="47" name="Shape">
            <a:extLst>
              <a:ext uri="{FF2B5EF4-FFF2-40B4-BE49-F238E27FC236}">
                <a16:creationId xmlns:a16="http://schemas.microsoft.com/office/drawing/2014/main" id="{69E7FD53-F399-12AE-1FCC-1B6A01D2DCAE}"/>
              </a:ext>
            </a:extLst>
          </p:cNvPr>
          <p:cNvSpPr/>
          <p:nvPr/>
        </p:nvSpPr>
        <p:spPr>
          <a:xfrm>
            <a:off x="598880" y="442270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7"/>
              </a:rPr>
              <a:t>03/03/26 17:24</a:t>
            </a:r>
            <a:r>
              <a:t> | </a:t>
            </a:r>
            <a:r>
              <a:rPr lang="en" b="0" i="0"/>
              <a:t>United Arab Emirates</a:t>
            </a:r>
            <a:endParaRPr/>
          </a:p>
        </p:txBody>
      </p:sp>
      <p:sp>
        <p:nvSpPr>
          <p:cNvPr id="48" name="Shape">
            <a:extLst>
              <a:ext uri="{FF2B5EF4-FFF2-40B4-BE49-F238E27FC236}">
                <a16:creationId xmlns:a16="http://schemas.microsoft.com/office/drawing/2014/main" id="{21DBF42B-F616-4EA4-2542-B37AE4DE7106}"/>
              </a:ext>
            </a:extLst>
          </p:cNvPr>
          <p:cNvSpPr/>
          <p:nvPr/>
        </p:nvSpPr>
        <p:spPr>
          <a:xfrm>
            <a:off x="3912905" y="384781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7"/>
              </a:rPr>
              <a:t>Give back this Ramadan: ‘Share...</a:t>
            </a:r>
            <a:endParaRPr/>
          </a:p>
        </p:txBody>
      </p:sp>
      <p:sp>
        <p:nvSpPr>
          <p:cNvPr id="49" name="Shape">
            <a:extLst>
              <a:ext uri="{FF2B5EF4-FFF2-40B4-BE49-F238E27FC236}">
                <a16:creationId xmlns:a16="http://schemas.microsoft.com/office/drawing/2014/main" id="{5C43C6D9-E35D-908A-5308-9F22A489E1A3}"/>
              </a:ext>
            </a:extLst>
          </p:cNvPr>
          <p:cNvSpPr/>
          <p:nvPr/>
        </p:nvSpPr>
        <p:spPr>
          <a:xfrm>
            <a:off x="3933748" y="409322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...outlets located in key malls across the country. Participating locations include Arabian Centre, Mercato Mall, Century Mall (Mamzar), Ibn Battuta Mall, Oasis Centre, Nad Al Sheba Mall, Abu Dhabi Mall, Dalma Mall, Al Falah Central M...</a:t>
            </a:r>
            <a:endParaRPr/>
          </a:p>
        </p:txBody>
      </p:sp>
      <p:pic>
        <p:nvPicPr>
          <p:cNvPr id="50" name="Picture">
            <a:hlinkClick r:id="rId18"/>
            <a:extLst>
              <a:ext uri="{FF2B5EF4-FFF2-40B4-BE49-F238E27FC236}">
                <a16:creationId xmlns:a16="http://schemas.microsoft.com/office/drawing/2014/main" id="{B74DA0ED-60DB-B01B-374C-B54F2B27678C}"/>
              </a:ext>
            </a:extLst>
          </p:cNvPr>
          <p:cNvPicPr/>
          <p:nvPr/>
        </p:nvPicPr>
        <p:blipFill>
          <a:blip r:embed="rId19"/>
          <a:srcRect/>
          <a:stretch/>
        </p:blipFill>
        <p:spPr>
          <a:xfrm>
            <a:off x="7521252" y="3850394"/>
            <a:ext cx="828675" cy="781050"/>
          </a:xfrm>
          <a:prstGeom prst="rect">
            <a:avLst/>
          </a:prstGeom>
        </p:spPr>
      </p:pic>
      <p:sp>
        <p:nvSpPr>
          <p:cNvPr id="51" name="Shape">
            <a:extLst>
              <a:ext uri="{FF2B5EF4-FFF2-40B4-BE49-F238E27FC236}">
                <a16:creationId xmlns:a16="http://schemas.microsoft.com/office/drawing/2014/main" id="{CB36174F-817A-2A38-FBAC-38C003EF0824}"/>
              </a:ext>
            </a:extLst>
          </p:cNvPr>
          <p:cNvSpPr/>
          <p:nvPr/>
        </p:nvSpPr>
        <p:spPr>
          <a:xfrm>
            <a:off x="8769307" y="405913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F8FBEE5A-245F-9356-6728-97574C37F2A0}"/>
              </a:ext>
            </a:extLst>
          </p:cNvPr>
          <p:cNvSpPr/>
          <p:nvPr/>
        </p:nvSpPr>
        <p:spPr>
          <a:xfrm>
            <a:off x="8769307" y="405913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532AFB0E-5173-2749-6B12-1AB160317563}"/>
              </a:ext>
            </a:extLst>
          </p:cNvPr>
          <p:cNvSpPr/>
          <p:nvPr/>
        </p:nvSpPr>
        <p:spPr>
          <a:xfrm>
            <a:off x="10047672" y="380161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B2EC40C9-A0DE-B13F-2FDE-90C9422A40FE}"/>
              </a:ext>
            </a:extLst>
          </p:cNvPr>
          <p:cNvCxnSpPr/>
          <p:nvPr/>
        </p:nvCxnSpPr>
        <p:spPr>
          <a:xfrm>
            <a:off x="432137" y="4695374"/>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E70C10CB-6B3A-B0D5-EA8A-83F8B815A10A}"/>
              </a:ext>
            </a:extLst>
          </p:cNvPr>
          <p:cNvPicPr/>
          <p:nvPr/>
        </p:nvPicPr>
        <p:blipFill>
          <a:blip r:embed="rId12"/>
          <a:srcRect/>
          <a:stretch/>
        </p:blipFill>
        <p:spPr>
          <a:xfrm>
            <a:off x="546549" y="4779269"/>
            <a:ext cx="438150" cy="438150"/>
          </a:xfrm>
          <a:prstGeom prst="rect">
            <a:avLst/>
          </a:prstGeom>
        </p:spPr>
      </p:pic>
      <p:sp>
        <p:nvSpPr>
          <p:cNvPr id="56" name="Shape">
            <a:extLst>
              <a:ext uri="{FF2B5EF4-FFF2-40B4-BE49-F238E27FC236}">
                <a16:creationId xmlns:a16="http://schemas.microsoft.com/office/drawing/2014/main" id="{2D10A99B-24BB-54D5-96C0-4B15584C6BA9}"/>
              </a:ext>
            </a:extLst>
          </p:cNvPr>
          <p:cNvSpPr/>
          <p:nvPr/>
        </p:nvSpPr>
        <p:spPr>
          <a:xfrm>
            <a:off x="1121343" y="481656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Akansha Roy</a:t>
            </a:r>
            <a:endParaRPr/>
          </a:p>
        </p:txBody>
      </p:sp>
      <p:sp>
        <p:nvSpPr>
          <p:cNvPr id="57" name="Shape">
            <a:extLst>
              <a:ext uri="{FF2B5EF4-FFF2-40B4-BE49-F238E27FC236}">
                <a16:creationId xmlns:a16="http://schemas.microsoft.com/office/drawing/2014/main" id="{3894A2A9-F42E-9F43-0136-F5E2CC55A4D8}"/>
              </a:ext>
            </a:extLst>
          </p:cNvPr>
          <p:cNvSpPr/>
          <p:nvPr/>
        </p:nvSpPr>
        <p:spPr>
          <a:xfrm>
            <a:off x="1121343" y="509680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20"/>
              </a:rPr>
              <a:t>thefinanceworld.com</a:t>
            </a:r>
            <a:endParaRPr/>
          </a:p>
        </p:txBody>
      </p:sp>
      <p:sp>
        <p:nvSpPr>
          <p:cNvPr id="58" name="Shape">
            <a:extLst>
              <a:ext uri="{FF2B5EF4-FFF2-40B4-BE49-F238E27FC236}">
                <a16:creationId xmlns:a16="http://schemas.microsoft.com/office/drawing/2014/main" id="{62B7D072-9FB1-B780-A256-CE9DE7296C02}"/>
              </a:ext>
            </a:extLst>
          </p:cNvPr>
          <p:cNvSpPr/>
          <p:nvPr/>
        </p:nvSpPr>
        <p:spPr>
          <a:xfrm>
            <a:off x="598880" y="533161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1"/>
              </a:rPr>
              <a:t>03/03/26 20:46</a:t>
            </a:r>
            <a:r>
              <a:t> | </a:t>
            </a:r>
            <a:r>
              <a:rPr lang="en" b="0" i="0"/>
              <a:t>United States</a:t>
            </a:r>
            <a:endParaRPr/>
          </a:p>
        </p:txBody>
      </p:sp>
      <p:sp>
        <p:nvSpPr>
          <p:cNvPr id="59" name="Shape">
            <a:extLst>
              <a:ext uri="{FF2B5EF4-FFF2-40B4-BE49-F238E27FC236}">
                <a16:creationId xmlns:a16="http://schemas.microsoft.com/office/drawing/2014/main" id="{A89BD590-1E27-21C4-3E0A-728FCDF5E2B8}"/>
              </a:ext>
            </a:extLst>
          </p:cNvPr>
          <p:cNvSpPr/>
          <p:nvPr/>
        </p:nvSpPr>
        <p:spPr>
          <a:xfrm>
            <a:off x="3912905" y="475672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21"/>
              </a:rPr>
              <a:t>Al Arabi Trustees Sets New ...</a:t>
            </a:r>
            <a:endParaRPr/>
          </a:p>
        </p:txBody>
      </p:sp>
      <p:sp>
        <p:nvSpPr>
          <p:cNvPr id="60" name="Shape">
            <a:extLst>
              <a:ext uri="{FF2B5EF4-FFF2-40B4-BE49-F238E27FC236}">
                <a16:creationId xmlns:a16="http://schemas.microsoft.com/office/drawing/2014/main" id="{724C4D82-F874-33C8-DDAF-25ADC9B0E5A7}"/>
              </a:ext>
            </a:extLst>
          </p:cNvPr>
          <p:cNvSpPr/>
          <p:nvPr/>
        </p:nvSpPr>
        <p:spPr>
          <a:xfrm>
            <a:off x="3933748" y="500213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...services into the heart of the community at Arabian Center, Al Arabi Trustees is directly addressing the need for... ” The Al Arabi Trustees Registration Office at Arabian Center is now operational, serving as a beacon of the UAE’s...</a:t>
            </a:r>
            <a:endParaRPr/>
          </a:p>
        </p:txBody>
      </p:sp>
      <p:pic>
        <p:nvPicPr>
          <p:cNvPr id="61" name="Picture">
            <a:hlinkClick r:id="rId22"/>
            <a:extLst>
              <a:ext uri="{FF2B5EF4-FFF2-40B4-BE49-F238E27FC236}">
                <a16:creationId xmlns:a16="http://schemas.microsoft.com/office/drawing/2014/main" id="{8C8C27C5-E05A-09A2-2AF5-336ADF84E88C}"/>
              </a:ext>
            </a:extLst>
          </p:cNvPr>
          <p:cNvPicPr/>
          <p:nvPr/>
        </p:nvPicPr>
        <p:blipFill>
          <a:blip r:embed="rId23"/>
          <a:srcRect/>
          <a:stretch/>
        </p:blipFill>
        <p:spPr>
          <a:xfrm>
            <a:off x="7311702" y="4759304"/>
            <a:ext cx="1247775" cy="781050"/>
          </a:xfrm>
          <a:prstGeom prst="rect">
            <a:avLst/>
          </a:prstGeom>
        </p:spPr>
      </p:pic>
      <p:sp>
        <p:nvSpPr>
          <p:cNvPr id="62" name="Shape">
            <a:extLst>
              <a:ext uri="{FF2B5EF4-FFF2-40B4-BE49-F238E27FC236}">
                <a16:creationId xmlns:a16="http://schemas.microsoft.com/office/drawing/2014/main" id="{4909AD40-061D-01EF-F9EC-8A98C59E728D}"/>
              </a:ext>
            </a:extLst>
          </p:cNvPr>
          <p:cNvSpPr/>
          <p:nvPr/>
        </p:nvSpPr>
        <p:spPr>
          <a:xfrm>
            <a:off x="8769307" y="496804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41E373C7-3F64-DCCB-B9AD-AD762955A37D}"/>
              </a:ext>
            </a:extLst>
          </p:cNvPr>
          <p:cNvSpPr/>
          <p:nvPr/>
        </p:nvSpPr>
        <p:spPr>
          <a:xfrm>
            <a:off x="8769307" y="496804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28" name="Shape">
            <a:extLst>
              <a:ext uri="{FF2B5EF4-FFF2-40B4-BE49-F238E27FC236}">
                <a16:creationId xmlns:a16="http://schemas.microsoft.com/office/drawing/2014/main" id="{710959D3-F8A8-C221-C748-E496A4BF2365}"/>
              </a:ext>
            </a:extLst>
          </p:cNvPr>
          <p:cNvSpPr/>
          <p:nvPr/>
        </p:nvSpPr>
        <p:spPr>
          <a:xfrm>
            <a:off x="10047672" y="471052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192" name="Line 200: (537882, 6316553) - (11654110, 6316553)">
            <a:extLst>
              <a:ext uri="{FF2B5EF4-FFF2-40B4-BE49-F238E27FC236}">
                <a16:creationId xmlns:a16="http://schemas.microsoft.com/office/drawing/2014/main" id="{9083CBC8-EC39-E415-F852-A41F6E3E7ACD}"/>
              </a:ext>
            </a:extLst>
          </p:cNvPr>
          <p:cNvCxnSpPr/>
          <p:nvPr/>
        </p:nvCxnSpPr>
        <p:spPr>
          <a:xfrm>
            <a:off x="432137" y="5604284"/>
            <a:ext cx="11116228" cy="0"/>
          </a:xfrm>
          <a:prstGeom prst="line">
            <a:avLst/>
          </a:prstGeom>
          <a:ln w="12700">
            <a:solidFill>
              <a:srgbClr val="C7C7C7"/>
            </a:solidFill>
          </a:ln>
        </p:spPr>
      </p:cxnSp>
    </p:spTree>
    <p:extLst>
      <p:ext uri="{BB962C8B-B14F-4D97-AF65-F5344CB8AC3E}">
        <p14:creationId xmlns:p14="http://schemas.microsoft.com/office/powerpoint/2010/main" val="2864091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95973-DD98-CE00-4F38-E993E5E6E42C}"/>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8ADB370C-FC74-BE02-8078-4B5127A78F11}"/>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D59AB55C-415A-4E3D-A145-84D3D1F54F9E}"/>
              </a:ext>
            </a:extLst>
          </p:cNvPr>
          <p:cNvCxnSpPr/>
          <p:nvPr/>
        </p:nvCxnSpPr>
        <p:spPr>
          <a:xfrm>
            <a:off x="432137" y="1050108"/>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21DC85F4-59F9-AC46-EB3E-1E5FCC554C53}"/>
              </a:ext>
            </a:extLst>
          </p:cNvPr>
          <p:cNvSpPr/>
          <p:nvPr/>
        </p:nvSpPr>
        <p:spPr>
          <a:xfrm>
            <a:off x="765623" y="834840"/>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6252FC9F-1787-28D2-E99F-1C8BC7DE93B9}"/>
              </a:ext>
            </a:extLst>
          </p:cNvPr>
          <p:cNvCxnSpPr/>
          <p:nvPr/>
        </p:nvCxnSpPr>
        <p:spPr>
          <a:xfrm>
            <a:off x="3767005" y="810922"/>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41EC34F4-2479-AF75-285D-5E7489AC4D2E}"/>
              </a:ext>
            </a:extLst>
          </p:cNvPr>
          <p:cNvSpPr/>
          <p:nvPr/>
        </p:nvSpPr>
        <p:spPr>
          <a:xfrm>
            <a:off x="4100491" y="834840"/>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EF77D1FE-265C-B041-6DC8-B78722B2D434}"/>
              </a:ext>
            </a:extLst>
          </p:cNvPr>
          <p:cNvCxnSpPr/>
          <p:nvPr/>
        </p:nvCxnSpPr>
        <p:spPr>
          <a:xfrm>
            <a:off x="8769307" y="810922"/>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8D4BA34D-17DE-D412-5D8D-CFEA52CEEF00}"/>
              </a:ext>
            </a:extLst>
          </p:cNvPr>
          <p:cNvSpPr/>
          <p:nvPr/>
        </p:nvSpPr>
        <p:spPr>
          <a:xfrm>
            <a:off x="8880469" y="834840"/>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20D53A32-435D-33E7-6304-9A56733CB1CA}"/>
              </a:ext>
            </a:extLst>
          </p:cNvPr>
          <p:cNvCxnSpPr/>
          <p:nvPr/>
        </p:nvCxnSpPr>
        <p:spPr>
          <a:xfrm>
            <a:off x="9880929" y="810922"/>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1D4EA1B8-1240-CB44-8622-D135B828E59F}"/>
              </a:ext>
            </a:extLst>
          </p:cNvPr>
          <p:cNvSpPr/>
          <p:nvPr/>
        </p:nvSpPr>
        <p:spPr>
          <a:xfrm>
            <a:off x="10047672" y="834840"/>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92B81C6B-4E34-F49B-C6D0-C7AFC27B15BB}"/>
              </a:ext>
            </a:extLst>
          </p:cNvPr>
          <p:cNvPicPr/>
          <p:nvPr/>
        </p:nvPicPr>
        <p:blipFill>
          <a:blip r:embed="rId2"/>
          <a:srcRect/>
          <a:stretch/>
        </p:blipFill>
        <p:spPr>
          <a:xfrm>
            <a:off x="546549" y="1134003"/>
            <a:ext cx="438150" cy="438150"/>
          </a:xfrm>
          <a:prstGeom prst="rect">
            <a:avLst/>
          </a:prstGeom>
        </p:spPr>
      </p:pic>
      <p:sp>
        <p:nvSpPr>
          <p:cNvPr id="12" name="Shape">
            <a:extLst>
              <a:ext uri="{FF2B5EF4-FFF2-40B4-BE49-F238E27FC236}">
                <a16:creationId xmlns:a16="http://schemas.microsoft.com/office/drawing/2014/main" id="{94CD2E78-B62A-617E-307A-CD4FC0A74138}"/>
              </a:ext>
            </a:extLst>
          </p:cNvPr>
          <p:cNvSpPr/>
          <p:nvPr/>
        </p:nvSpPr>
        <p:spPr>
          <a:xfrm>
            <a:off x="1121343" y="117129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gulftoday</a:t>
            </a:r>
            <a:endParaRPr/>
          </a:p>
        </p:txBody>
      </p:sp>
      <p:sp>
        <p:nvSpPr>
          <p:cNvPr id="13" name="Shape">
            <a:extLst>
              <a:ext uri="{FF2B5EF4-FFF2-40B4-BE49-F238E27FC236}">
                <a16:creationId xmlns:a16="http://schemas.microsoft.com/office/drawing/2014/main" id="{74C20420-7F37-CEBC-3150-77378C8B0A3A}"/>
              </a:ext>
            </a:extLst>
          </p:cNvPr>
          <p:cNvSpPr/>
          <p:nvPr/>
        </p:nvSpPr>
        <p:spPr>
          <a:xfrm>
            <a:off x="1121343" y="145154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Newspaper</a:t>
            </a:r>
            <a:r>
              <a:t> | </a:t>
            </a:r>
            <a:r>
              <a:rPr lang="en" b="0" i="0">
                <a:hlinkClick r:id="rId3"/>
              </a:rPr>
              <a:t>gulftoday.ae</a:t>
            </a:r>
            <a:endParaRPr/>
          </a:p>
        </p:txBody>
      </p:sp>
      <p:sp>
        <p:nvSpPr>
          <p:cNvPr id="14" name="Shape">
            <a:extLst>
              <a:ext uri="{FF2B5EF4-FFF2-40B4-BE49-F238E27FC236}">
                <a16:creationId xmlns:a16="http://schemas.microsoft.com/office/drawing/2014/main" id="{CE3306BE-D934-604F-218A-4986C4A99D79}"/>
              </a:ext>
            </a:extLst>
          </p:cNvPr>
          <p:cNvSpPr/>
          <p:nvPr/>
        </p:nvSpPr>
        <p:spPr>
          <a:xfrm>
            <a:off x="598880" y="168634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4"/>
              </a:rPr>
              <a:t>03/03/26 20:55</a:t>
            </a:r>
            <a:r>
              <a:t> | </a:t>
            </a:r>
            <a:r>
              <a:rPr lang="en" b="0" i="0"/>
              <a:t>United Arab Emirates</a:t>
            </a:r>
            <a:endParaRPr/>
          </a:p>
        </p:txBody>
      </p:sp>
      <p:sp>
        <p:nvSpPr>
          <p:cNvPr id="15" name="Shape">
            <a:extLst>
              <a:ext uri="{FF2B5EF4-FFF2-40B4-BE49-F238E27FC236}">
                <a16:creationId xmlns:a16="http://schemas.microsoft.com/office/drawing/2014/main" id="{1A6A5D4A-B47C-BD8C-4438-24E91CDB2D8C}"/>
              </a:ext>
            </a:extLst>
          </p:cNvPr>
          <p:cNvSpPr/>
          <p:nvPr/>
        </p:nvSpPr>
        <p:spPr>
          <a:xfrm>
            <a:off x="3912905" y="111145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4"/>
              </a:rPr>
              <a:t>Al Arabi Trustees sets new b...</a:t>
            </a:r>
            <a:endParaRPr/>
          </a:p>
        </p:txBody>
      </p:sp>
      <p:sp>
        <p:nvSpPr>
          <p:cNvPr id="16" name="Shape">
            <a:extLst>
              <a:ext uri="{FF2B5EF4-FFF2-40B4-BE49-F238E27FC236}">
                <a16:creationId xmlns:a16="http://schemas.microsoft.com/office/drawing/2014/main" id="{75E3FAE6-2504-FAF2-D7CC-CCA846F1F1F8}"/>
              </a:ext>
            </a:extLst>
          </p:cNvPr>
          <p:cNvSpPr/>
          <p:nvPr/>
        </p:nvSpPr>
        <p:spPr>
          <a:xfrm>
            <a:off x="3933748" y="135686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...services into the heart of the community at Arabian Center, Al Arabi Trustees is directly addressing the need for... ” The Al Arabi Trustees Registration Office at Arabian Center is now operational, serving as a beacon of the UAE’s...</a:t>
            </a:r>
            <a:endParaRPr/>
          </a:p>
        </p:txBody>
      </p:sp>
      <p:pic>
        <p:nvPicPr>
          <p:cNvPr id="17" name="Picture">
            <a:hlinkClick r:id="rId5"/>
            <a:extLst>
              <a:ext uri="{FF2B5EF4-FFF2-40B4-BE49-F238E27FC236}">
                <a16:creationId xmlns:a16="http://schemas.microsoft.com/office/drawing/2014/main" id="{ED0D75BB-08DE-0657-1010-E2F2FFCF9B9F}"/>
              </a:ext>
            </a:extLst>
          </p:cNvPr>
          <p:cNvPicPr/>
          <p:nvPr/>
        </p:nvPicPr>
        <p:blipFill>
          <a:blip r:embed="rId6"/>
          <a:srcRect/>
          <a:stretch/>
        </p:blipFill>
        <p:spPr>
          <a:xfrm>
            <a:off x="7545065" y="1114038"/>
            <a:ext cx="781050" cy="781050"/>
          </a:xfrm>
          <a:prstGeom prst="rect">
            <a:avLst/>
          </a:prstGeom>
        </p:spPr>
      </p:pic>
      <p:sp>
        <p:nvSpPr>
          <p:cNvPr id="18" name="Shape">
            <a:extLst>
              <a:ext uri="{FF2B5EF4-FFF2-40B4-BE49-F238E27FC236}">
                <a16:creationId xmlns:a16="http://schemas.microsoft.com/office/drawing/2014/main" id="{EC2054EF-F62F-114F-6221-AC19DE581C6F}"/>
              </a:ext>
            </a:extLst>
          </p:cNvPr>
          <p:cNvSpPr/>
          <p:nvPr/>
        </p:nvSpPr>
        <p:spPr>
          <a:xfrm>
            <a:off x="8769307" y="132278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70459009-F174-121A-6237-4E31CA812358}"/>
              </a:ext>
            </a:extLst>
          </p:cNvPr>
          <p:cNvSpPr/>
          <p:nvPr/>
        </p:nvSpPr>
        <p:spPr>
          <a:xfrm>
            <a:off x="8769307" y="132278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4C322DCE-CF0D-8F90-0479-1E4978DF27B3}"/>
              </a:ext>
            </a:extLst>
          </p:cNvPr>
          <p:cNvSpPr/>
          <p:nvPr/>
        </p:nvSpPr>
        <p:spPr>
          <a:xfrm>
            <a:off x="10047672" y="106525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E4AA07DB-60E9-6D42-1721-10B710D2DC14}"/>
              </a:ext>
            </a:extLst>
          </p:cNvPr>
          <p:cNvCxnSpPr/>
          <p:nvPr/>
        </p:nvCxnSpPr>
        <p:spPr>
          <a:xfrm>
            <a:off x="432137" y="1959018"/>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D96BDFBF-B191-BAF7-5865-6FDE0B520777}"/>
              </a:ext>
            </a:extLst>
          </p:cNvPr>
          <p:cNvPicPr/>
          <p:nvPr/>
        </p:nvPicPr>
        <p:blipFill>
          <a:blip r:embed="rId7"/>
          <a:srcRect/>
          <a:stretch/>
        </p:blipFill>
        <p:spPr>
          <a:xfrm>
            <a:off x="546549" y="2042913"/>
            <a:ext cx="438150" cy="438150"/>
          </a:xfrm>
          <a:prstGeom prst="rect">
            <a:avLst/>
          </a:prstGeom>
        </p:spPr>
      </p:pic>
      <p:sp>
        <p:nvSpPr>
          <p:cNvPr id="23" name="Shape">
            <a:extLst>
              <a:ext uri="{FF2B5EF4-FFF2-40B4-BE49-F238E27FC236}">
                <a16:creationId xmlns:a16="http://schemas.microsoft.com/office/drawing/2014/main" id="{41B0F9CB-5587-31AD-7B85-F6289070F24B}"/>
              </a:ext>
            </a:extLst>
          </p:cNvPr>
          <p:cNvSpPr/>
          <p:nvPr/>
        </p:nvSpPr>
        <p:spPr>
          <a:xfrm>
            <a:off x="1121343" y="208020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البيان</a:t>
            </a:r>
            <a:endParaRPr/>
          </a:p>
        </p:txBody>
      </p:sp>
      <p:sp>
        <p:nvSpPr>
          <p:cNvPr id="24" name="Shape">
            <a:extLst>
              <a:ext uri="{FF2B5EF4-FFF2-40B4-BE49-F238E27FC236}">
                <a16:creationId xmlns:a16="http://schemas.microsoft.com/office/drawing/2014/main" id="{DA8DC2A5-1DCE-0DC0-ACBE-6B6DC9888CCC}"/>
              </a:ext>
            </a:extLst>
          </p:cNvPr>
          <p:cNvSpPr/>
          <p:nvPr/>
        </p:nvSpPr>
        <p:spPr>
          <a:xfrm>
            <a:off x="1121343" y="236045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8"/>
              </a:rPr>
              <a:t>albayan.ae</a:t>
            </a:r>
            <a:endParaRPr/>
          </a:p>
        </p:txBody>
      </p:sp>
      <p:sp>
        <p:nvSpPr>
          <p:cNvPr id="25" name="Shape">
            <a:extLst>
              <a:ext uri="{FF2B5EF4-FFF2-40B4-BE49-F238E27FC236}">
                <a16:creationId xmlns:a16="http://schemas.microsoft.com/office/drawing/2014/main" id="{42AA249E-0FC0-6933-D542-1AE46EA0A178}"/>
              </a:ext>
            </a:extLst>
          </p:cNvPr>
          <p:cNvSpPr/>
          <p:nvPr/>
        </p:nvSpPr>
        <p:spPr>
          <a:xfrm>
            <a:off x="598880" y="259525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9"/>
              </a:rPr>
              <a:t>04/03/26 14:18</a:t>
            </a:r>
            <a:r>
              <a:t> | </a:t>
            </a:r>
            <a:r>
              <a:rPr lang="ar" b="0" i="0"/>
              <a:t>United Arab Emirates</a:t>
            </a:r>
            <a:endParaRPr/>
          </a:p>
        </p:txBody>
      </p:sp>
      <p:sp>
        <p:nvSpPr>
          <p:cNvPr id="26" name="Shape">
            <a:extLst>
              <a:ext uri="{FF2B5EF4-FFF2-40B4-BE49-F238E27FC236}">
                <a16:creationId xmlns:a16="http://schemas.microsoft.com/office/drawing/2014/main" id="{42FC7F02-DF88-B19A-6F3D-CEF2718A6148}"/>
              </a:ext>
            </a:extLst>
          </p:cNvPr>
          <p:cNvSpPr/>
          <p:nvPr/>
        </p:nvSpPr>
        <p:spPr>
          <a:xfrm>
            <a:off x="3912905" y="2020369"/>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9"/>
              </a:rPr>
              <a:t>إطلاق مبادرة لتعزيز اللامركزية وت...</a:t>
            </a:r>
            <a:endParaRPr/>
          </a:p>
        </p:txBody>
      </p:sp>
      <p:sp>
        <p:nvSpPr>
          <p:cNvPr id="27" name="Shape">
            <a:extLst>
              <a:ext uri="{FF2B5EF4-FFF2-40B4-BE49-F238E27FC236}">
                <a16:creationId xmlns:a16="http://schemas.microsoft.com/office/drawing/2014/main" id="{4B564E54-95A7-756B-159D-FA1BB7BA819E}"/>
              </a:ext>
            </a:extLst>
          </p:cNvPr>
          <p:cNvSpPr/>
          <p:nvPr/>
        </p:nvSpPr>
        <p:spPr>
          <a:xfrm>
            <a:off x="3933748" y="226577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...تطوير منظومة الخدمات العقارية. ويقدم المكتب خدمات التسجيل المتخصصة في موقعه داخل Arabian Center، بما يتيح للمستثمرين والملاك المواطنين الوصول إلى خدمات عالية الكفاءة ضمن بيئة مؤسسية متطورة. ويمثل فرع الخوانيج منصة مخصصة لدعم الوسطاء العقاريين...</a:t>
            </a:r>
            <a:endParaRPr/>
          </a:p>
        </p:txBody>
      </p:sp>
      <p:pic>
        <p:nvPicPr>
          <p:cNvPr id="28" name="Picture">
            <a:hlinkClick r:id="rId10"/>
            <a:extLst>
              <a:ext uri="{FF2B5EF4-FFF2-40B4-BE49-F238E27FC236}">
                <a16:creationId xmlns:a16="http://schemas.microsoft.com/office/drawing/2014/main" id="{C14AC09C-2FCF-7218-9E39-FF78F18C0FCC}"/>
              </a:ext>
            </a:extLst>
          </p:cNvPr>
          <p:cNvPicPr/>
          <p:nvPr/>
        </p:nvPicPr>
        <p:blipFill>
          <a:blip r:embed="rId11"/>
          <a:srcRect/>
          <a:stretch/>
        </p:blipFill>
        <p:spPr>
          <a:xfrm>
            <a:off x="7368852" y="2022948"/>
            <a:ext cx="1133475" cy="781050"/>
          </a:xfrm>
          <a:prstGeom prst="rect">
            <a:avLst/>
          </a:prstGeom>
        </p:spPr>
      </p:pic>
      <p:sp>
        <p:nvSpPr>
          <p:cNvPr id="29" name="Shape">
            <a:extLst>
              <a:ext uri="{FF2B5EF4-FFF2-40B4-BE49-F238E27FC236}">
                <a16:creationId xmlns:a16="http://schemas.microsoft.com/office/drawing/2014/main" id="{001A7E30-5791-6A6C-A6E6-2D114EDE448F}"/>
              </a:ext>
            </a:extLst>
          </p:cNvPr>
          <p:cNvSpPr/>
          <p:nvPr/>
        </p:nvSpPr>
        <p:spPr>
          <a:xfrm>
            <a:off x="8769307" y="223169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0614100C-3CFB-C319-22BD-E0A5916786D9}"/>
              </a:ext>
            </a:extLst>
          </p:cNvPr>
          <p:cNvSpPr/>
          <p:nvPr/>
        </p:nvSpPr>
        <p:spPr>
          <a:xfrm>
            <a:off x="8769307" y="223169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5EC7160C-6D23-1E13-FFBA-8F2D7133F5D3}"/>
              </a:ext>
            </a:extLst>
          </p:cNvPr>
          <p:cNvSpPr/>
          <p:nvPr/>
        </p:nvSpPr>
        <p:spPr>
          <a:xfrm>
            <a:off x="10047672" y="197416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529BE183-B45E-CA76-8BB8-B8D3680B2B7D}"/>
              </a:ext>
            </a:extLst>
          </p:cNvPr>
          <p:cNvCxnSpPr/>
          <p:nvPr/>
        </p:nvCxnSpPr>
        <p:spPr>
          <a:xfrm>
            <a:off x="432137" y="2867928"/>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C7F2762B-18E7-9A8B-1DC2-D54CED869A3F}"/>
              </a:ext>
            </a:extLst>
          </p:cNvPr>
          <p:cNvPicPr/>
          <p:nvPr/>
        </p:nvPicPr>
        <p:blipFill>
          <a:blip r:embed="rId12"/>
          <a:srcRect/>
          <a:stretch/>
        </p:blipFill>
        <p:spPr>
          <a:xfrm>
            <a:off x="546549" y="2951823"/>
            <a:ext cx="438150" cy="438150"/>
          </a:xfrm>
          <a:prstGeom prst="rect">
            <a:avLst/>
          </a:prstGeom>
        </p:spPr>
      </p:pic>
      <p:sp>
        <p:nvSpPr>
          <p:cNvPr id="34" name="Shape">
            <a:extLst>
              <a:ext uri="{FF2B5EF4-FFF2-40B4-BE49-F238E27FC236}">
                <a16:creationId xmlns:a16="http://schemas.microsoft.com/office/drawing/2014/main" id="{1693E6A3-8A42-BCA6-2EB6-9401F59C02CD}"/>
              </a:ext>
            </a:extLst>
          </p:cNvPr>
          <p:cNvSpPr/>
          <p:nvPr/>
        </p:nvSpPr>
        <p:spPr>
          <a:xfrm>
            <a:off x="1121343" y="298911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arab daily</a:t>
            </a:r>
            <a:endParaRPr/>
          </a:p>
        </p:txBody>
      </p:sp>
      <p:sp>
        <p:nvSpPr>
          <p:cNvPr id="35" name="Shape">
            <a:extLst>
              <a:ext uri="{FF2B5EF4-FFF2-40B4-BE49-F238E27FC236}">
                <a16:creationId xmlns:a16="http://schemas.microsoft.com/office/drawing/2014/main" id="{6F6971AF-7AD9-159D-94AE-5FA32ABB6947}"/>
              </a:ext>
            </a:extLst>
          </p:cNvPr>
          <p:cNvSpPr/>
          <p:nvPr/>
        </p:nvSpPr>
        <p:spPr>
          <a:xfrm>
            <a:off x="1121343" y="326936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3"/>
              </a:rPr>
              <a:t>arabdaily.net</a:t>
            </a:r>
            <a:endParaRPr/>
          </a:p>
        </p:txBody>
      </p:sp>
      <p:sp>
        <p:nvSpPr>
          <p:cNvPr id="36" name="Shape">
            <a:extLst>
              <a:ext uri="{FF2B5EF4-FFF2-40B4-BE49-F238E27FC236}">
                <a16:creationId xmlns:a16="http://schemas.microsoft.com/office/drawing/2014/main" id="{57F61FDE-902B-6A4A-F38F-40A1993A2943}"/>
              </a:ext>
            </a:extLst>
          </p:cNvPr>
          <p:cNvSpPr/>
          <p:nvPr/>
        </p:nvSpPr>
        <p:spPr>
          <a:xfrm>
            <a:off x="598880" y="350416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4"/>
              </a:rPr>
              <a:t>04/03/26 16:29</a:t>
            </a:r>
            <a:r>
              <a:t> | </a:t>
            </a:r>
            <a:r>
              <a:rPr lang="en" b="0" i="0"/>
              <a:t>United States</a:t>
            </a:r>
            <a:endParaRPr/>
          </a:p>
        </p:txBody>
      </p:sp>
      <p:sp>
        <p:nvSpPr>
          <p:cNvPr id="37" name="Shape">
            <a:extLst>
              <a:ext uri="{FF2B5EF4-FFF2-40B4-BE49-F238E27FC236}">
                <a16:creationId xmlns:a16="http://schemas.microsoft.com/office/drawing/2014/main" id="{2C5D3E31-E029-00D1-139F-8F36D81684D1}"/>
              </a:ext>
            </a:extLst>
          </p:cNvPr>
          <p:cNvSpPr/>
          <p:nvPr/>
        </p:nvSpPr>
        <p:spPr>
          <a:xfrm>
            <a:off x="3912905" y="292927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4"/>
              </a:rPr>
              <a:t>Al Arabi Trustees Sets New ...</a:t>
            </a:r>
            <a:endParaRPr/>
          </a:p>
        </p:txBody>
      </p:sp>
      <p:sp>
        <p:nvSpPr>
          <p:cNvPr id="38" name="Shape">
            <a:extLst>
              <a:ext uri="{FF2B5EF4-FFF2-40B4-BE49-F238E27FC236}">
                <a16:creationId xmlns:a16="http://schemas.microsoft.com/office/drawing/2014/main" id="{D91A341C-057E-A41D-3105-B584DF013C60}"/>
              </a:ext>
            </a:extLst>
          </p:cNvPr>
          <p:cNvSpPr/>
          <p:nvPr/>
        </p:nvSpPr>
        <p:spPr>
          <a:xfrm>
            <a:off x="3933748" y="317468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...services into the heart of the community at Arabian Center, Al Arabi Trustees is directly addressing the need for... ” The Al Arabi Trustees Registration Office at Arabian Center is now operational, serving as a beacon of the UAE’s...</a:t>
            </a:r>
            <a:endParaRPr/>
          </a:p>
        </p:txBody>
      </p:sp>
      <p:pic>
        <p:nvPicPr>
          <p:cNvPr id="39" name="Picture">
            <a:hlinkClick r:id="rId15"/>
            <a:extLst>
              <a:ext uri="{FF2B5EF4-FFF2-40B4-BE49-F238E27FC236}">
                <a16:creationId xmlns:a16="http://schemas.microsoft.com/office/drawing/2014/main" id="{C6600F5D-14CE-0D6D-54CE-64E9C1CD523B}"/>
              </a:ext>
            </a:extLst>
          </p:cNvPr>
          <p:cNvPicPr/>
          <p:nvPr/>
        </p:nvPicPr>
        <p:blipFill>
          <a:blip r:embed="rId16"/>
          <a:srcRect/>
          <a:stretch/>
        </p:blipFill>
        <p:spPr>
          <a:xfrm>
            <a:off x="7368852" y="2931858"/>
            <a:ext cx="1133475" cy="781050"/>
          </a:xfrm>
          <a:prstGeom prst="rect">
            <a:avLst/>
          </a:prstGeom>
        </p:spPr>
      </p:pic>
      <p:sp>
        <p:nvSpPr>
          <p:cNvPr id="40" name="Shape">
            <a:extLst>
              <a:ext uri="{FF2B5EF4-FFF2-40B4-BE49-F238E27FC236}">
                <a16:creationId xmlns:a16="http://schemas.microsoft.com/office/drawing/2014/main" id="{CD61E549-6768-8714-C8C7-95E1DA730913}"/>
              </a:ext>
            </a:extLst>
          </p:cNvPr>
          <p:cNvSpPr/>
          <p:nvPr/>
        </p:nvSpPr>
        <p:spPr>
          <a:xfrm>
            <a:off x="8769307" y="314060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31D62CB1-708B-4D29-D0F8-A348C8E2B23D}"/>
              </a:ext>
            </a:extLst>
          </p:cNvPr>
          <p:cNvSpPr/>
          <p:nvPr/>
        </p:nvSpPr>
        <p:spPr>
          <a:xfrm>
            <a:off x="8769307" y="314060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07E7A7ED-2D47-6A01-ADAA-AE19906A3283}"/>
              </a:ext>
            </a:extLst>
          </p:cNvPr>
          <p:cNvSpPr/>
          <p:nvPr/>
        </p:nvSpPr>
        <p:spPr>
          <a:xfrm>
            <a:off x="10047672" y="288307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73B70EDC-9CB6-76D2-932A-29AE90065763}"/>
              </a:ext>
            </a:extLst>
          </p:cNvPr>
          <p:cNvCxnSpPr/>
          <p:nvPr/>
        </p:nvCxnSpPr>
        <p:spPr>
          <a:xfrm>
            <a:off x="432137" y="3776838"/>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B74B3E62-7995-582D-2B63-AFE24D292B0C}"/>
              </a:ext>
            </a:extLst>
          </p:cNvPr>
          <p:cNvPicPr/>
          <p:nvPr/>
        </p:nvPicPr>
        <p:blipFill>
          <a:blip r:embed="rId7"/>
          <a:srcRect/>
          <a:stretch/>
        </p:blipFill>
        <p:spPr>
          <a:xfrm>
            <a:off x="546549" y="3860733"/>
            <a:ext cx="438150" cy="438150"/>
          </a:xfrm>
          <a:prstGeom prst="rect">
            <a:avLst/>
          </a:prstGeom>
        </p:spPr>
      </p:pic>
      <p:sp>
        <p:nvSpPr>
          <p:cNvPr id="45" name="Shape">
            <a:extLst>
              <a:ext uri="{FF2B5EF4-FFF2-40B4-BE49-F238E27FC236}">
                <a16:creationId xmlns:a16="http://schemas.microsoft.com/office/drawing/2014/main" id="{5A14FD7C-A9BD-AB61-AB15-6129DD33179E}"/>
              </a:ext>
            </a:extLst>
          </p:cNvPr>
          <p:cNvSpPr/>
          <p:nvPr/>
        </p:nvSpPr>
        <p:spPr>
          <a:xfrm>
            <a:off x="1121343" y="389802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news editor</a:t>
            </a:r>
            <a:endParaRPr/>
          </a:p>
        </p:txBody>
      </p:sp>
      <p:sp>
        <p:nvSpPr>
          <p:cNvPr id="46" name="Shape">
            <a:extLst>
              <a:ext uri="{FF2B5EF4-FFF2-40B4-BE49-F238E27FC236}">
                <a16:creationId xmlns:a16="http://schemas.microsoft.com/office/drawing/2014/main" id="{88C79C8E-D920-569E-80BD-3B2BC8E8C48B}"/>
              </a:ext>
            </a:extLst>
          </p:cNvPr>
          <p:cNvSpPr/>
          <p:nvPr/>
        </p:nvSpPr>
        <p:spPr>
          <a:xfrm>
            <a:off x="1121343" y="417827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17"/>
              </a:rPr>
              <a:t>menews247.com</a:t>
            </a:r>
            <a:endParaRPr/>
          </a:p>
        </p:txBody>
      </p:sp>
      <p:sp>
        <p:nvSpPr>
          <p:cNvPr id="47" name="Shape">
            <a:extLst>
              <a:ext uri="{FF2B5EF4-FFF2-40B4-BE49-F238E27FC236}">
                <a16:creationId xmlns:a16="http://schemas.microsoft.com/office/drawing/2014/main" id="{2DE8E4CD-B28E-9714-AA12-7A01FD0CADDE}"/>
              </a:ext>
            </a:extLst>
          </p:cNvPr>
          <p:cNvSpPr/>
          <p:nvPr/>
        </p:nvSpPr>
        <p:spPr>
          <a:xfrm>
            <a:off x="598880" y="441307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8"/>
              </a:rPr>
              <a:t>04/03/26 16:36</a:t>
            </a:r>
            <a:r>
              <a:t> | </a:t>
            </a:r>
            <a:r>
              <a:rPr lang="en" b="0" i="0"/>
              <a:t>United Arab Emirates</a:t>
            </a:r>
            <a:endParaRPr/>
          </a:p>
        </p:txBody>
      </p:sp>
      <p:sp>
        <p:nvSpPr>
          <p:cNvPr id="48" name="Shape">
            <a:extLst>
              <a:ext uri="{FF2B5EF4-FFF2-40B4-BE49-F238E27FC236}">
                <a16:creationId xmlns:a16="http://schemas.microsoft.com/office/drawing/2014/main" id="{127DB7D6-DA01-0F7A-3EC3-0FF83568ABFC}"/>
              </a:ext>
            </a:extLst>
          </p:cNvPr>
          <p:cNvSpPr/>
          <p:nvPr/>
        </p:nvSpPr>
        <p:spPr>
          <a:xfrm>
            <a:off x="3912905" y="383818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8"/>
              </a:rPr>
              <a:t>Al Arabi Trustees Sets New ...</a:t>
            </a:r>
            <a:endParaRPr/>
          </a:p>
        </p:txBody>
      </p:sp>
      <p:sp>
        <p:nvSpPr>
          <p:cNvPr id="49" name="Shape">
            <a:extLst>
              <a:ext uri="{FF2B5EF4-FFF2-40B4-BE49-F238E27FC236}">
                <a16:creationId xmlns:a16="http://schemas.microsoft.com/office/drawing/2014/main" id="{404A6AA8-0818-91CD-A5E6-43C07C2F6E5A}"/>
              </a:ext>
            </a:extLst>
          </p:cNvPr>
          <p:cNvSpPr/>
          <p:nvPr/>
        </p:nvSpPr>
        <p:spPr>
          <a:xfrm>
            <a:off x="3933748" y="408359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...services into the heart of the community at Arabian Center, Al Arabi Trustees is directly addressing the need for... ” The Al Arabi Trustees Registration Office at Arabian Center is now operational, serving as a beacon of the UAE’s...</a:t>
            </a:r>
            <a:endParaRPr/>
          </a:p>
        </p:txBody>
      </p:sp>
      <p:pic>
        <p:nvPicPr>
          <p:cNvPr id="50" name="Picture">
            <a:hlinkClick r:id="rId19"/>
            <a:extLst>
              <a:ext uri="{FF2B5EF4-FFF2-40B4-BE49-F238E27FC236}">
                <a16:creationId xmlns:a16="http://schemas.microsoft.com/office/drawing/2014/main" id="{59149B4D-5615-6A87-4628-90659909C903}"/>
              </a:ext>
            </a:extLst>
          </p:cNvPr>
          <p:cNvPicPr/>
          <p:nvPr/>
        </p:nvPicPr>
        <p:blipFill>
          <a:blip r:embed="rId20"/>
          <a:srcRect/>
          <a:stretch/>
        </p:blipFill>
        <p:spPr>
          <a:xfrm>
            <a:off x="7316465" y="3840768"/>
            <a:ext cx="1238250" cy="781050"/>
          </a:xfrm>
          <a:prstGeom prst="rect">
            <a:avLst/>
          </a:prstGeom>
        </p:spPr>
      </p:pic>
      <p:sp>
        <p:nvSpPr>
          <p:cNvPr id="51" name="Shape">
            <a:extLst>
              <a:ext uri="{FF2B5EF4-FFF2-40B4-BE49-F238E27FC236}">
                <a16:creationId xmlns:a16="http://schemas.microsoft.com/office/drawing/2014/main" id="{D265C46F-DDF5-ACE3-FA5B-BAD049DC483D}"/>
              </a:ext>
            </a:extLst>
          </p:cNvPr>
          <p:cNvSpPr/>
          <p:nvPr/>
        </p:nvSpPr>
        <p:spPr>
          <a:xfrm>
            <a:off x="8769307" y="404951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8F2F256B-8BEF-DB76-B9EC-B18104777E8D}"/>
              </a:ext>
            </a:extLst>
          </p:cNvPr>
          <p:cNvSpPr/>
          <p:nvPr/>
        </p:nvSpPr>
        <p:spPr>
          <a:xfrm>
            <a:off x="8769307" y="404951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93674DB8-8F5D-AE4E-B087-E58F8E8D4FA9}"/>
              </a:ext>
            </a:extLst>
          </p:cNvPr>
          <p:cNvSpPr/>
          <p:nvPr/>
        </p:nvSpPr>
        <p:spPr>
          <a:xfrm>
            <a:off x="10047672" y="379198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6DCA5813-E5F7-9342-F79B-A001DEF7E436}"/>
              </a:ext>
            </a:extLst>
          </p:cNvPr>
          <p:cNvCxnSpPr/>
          <p:nvPr/>
        </p:nvCxnSpPr>
        <p:spPr>
          <a:xfrm>
            <a:off x="432137" y="4685748"/>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D04B9FD3-3307-6EFC-DD98-6C0B446B41BE}"/>
              </a:ext>
            </a:extLst>
          </p:cNvPr>
          <p:cNvPicPr/>
          <p:nvPr/>
        </p:nvPicPr>
        <p:blipFill>
          <a:blip r:embed="rId12"/>
          <a:srcRect/>
          <a:stretch/>
        </p:blipFill>
        <p:spPr>
          <a:xfrm>
            <a:off x="546549" y="4769643"/>
            <a:ext cx="438150" cy="438150"/>
          </a:xfrm>
          <a:prstGeom prst="rect">
            <a:avLst/>
          </a:prstGeom>
        </p:spPr>
      </p:pic>
      <p:sp>
        <p:nvSpPr>
          <p:cNvPr id="56" name="Shape">
            <a:extLst>
              <a:ext uri="{FF2B5EF4-FFF2-40B4-BE49-F238E27FC236}">
                <a16:creationId xmlns:a16="http://schemas.microsoft.com/office/drawing/2014/main" id="{9A18A73A-4C1E-3D7C-8E89-06F60F54E6B0}"/>
              </a:ext>
            </a:extLst>
          </p:cNvPr>
          <p:cNvSpPr/>
          <p:nvPr/>
        </p:nvSpPr>
        <p:spPr>
          <a:xfrm>
            <a:off x="1121343" y="480693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mariam alnekady</a:t>
            </a:r>
            <a:endParaRPr/>
          </a:p>
        </p:txBody>
      </p:sp>
      <p:sp>
        <p:nvSpPr>
          <p:cNvPr id="57" name="Shape">
            <a:extLst>
              <a:ext uri="{FF2B5EF4-FFF2-40B4-BE49-F238E27FC236}">
                <a16:creationId xmlns:a16="http://schemas.microsoft.com/office/drawing/2014/main" id="{E61115DF-4173-B18B-CBED-8FBE453183D7}"/>
              </a:ext>
            </a:extLst>
          </p:cNvPr>
          <p:cNvSpPr/>
          <p:nvPr/>
        </p:nvSpPr>
        <p:spPr>
          <a:xfrm>
            <a:off x="1121343" y="508718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21"/>
              </a:rPr>
              <a:t>merimedia.net</a:t>
            </a:r>
            <a:endParaRPr/>
          </a:p>
        </p:txBody>
      </p:sp>
      <p:sp>
        <p:nvSpPr>
          <p:cNvPr id="58" name="Shape">
            <a:extLst>
              <a:ext uri="{FF2B5EF4-FFF2-40B4-BE49-F238E27FC236}">
                <a16:creationId xmlns:a16="http://schemas.microsoft.com/office/drawing/2014/main" id="{92EB3402-391F-950F-8E90-77E8191DE015}"/>
              </a:ext>
            </a:extLst>
          </p:cNvPr>
          <p:cNvSpPr/>
          <p:nvPr/>
        </p:nvSpPr>
        <p:spPr>
          <a:xfrm>
            <a:off x="598880" y="532198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2"/>
              </a:rPr>
              <a:t>04/03/26 20:20</a:t>
            </a:r>
            <a:r>
              <a:t> | </a:t>
            </a:r>
            <a:r>
              <a:rPr lang="en" b="0" i="0"/>
              <a:t>Saudi Arabia</a:t>
            </a:r>
            <a:endParaRPr/>
          </a:p>
        </p:txBody>
      </p:sp>
      <p:sp>
        <p:nvSpPr>
          <p:cNvPr id="59" name="Shape">
            <a:extLst>
              <a:ext uri="{FF2B5EF4-FFF2-40B4-BE49-F238E27FC236}">
                <a16:creationId xmlns:a16="http://schemas.microsoft.com/office/drawing/2014/main" id="{BAED7CF7-ECDE-5573-67E5-B4485B775E11}"/>
              </a:ext>
            </a:extLst>
          </p:cNvPr>
          <p:cNvSpPr/>
          <p:nvPr/>
        </p:nvSpPr>
        <p:spPr>
          <a:xfrm>
            <a:off x="3912905" y="474709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22"/>
              </a:rPr>
              <a:t>Share the Joy, Give a Toy’ ret...</a:t>
            </a:r>
            <a:endParaRPr/>
          </a:p>
        </p:txBody>
      </p:sp>
      <p:sp>
        <p:nvSpPr>
          <p:cNvPr id="60" name="Shape">
            <a:extLst>
              <a:ext uri="{FF2B5EF4-FFF2-40B4-BE49-F238E27FC236}">
                <a16:creationId xmlns:a16="http://schemas.microsoft.com/office/drawing/2014/main" id="{FC488F9F-40A4-8157-D996-92F753BD6B9A}"/>
              </a:ext>
            </a:extLst>
          </p:cNvPr>
          <p:cNvSpPr/>
          <p:nvPr/>
        </p:nvSpPr>
        <p:spPr>
          <a:xfrm>
            <a:off x="3933748" y="499250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Under the initiative, families can drop off pre-loved toys at participating Fun City locations across the UAE, including Fun City at Arabian Centre, Mercato Mall, Century Mall (Mamzar), Ibn Battuta Mall, Oasis Centre, Nad Al Sheba Mall...</a:t>
            </a:r>
            <a:endParaRPr/>
          </a:p>
        </p:txBody>
      </p:sp>
      <p:pic>
        <p:nvPicPr>
          <p:cNvPr id="61" name="Picture">
            <a:hlinkClick r:id="rId23"/>
            <a:extLst>
              <a:ext uri="{FF2B5EF4-FFF2-40B4-BE49-F238E27FC236}">
                <a16:creationId xmlns:a16="http://schemas.microsoft.com/office/drawing/2014/main" id="{1CE0EF4F-F483-470C-2A0C-7EC3E81E1526}"/>
              </a:ext>
            </a:extLst>
          </p:cNvPr>
          <p:cNvPicPr/>
          <p:nvPr/>
        </p:nvPicPr>
        <p:blipFill>
          <a:blip r:embed="rId24"/>
          <a:srcRect/>
          <a:stretch/>
        </p:blipFill>
        <p:spPr>
          <a:xfrm>
            <a:off x="7521252" y="4749678"/>
            <a:ext cx="828675" cy="781050"/>
          </a:xfrm>
          <a:prstGeom prst="rect">
            <a:avLst/>
          </a:prstGeom>
        </p:spPr>
      </p:pic>
      <p:sp>
        <p:nvSpPr>
          <p:cNvPr id="62" name="Shape">
            <a:extLst>
              <a:ext uri="{FF2B5EF4-FFF2-40B4-BE49-F238E27FC236}">
                <a16:creationId xmlns:a16="http://schemas.microsoft.com/office/drawing/2014/main" id="{8B905058-1AB7-D891-9666-F45D0AF5C4C9}"/>
              </a:ext>
            </a:extLst>
          </p:cNvPr>
          <p:cNvSpPr/>
          <p:nvPr/>
        </p:nvSpPr>
        <p:spPr>
          <a:xfrm>
            <a:off x="8769307" y="495842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511AA36A-16C7-A9DC-ECD7-2A0B369351F4}"/>
              </a:ext>
            </a:extLst>
          </p:cNvPr>
          <p:cNvSpPr/>
          <p:nvPr/>
        </p:nvSpPr>
        <p:spPr>
          <a:xfrm>
            <a:off x="8769307" y="495842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4" name="Shape">
            <a:extLst>
              <a:ext uri="{FF2B5EF4-FFF2-40B4-BE49-F238E27FC236}">
                <a16:creationId xmlns:a16="http://schemas.microsoft.com/office/drawing/2014/main" id="{E9E968AF-9DBB-0443-5D30-1D3D87E21433}"/>
              </a:ext>
            </a:extLst>
          </p:cNvPr>
          <p:cNvSpPr/>
          <p:nvPr/>
        </p:nvSpPr>
        <p:spPr>
          <a:xfrm>
            <a:off x="10047672" y="470089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5" name="Line 200: (537882, 6316553) - (11654110, 6316553)">
            <a:extLst>
              <a:ext uri="{FF2B5EF4-FFF2-40B4-BE49-F238E27FC236}">
                <a16:creationId xmlns:a16="http://schemas.microsoft.com/office/drawing/2014/main" id="{E40D1077-BDFD-E814-8AB4-E3D0516126DB}"/>
              </a:ext>
            </a:extLst>
          </p:cNvPr>
          <p:cNvCxnSpPr/>
          <p:nvPr/>
        </p:nvCxnSpPr>
        <p:spPr>
          <a:xfrm>
            <a:off x="432137" y="5594658"/>
            <a:ext cx="11116228" cy="0"/>
          </a:xfrm>
          <a:prstGeom prst="line">
            <a:avLst/>
          </a:prstGeom>
          <a:ln w="12700">
            <a:solidFill>
              <a:srgbClr val="C7C7C7"/>
            </a:solidFill>
          </a:ln>
        </p:spPr>
      </p:cxnSp>
    </p:spTree>
    <p:extLst>
      <p:ext uri="{BB962C8B-B14F-4D97-AF65-F5344CB8AC3E}">
        <p14:creationId xmlns:p14="http://schemas.microsoft.com/office/powerpoint/2010/main" val="1297962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47C0C-1208-1AFE-31AC-9C286379D370}"/>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8625A181-1F37-8466-AB84-681CFCB8A040}"/>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3221E949-7BC3-4FC7-A633-9539AE19551C}"/>
              </a:ext>
            </a:extLst>
          </p:cNvPr>
          <p:cNvCxnSpPr/>
          <p:nvPr/>
        </p:nvCxnSpPr>
        <p:spPr>
          <a:xfrm>
            <a:off x="432137" y="838353"/>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ACA2688E-89C3-35EA-1689-E9B004564638}"/>
              </a:ext>
            </a:extLst>
          </p:cNvPr>
          <p:cNvSpPr/>
          <p:nvPr/>
        </p:nvSpPr>
        <p:spPr>
          <a:xfrm>
            <a:off x="765623" y="623085"/>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68488EC5-02F3-950C-9B44-57466C253A53}"/>
              </a:ext>
            </a:extLst>
          </p:cNvPr>
          <p:cNvCxnSpPr/>
          <p:nvPr/>
        </p:nvCxnSpPr>
        <p:spPr>
          <a:xfrm>
            <a:off x="3767005" y="599167"/>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9D420C7E-2415-1F86-92CB-738EEF384812}"/>
              </a:ext>
            </a:extLst>
          </p:cNvPr>
          <p:cNvSpPr/>
          <p:nvPr/>
        </p:nvSpPr>
        <p:spPr>
          <a:xfrm>
            <a:off x="4100491" y="623085"/>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B0C7BC39-E327-807A-1159-A0A156B6409B}"/>
              </a:ext>
            </a:extLst>
          </p:cNvPr>
          <p:cNvCxnSpPr/>
          <p:nvPr/>
        </p:nvCxnSpPr>
        <p:spPr>
          <a:xfrm>
            <a:off x="8769307" y="599167"/>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60A1AF39-B23A-3C3C-931C-2F2A536E95E0}"/>
              </a:ext>
            </a:extLst>
          </p:cNvPr>
          <p:cNvSpPr/>
          <p:nvPr/>
        </p:nvSpPr>
        <p:spPr>
          <a:xfrm>
            <a:off x="8880469" y="623085"/>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C4FE99D0-BB74-2A76-26B2-12E1AF72424F}"/>
              </a:ext>
            </a:extLst>
          </p:cNvPr>
          <p:cNvCxnSpPr/>
          <p:nvPr/>
        </p:nvCxnSpPr>
        <p:spPr>
          <a:xfrm>
            <a:off x="9880929" y="599167"/>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54633CD6-511E-BB77-9674-C5091B13CEC7}"/>
              </a:ext>
            </a:extLst>
          </p:cNvPr>
          <p:cNvSpPr/>
          <p:nvPr/>
        </p:nvSpPr>
        <p:spPr>
          <a:xfrm>
            <a:off x="10047672" y="623085"/>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4FF20834-39DF-12F9-B57C-79F1D1C74F13}"/>
              </a:ext>
            </a:extLst>
          </p:cNvPr>
          <p:cNvPicPr/>
          <p:nvPr/>
        </p:nvPicPr>
        <p:blipFill>
          <a:blip r:embed="rId2"/>
          <a:srcRect/>
          <a:stretch/>
        </p:blipFill>
        <p:spPr>
          <a:xfrm>
            <a:off x="546549" y="922248"/>
            <a:ext cx="438150" cy="438150"/>
          </a:xfrm>
          <a:prstGeom prst="rect">
            <a:avLst/>
          </a:prstGeom>
        </p:spPr>
      </p:pic>
      <p:sp>
        <p:nvSpPr>
          <p:cNvPr id="12" name="Shape">
            <a:extLst>
              <a:ext uri="{FF2B5EF4-FFF2-40B4-BE49-F238E27FC236}">
                <a16:creationId xmlns:a16="http://schemas.microsoft.com/office/drawing/2014/main" id="{E42E185B-8639-C4B1-68C9-EABF8495D8AC}"/>
              </a:ext>
            </a:extLst>
          </p:cNvPr>
          <p:cNvSpPr/>
          <p:nvPr/>
        </p:nvSpPr>
        <p:spPr>
          <a:xfrm>
            <a:off x="1121343" y="95954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user</a:t>
            </a:r>
            <a:endParaRPr/>
          </a:p>
        </p:txBody>
      </p:sp>
      <p:sp>
        <p:nvSpPr>
          <p:cNvPr id="13" name="Shape">
            <a:extLst>
              <a:ext uri="{FF2B5EF4-FFF2-40B4-BE49-F238E27FC236}">
                <a16:creationId xmlns:a16="http://schemas.microsoft.com/office/drawing/2014/main" id="{F30C9D98-AEE7-3DF2-A1E7-0919593F4FB3}"/>
              </a:ext>
            </a:extLst>
          </p:cNvPr>
          <p:cNvSpPr/>
          <p:nvPr/>
        </p:nvSpPr>
        <p:spPr>
          <a:xfrm>
            <a:off x="1121343" y="123978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3"/>
              </a:rPr>
              <a:t>pantimearabia.com</a:t>
            </a:r>
            <a:endParaRPr/>
          </a:p>
        </p:txBody>
      </p:sp>
      <p:sp>
        <p:nvSpPr>
          <p:cNvPr id="14" name="Shape">
            <a:extLst>
              <a:ext uri="{FF2B5EF4-FFF2-40B4-BE49-F238E27FC236}">
                <a16:creationId xmlns:a16="http://schemas.microsoft.com/office/drawing/2014/main" id="{E3C412E7-7647-4F90-6BB6-DBBC41FF90D9}"/>
              </a:ext>
            </a:extLst>
          </p:cNvPr>
          <p:cNvSpPr/>
          <p:nvPr/>
        </p:nvSpPr>
        <p:spPr>
          <a:xfrm>
            <a:off x="598880" y="147458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4"/>
              </a:rPr>
              <a:t>06/03/26 12:44</a:t>
            </a:r>
            <a:r>
              <a:t> | </a:t>
            </a:r>
            <a:r>
              <a:rPr lang="en" b="0" i="0"/>
              <a:t>United Arab Emirates</a:t>
            </a:r>
            <a:endParaRPr/>
          </a:p>
        </p:txBody>
      </p:sp>
      <p:sp>
        <p:nvSpPr>
          <p:cNvPr id="15" name="Shape">
            <a:extLst>
              <a:ext uri="{FF2B5EF4-FFF2-40B4-BE49-F238E27FC236}">
                <a16:creationId xmlns:a16="http://schemas.microsoft.com/office/drawing/2014/main" id="{E7E0D217-776B-ADF0-1C9E-F0061BFB9478}"/>
              </a:ext>
            </a:extLst>
          </p:cNvPr>
          <p:cNvSpPr/>
          <p:nvPr/>
        </p:nvSpPr>
        <p:spPr>
          <a:xfrm>
            <a:off x="3912905" y="89970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4"/>
              </a:rPr>
              <a:t>Share the Joy, Give a Toy’ ret...</a:t>
            </a:r>
            <a:endParaRPr/>
          </a:p>
        </p:txBody>
      </p:sp>
      <p:sp>
        <p:nvSpPr>
          <p:cNvPr id="16" name="Shape">
            <a:extLst>
              <a:ext uri="{FF2B5EF4-FFF2-40B4-BE49-F238E27FC236}">
                <a16:creationId xmlns:a16="http://schemas.microsoft.com/office/drawing/2014/main" id="{CDB23AE5-214B-ADF5-BDDD-17B7DDBFF3CA}"/>
              </a:ext>
            </a:extLst>
          </p:cNvPr>
          <p:cNvSpPr/>
          <p:nvPr/>
        </p:nvSpPr>
        <p:spPr>
          <a:xfrm>
            <a:off x="3933748" y="114510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Under the initiative, families can drop off pre-loved toys at participating Fun City locations across the UAE, including Fun City at Arabian Centre, Mercato Mall, Century Mall (Mamzar), Ibn Battuta Mall, Oasis Centre, Nad Al Sheba Mall...</a:t>
            </a:r>
            <a:endParaRPr/>
          </a:p>
        </p:txBody>
      </p:sp>
      <p:pic>
        <p:nvPicPr>
          <p:cNvPr id="17" name="Picture">
            <a:hlinkClick r:id="rId5"/>
            <a:extLst>
              <a:ext uri="{FF2B5EF4-FFF2-40B4-BE49-F238E27FC236}">
                <a16:creationId xmlns:a16="http://schemas.microsoft.com/office/drawing/2014/main" id="{9C76C0BB-5715-60AE-80AD-88FCF31C8C34}"/>
              </a:ext>
            </a:extLst>
          </p:cNvPr>
          <p:cNvPicPr/>
          <p:nvPr/>
        </p:nvPicPr>
        <p:blipFill>
          <a:blip r:embed="rId6"/>
          <a:srcRect/>
          <a:stretch/>
        </p:blipFill>
        <p:spPr>
          <a:xfrm>
            <a:off x="7545065" y="902283"/>
            <a:ext cx="781050" cy="781050"/>
          </a:xfrm>
          <a:prstGeom prst="rect">
            <a:avLst/>
          </a:prstGeom>
        </p:spPr>
      </p:pic>
      <p:sp>
        <p:nvSpPr>
          <p:cNvPr id="18" name="Shape">
            <a:extLst>
              <a:ext uri="{FF2B5EF4-FFF2-40B4-BE49-F238E27FC236}">
                <a16:creationId xmlns:a16="http://schemas.microsoft.com/office/drawing/2014/main" id="{5DBC3A8E-3F1D-8D53-BE3C-F5AF75366A7B}"/>
              </a:ext>
            </a:extLst>
          </p:cNvPr>
          <p:cNvSpPr/>
          <p:nvPr/>
        </p:nvSpPr>
        <p:spPr>
          <a:xfrm>
            <a:off x="8769307" y="111102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9E22B3F5-92C5-11AC-477F-94107BE499D1}"/>
              </a:ext>
            </a:extLst>
          </p:cNvPr>
          <p:cNvSpPr/>
          <p:nvPr/>
        </p:nvSpPr>
        <p:spPr>
          <a:xfrm>
            <a:off x="8769307" y="111102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774ABBD6-5F60-392C-5AE1-292B1DE60370}"/>
              </a:ext>
            </a:extLst>
          </p:cNvPr>
          <p:cNvSpPr/>
          <p:nvPr/>
        </p:nvSpPr>
        <p:spPr>
          <a:xfrm>
            <a:off x="10047672" y="85350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B4FFFAA2-D1E4-678D-E223-254296DE75C9}"/>
              </a:ext>
            </a:extLst>
          </p:cNvPr>
          <p:cNvCxnSpPr/>
          <p:nvPr/>
        </p:nvCxnSpPr>
        <p:spPr>
          <a:xfrm>
            <a:off x="432137" y="1747263"/>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215E88AC-47F5-28D9-3A5A-F2DC2ABF72D4}"/>
              </a:ext>
            </a:extLst>
          </p:cNvPr>
          <p:cNvPicPr/>
          <p:nvPr/>
        </p:nvPicPr>
        <p:blipFill>
          <a:blip r:embed="rId7"/>
          <a:srcRect/>
          <a:stretch/>
        </p:blipFill>
        <p:spPr>
          <a:xfrm>
            <a:off x="546549" y="1831158"/>
            <a:ext cx="438150" cy="438150"/>
          </a:xfrm>
          <a:prstGeom prst="rect">
            <a:avLst/>
          </a:prstGeom>
        </p:spPr>
      </p:pic>
      <p:sp>
        <p:nvSpPr>
          <p:cNvPr id="23" name="Shape">
            <a:extLst>
              <a:ext uri="{FF2B5EF4-FFF2-40B4-BE49-F238E27FC236}">
                <a16:creationId xmlns:a16="http://schemas.microsoft.com/office/drawing/2014/main" id="{2BF5784E-2C77-A5A7-74C3-7F71588017EC}"/>
              </a:ext>
            </a:extLst>
          </p:cNvPr>
          <p:cNvSpPr/>
          <p:nvPr/>
        </p:nvSpPr>
        <p:spPr>
          <a:xfrm>
            <a:off x="1121343" y="186845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gulftoday</a:t>
            </a:r>
            <a:endParaRPr/>
          </a:p>
        </p:txBody>
      </p:sp>
      <p:sp>
        <p:nvSpPr>
          <p:cNvPr id="24" name="Shape">
            <a:extLst>
              <a:ext uri="{FF2B5EF4-FFF2-40B4-BE49-F238E27FC236}">
                <a16:creationId xmlns:a16="http://schemas.microsoft.com/office/drawing/2014/main" id="{4CF22557-41C3-CFBC-7970-5908770DB968}"/>
              </a:ext>
            </a:extLst>
          </p:cNvPr>
          <p:cNvSpPr/>
          <p:nvPr/>
        </p:nvSpPr>
        <p:spPr>
          <a:xfrm>
            <a:off x="1121343" y="214869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Newspaper</a:t>
            </a:r>
            <a:r>
              <a:t> | </a:t>
            </a:r>
            <a:r>
              <a:rPr lang="en" b="0" i="0">
                <a:hlinkClick r:id="rId8"/>
              </a:rPr>
              <a:t>gulftoday.ae</a:t>
            </a:r>
            <a:endParaRPr/>
          </a:p>
        </p:txBody>
      </p:sp>
      <p:sp>
        <p:nvSpPr>
          <p:cNvPr id="25" name="Shape">
            <a:extLst>
              <a:ext uri="{FF2B5EF4-FFF2-40B4-BE49-F238E27FC236}">
                <a16:creationId xmlns:a16="http://schemas.microsoft.com/office/drawing/2014/main" id="{9DA06436-2031-42A8-BEB7-056BBB5EE19D}"/>
              </a:ext>
            </a:extLst>
          </p:cNvPr>
          <p:cNvSpPr/>
          <p:nvPr/>
        </p:nvSpPr>
        <p:spPr>
          <a:xfrm>
            <a:off x="598880" y="238349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9"/>
              </a:rPr>
              <a:t>08/03/26 10:32</a:t>
            </a:r>
            <a:r>
              <a:t> | </a:t>
            </a:r>
            <a:r>
              <a:rPr lang="en" b="0" i="0"/>
              <a:t>United Arab Emirates</a:t>
            </a:r>
            <a:endParaRPr/>
          </a:p>
        </p:txBody>
      </p:sp>
      <p:sp>
        <p:nvSpPr>
          <p:cNvPr id="26" name="Shape">
            <a:extLst>
              <a:ext uri="{FF2B5EF4-FFF2-40B4-BE49-F238E27FC236}">
                <a16:creationId xmlns:a16="http://schemas.microsoft.com/office/drawing/2014/main" id="{CB6DC55B-FA5F-B8CE-0C9A-57A1E25A00BD}"/>
              </a:ext>
            </a:extLst>
          </p:cNvPr>
          <p:cNvSpPr/>
          <p:nvPr/>
        </p:nvSpPr>
        <p:spPr>
          <a:xfrm>
            <a:off x="3912905" y="180861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9"/>
              </a:rPr>
              <a:t>Campaign launched to suppor...</a:t>
            </a:r>
            <a:endParaRPr/>
          </a:p>
        </p:txBody>
      </p:sp>
      <p:sp>
        <p:nvSpPr>
          <p:cNvPr id="27" name="Shape">
            <a:extLst>
              <a:ext uri="{FF2B5EF4-FFF2-40B4-BE49-F238E27FC236}">
                <a16:creationId xmlns:a16="http://schemas.microsoft.com/office/drawing/2014/main" id="{BF86DE78-A69A-5028-0CD8-A9F275D4B233}"/>
              </a:ext>
            </a:extLst>
          </p:cNvPr>
          <p:cNvSpPr/>
          <p:nvPr/>
        </p:nvSpPr>
        <p:spPr>
          <a:xfrm>
            <a:off x="3933748" y="205401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 Under the initiative, families can drop off pre-loved toys at participating Fun City locations across the UAE, including Fun City at Arabian Centre, Mercato Mall, Century Mall (Mamzar), Ibn Battuta Mall, Oasis Centre, Nad Al Sheba Ma...</a:t>
            </a:r>
            <a:endParaRPr/>
          </a:p>
        </p:txBody>
      </p:sp>
      <p:pic>
        <p:nvPicPr>
          <p:cNvPr id="28" name="Picture">
            <a:hlinkClick r:id="rId10"/>
            <a:extLst>
              <a:ext uri="{FF2B5EF4-FFF2-40B4-BE49-F238E27FC236}">
                <a16:creationId xmlns:a16="http://schemas.microsoft.com/office/drawing/2014/main" id="{6872C345-81C3-9842-2AA3-314234D1773A}"/>
              </a:ext>
            </a:extLst>
          </p:cNvPr>
          <p:cNvPicPr/>
          <p:nvPr/>
        </p:nvPicPr>
        <p:blipFill>
          <a:blip r:embed="rId11"/>
          <a:srcRect/>
          <a:stretch/>
        </p:blipFill>
        <p:spPr>
          <a:xfrm>
            <a:off x="7545065" y="1811193"/>
            <a:ext cx="781050" cy="781050"/>
          </a:xfrm>
          <a:prstGeom prst="rect">
            <a:avLst/>
          </a:prstGeom>
        </p:spPr>
      </p:pic>
      <p:sp>
        <p:nvSpPr>
          <p:cNvPr id="29" name="Shape">
            <a:extLst>
              <a:ext uri="{FF2B5EF4-FFF2-40B4-BE49-F238E27FC236}">
                <a16:creationId xmlns:a16="http://schemas.microsoft.com/office/drawing/2014/main" id="{ACE20220-A374-B3F7-6510-73689287563C}"/>
              </a:ext>
            </a:extLst>
          </p:cNvPr>
          <p:cNvSpPr/>
          <p:nvPr/>
        </p:nvSpPr>
        <p:spPr>
          <a:xfrm>
            <a:off x="8769307" y="201993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6F239F73-0652-DF40-05A9-59D68161795D}"/>
              </a:ext>
            </a:extLst>
          </p:cNvPr>
          <p:cNvSpPr/>
          <p:nvPr/>
        </p:nvSpPr>
        <p:spPr>
          <a:xfrm>
            <a:off x="8769307" y="201993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C8865813-F0F9-A3AD-3E73-29CA1783D4E3}"/>
              </a:ext>
            </a:extLst>
          </p:cNvPr>
          <p:cNvSpPr/>
          <p:nvPr/>
        </p:nvSpPr>
        <p:spPr>
          <a:xfrm>
            <a:off x="10047672" y="176241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45607E80-A209-43F2-A107-532D8516C9FB}"/>
              </a:ext>
            </a:extLst>
          </p:cNvPr>
          <p:cNvCxnSpPr/>
          <p:nvPr/>
        </p:nvCxnSpPr>
        <p:spPr>
          <a:xfrm>
            <a:off x="432137" y="2656173"/>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7771024A-92C7-2A41-42C0-F77FD334F779}"/>
              </a:ext>
            </a:extLst>
          </p:cNvPr>
          <p:cNvPicPr/>
          <p:nvPr/>
        </p:nvPicPr>
        <p:blipFill>
          <a:blip r:embed="rId12"/>
          <a:srcRect/>
          <a:stretch/>
        </p:blipFill>
        <p:spPr>
          <a:xfrm>
            <a:off x="546549" y="2740068"/>
            <a:ext cx="438150" cy="438150"/>
          </a:xfrm>
          <a:prstGeom prst="rect">
            <a:avLst/>
          </a:prstGeom>
        </p:spPr>
      </p:pic>
      <p:sp>
        <p:nvSpPr>
          <p:cNvPr id="34" name="Shape">
            <a:extLst>
              <a:ext uri="{FF2B5EF4-FFF2-40B4-BE49-F238E27FC236}">
                <a16:creationId xmlns:a16="http://schemas.microsoft.com/office/drawing/2014/main" id="{B1B1E195-7C10-B975-CF7F-5149E569C5F8}"/>
              </a:ext>
            </a:extLst>
          </p:cNvPr>
          <p:cNvSpPr/>
          <p:nvPr/>
        </p:nvSpPr>
        <p:spPr>
          <a:xfrm>
            <a:off x="1121343" y="277736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Someone</a:t>
            </a:r>
            <a:endParaRPr/>
          </a:p>
        </p:txBody>
      </p:sp>
      <p:sp>
        <p:nvSpPr>
          <p:cNvPr id="35" name="Shape">
            <a:extLst>
              <a:ext uri="{FF2B5EF4-FFF2-40B4-BE49-F238E27FC236}">
                <a16:creationId xmlns:a16="http://schemas.microsoft.com/office/drawing/2014/main" id="{37ECD69F-2C2C-9CDF-1E9E-CE85629CE8B1}"/>
              </a:ext>
            </a:extLst>
          </p:cNvPr>
          <p:cNvSpPr/>
          <p:nvPr/>
        </p:nvSpPr>
        <p:spPr>
          <a:xfrm>
            <a:off x="1121343" y="305760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3"/>
              </a:rPr>
              <a:t>kfzanmeldung.de</a:t>
            </a:r>
            <a:endParaRPr/>
          </a:p>
        </p:txBody>
      </p:sp>
      <p:sp>
        <p:nvSpPr>
          <p:cNvPr id="36" name="Shape">
            <a:extLst>
              <a:ext uri="{FF2B5EF4-FFF2-40B4-BE49-F238E27FC236}">
                <a16:creationId xmlns:a16="http://schemas.microsoft.com/office/drawing/2014/main" id="{2E8EA68B-6C83-19FE-C797-BB6454D4DC51}"/>
              </a:ext>
            </a:extLst>
          </p:cNvPr>
          <p:cNvSpPr/>
          <p:nvPr/>
        </p:nvSpPr>
        <p:spPr>
          <a:xfrm>
            <a:off x="598880" y="329240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4"/>
              </a:rPr>
              <a:t>08/03/26 18:07</a:t>
            </a:r>
            <a:r>
              <a:t> | </a:t>
            </a:r>
            <a:r>
              <a:rPr lang="en" b="0" i="0"/>
              <a:t>Germany</a:t>
            </a:r>
            <a:endParaRPr/>
          </a:p>
        </p:txBody>
      </p:sp>
      <p:sp>
        <p:nvSpPr>
          <p:cNvPr id="37" name="Shape">
            <a:extLst>
              <a:ext uri="{FF2B5EF4-FFF2-40B4-BE49-F238E27FC236}">
                <a16:creationId xmlns:a16="http://schemas.microsoft.com/office/drawing/2014/main" id="{A8DE86A4-3B25-2BD0-770E-7AEE0ABCDE1F}"/>
              </a:ext>
            </a:extLst>
          </p:cNvPr>
          <p:cNvSpPr/>
          <p:nvPr/>
        </p:nvSpPr>
        <p:spPr>
          <a:xfrm>
            <a:off x="3912905" y="271752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4"/>
              </a:rPr>
              <a:t>adidas store at the outlet mall</a:t>
            </a:r>
            <a:endParaRPr/>
          </a:p>
        </p:txBody>
      </p:sp>
      <p:sp>
        <p:nvSpPr>
          <p:cNvPr id="38" name="Shape">
            <a:extLst>
              <a:ext uri="{FF2B5EF4-FFF2-40B4-BE49-F238E27FC236}">
                <a16:creationId xmlns:a16="http://schemas.microsoft.com/office/drawing/2014/main" id="{4B910800-28D6-41A0-5E3E-65C0472D9E6E}"/>
              </a:ext>
            </a:extLst>
          </p:cNvPr>
          <p:cNvSpPr/>
          <p:nvPr/>
        </p:nvSpPr>
        <p:spPr>
          <a:xfrm>
            <a:off x="3933748" y="296292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...Opens 1st Exclusive Originals Store in Gurugram, Adidas Sportswear Footwear Arabian Center, Adidas Store Stock Photo Download Image Now Adidas Soccer, Dolphin Mall Adidas Factory Outlet is now open Stop by, Adidas Originals...</a:t>
            </a:r>
            <a:endParaRPr/>
          </a:p>
        </p:txBody>
      </p:sp>
      <p:pic>
        <p:nvPicPr>
          <p:cNvPr id="39" name="Picture">
            <a:hlinkClick r:id="rId15"/>
            <a:extLst>
              <a:ext uri="{FF2B5EF4-FFF2-40B4-BE49-F238E27FC236}">
                <a16:creationId xmlns:a16="http://schemas.microsoft.com/office/drawing/2014/main" id="{FAC4F578-E6AE-5327-CFDF-4CE78C92390E}"/>
              </a:ext>
            </a:extLst>
          </p:cNvPr>
          <p:cNvPicPr/>
          <p:nvPr/>
        </p:nvPicPr>
        <p:blipFill>
          <a:blip r:embed="rId11"/>
          <a:srcRect/>
          <a:stretch/>
        </p:blipFill>
        <p:spPr>
          <a:xfrm>
            <a:off x="7545065" y="2720103"/>
            <a:ext cx="781050" cy="781050"/>
          </a:xfrm>
          <a:prstGeom prst="rect">
            <a:avLst/>
          </a:prstGeom>
        </p:spPr>
      </p:pic>
      <p:sp>
        <p:nvSpPr>
          <p:cNvPr id="40" name="Shape">
            <a:extLst>
              <a:ext uri="{FF2B5EF4-FFF2-40B4-BE49-F238E27FC236}">
                <a16:creationId xmlns:a16="http://schemas.microsoft.com/office/drawing/2014/main" id="{551B9D42-B426-C1C4-EA5F-6B95BF165153}"/>
              </a:ext>
            </a:extLst>
          </p:cNvPr>
          <p:cNvSpPr/>
          <p:nvPr/>
        </p:nvSpPr>
        <p:spPr>
          <a:xfrm>
            <a:off x="8769307" y="292884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B2B14706-49E7-F420-648D-129B745361B3}"/>
              </a:ext>
            </a:extLst>
          </p:cNvPr>
          <p:cNvSpPr/>
          <p:nvPr/>
        </p:nvSpPr>
        <p:spPr>
          <a:xfrm>
            <a:off x="8769307" y="292884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BDD54974-FC6E-B216-3464-0AA3DD28C5CC}"/>
              </a:ext>
            </a:extLst>
          </p:cNvPr>
          <p:cNvSpPr/>
          <p:nvPr/>
        </p:nvSpPr>
        <p:spPr>
          <a:xfrm>
            <a:off x="10047672" y="267132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FDCA00"/>
                </a:solidFill>
              </a:rPr>
              <a:t>Neutral</a:t>
            </a:r>
            <a:r>
              <a:t> </a:t>
            </a:r>
          </a:p>
        </p:txBody>
      </p:sp>
      <p:cxnSp>
        <p:nvCxnSpPr>
          <p:cNvPr id="43" name="Line 200: (537882, 4498733) - (11654110, 4498733)">
            <a:extLst>
              <a:ext uri="{FF2B5EF4-FFF2-40B4-BE49-F238E27FC236}">
                <a16:creationId xmlns:a16="http://schemas.microsoft.com/office/drawing/2014/main" id="{B9AA35DD-F78A-DFAF-A61F-42F5A282FDC1}"/>
              </a:ext>
            </a:extLst>
          </p:cNvPr>
          <p:cNvCxnSpPr/>
          <p:nvPr/>
        </p:nvCxnSpPr>
        <p:spPr>
          <a:xfrm>
            <a:off x="432137" y="3565083"/>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62198BD8-1BBE-1EC4-7DBF-6B5B53BF543F}"/>
              </a:ext>
            </a:extLst>
          </p:cNvPr>
          <p:cNvPicPr/>
          <p:nvPr/>
        </p:nvPicPr>
        <p:blipFill>
          <a:blip r:embed="rId7"/>
          <a:srcRect/>
          <a:stretch/>
        </p:blipFill>
        <p:spPr>
          <a:xfrm>
            <a:off x="546549" y="3648978"/>
            <a:ext cx="438150" cy="438150"/>
          </a:xfrm>
          <a:prstGeom prst="rect">
            <a:avLst/>
          </a:prstGeom>
        </p:spPr>
      </p:pic>
      <p:sp>
        <p:nvSpPr>
          <p:cNvPr id="45" name="Shape">
            <a:extLst>
              <a:ext uri="{FF2B5EF4-FFF2-40B4-BE49-F238E27FC236}">
                <a16:creationId xmlns:a16="http://schemas.microsoft.com/office/drawing/2014/main" id="{56931FA6-0419-1DCE-0E74-F7C303616545}"/>
              </a:ext>
            </a:extLst>
          </p:cNvPr>
          <p:cNvSpPr/>
          <p:nvPr/>
        </p:nvSpPr>
        <p:spPr>
          <a:xfrm>
            <a:off x="1121343" y="368627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uaenews4u</a:t>
            </a:r>
            <a:endParaRPr/>
          </a:p>
        </p:txBody>
      </p:sp>
      <p:sp>
        <p:nvSpPr>
          <p:cNvPr id="46" name="Shape">
            <a:extLst>
              <a:ext uri="{FF2B5EF4-FFF2-40B4-BE49-F238E27FC236}">
                <a16:creationId xmlns:a16="http://schemas.microsoft.com/office/drawing/2014/main" id="{6B30662D-A895-5D28-112C-D7BF29738154}"/>
              </a:ext>
            </a:extLst>
          </p:cNvPr>
          <p:cNvSpPr/>
          <p:nvPr/>
        </p:nvSpPr>
        <p:spPr>
          <a:xfrm>
            <a:off x="1121343" y="396651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6"/>
              </a:rPr>
              <a:t>uaenews4u.com</a:t>
            </a:r>
            <a:endParaRPr/>
          </a:p>
        </p:txBody>
      </p:sp>
      <p:sp>
        <p:nvSpPr>
          <p:cNvPr id="47" name="Shape">
            <a:extLst>
              <a:ext uri="{FF2B5EF4-FFF2-40B4-BE49-F238E27FC236}">
                <a16:creationId xmlns:a16="http://schemas.microsoft.com/office/drawing/2014/main" id="{7831CE82-A9E6-C8D0-309D-F9C144AED5BD}"/>
              </a:ext>
            </a:extLst>
          </p:cNvPr>
          <p:cNvSpPr/>
          <p:nvPr/>
        </p:nvSpPr>
        <p:spPr>
          <a:xfrm>
            <a:off x="598880" y="420131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7"/>
              </a:rPr>
              <a:t>11/03/26 08:11</a:t>
            </a:r>
            <a:r>
              <a:t> | </a:t>
            </a:r>
            <a:r>
              <a:rPr lang="en" b="0" i="0"/>
              <a:t>United Arab Emirates</a:t>
            </a:r>
            <a:endParaRPr/>
          </a:p>
        </p:txBody>
      </p:sp>
      <p:sp>
        <p:nvSpPr>
          <p:cNvPr id="48" name="Shape">
            <a:extLst>
              <a:ext uri="{FF2B5EF4-FFF2-40B4-BE49-F238E27FC236}">
                <a16:creationId xmlns:a16="http://schemas.microsoft.com/office/drawing/2014/main" id="{2ADA449D-AFE8-9D41-4553-AD3B8723FD02}"/>
              </a:ext>
            </a:extLst>
          </p:cNvPr>
          <p:cNvSpPr/>
          <p:nvPr/>
        </p:nvSpPr>
        <p:spPr>
          <a:xfrm>
            <a:off x="3912905" y="362643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7"/>
              </a:rPr>
              <a:t>Eid Shoppers in Dubai Can Win...</a:t>
            </a:r>
            <a:endParaRPr/>
          </a:p>
        </p:txBody>
      </p:sp>
      <p:sp>
        <p:nvSpPr>
          <p:cNvPr id="49" name="Shape">
            <a:extLst>
              <a:ext uri="{FF2B5EF4-FFF2-40B4-BE49-F238E27FC236}">
                <a16:creationId xmlns:a16="http://schemas.microsoft.com/office/drawing/2014/main" id="{82D4112E-1E13-C2C5-A2B9-59667102ED05}"/>
              </a:ext>
            </a:extLst>
          </p:cNvPr>
          <p:cNvSpPr/>
          <p:nvPr/>
        </p:nvSpPr>
        <p:spPr>
          <a:xfrm>
            <a:off x="3933748" y="387183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50" name="Picture">
            <a:hlinkClick r:id="rId18"/>
            <a:extLst>
              <a:ext uri="{FF2B5EF4-FFF2-40B4-BE49-F238E27FC236}">
                <a16:creationId xmlns:a16="http://schemas.microsoft.com/office/drawing/2014/main" id="{CB534587-F2CC-3BA4-B57B-B8DEE103AC22}"/>
              </a:ext>
            </a:extLst>
          </p:cNvPr>
          <p:cNvPicPr/>
          <p:nvPr/>
        </p:nvPicPr>
        <p:blipFill>
          <a:blip r:embed="rId19"/>
          <a:srcRect/>
          <a:stretch/>
        </p:blipFill>
        <p:spPr>
          <a:xfrm>
            <a:off x="7678415" y="3629013"/>
            <a:ext cx="514350" cy="781050"/>
          </a:xfrm>
          <a:prstGeom prst="rect">
            <a:avLst/>
          </a:prstGeom>
        </p:spPr>
      </p:pic>
      <p:sp>
        <p:nvSpPr>
          <p:cNvPr id="51" name="Shape">
            <a:extLst>
              <a:ext uri="{FF2B5EF4-FFF2-40B4-BE49-F238E27FC236}">
                <a16:creationId xmlns:a16="http://schemas.microsoft.com/office/drawing/2014/main" id="{942B319E-06CF-7749-0AD7-0CFF9EBA087D}"/>
              </a:ext>
            </a:extLst>
          </p:cNvPr>
          <p:cNvSpPr/>
          <p:nvPr/>
        </p:nvSpPr>
        <p:spPr>
          <a:xfrm>
            <a:off x="8769307" y="383775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949C3C7B-A676-4DA6-17FB-8729BF383060}"/>
              </a:ext>
            </a:extLst>
          </p:cNvPr>
          <p:cNvSpPr/>
          <p:nvPr/>
        </p:nvSpPr>
        <p:spPr>
          <a:xfrm>
            <a:off x="8769307" y="383775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ECFC5156-C14A-7B58-47BF-E21B40958BC7}"/>
              </a:ext>
            </a:extLst>
          </p:cNvPr>
          <p:cNvSpPr/>
          <p:nvPr/>
        </p:nvSpPr>
        <p:spPr>
          <a:xfrm>
            <a:off x="10047672" y="358023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A0F10BD1-7528-862C-6187-997722DD857F}"/>
              </a:ext>
            </a:extLst>
          </p:cNvPr>
          <p:cNvCxnSpPr/>
          <p:nvPr/>
        </p:nvCxnSpPr>
        <p:spPr>
          <a:xfrm>
            <a:off x="432137" y="4473993"/>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EB9F588A-C261-D371-F75F-506795DD1DB0}"/>
              </a:ext>
            </a:extLst>
          </p:cNvPr>
          <p:cNvPicPr/>
          <p:nvPr/>
        </p:nvPicPr>
        <p:blipFill>
          <a:blip r:embed="rId7"/>
          <a:srcRect/>
          <a:stretch/>
        </p:blipFill>
        <p:spPr>
          <a:xfrm>
            <a:off x="546549" y="4557888"/>
            <a:ext cx="438150" cy="438150"/>
          </a:xfrm>
          <a:prstGeom prst="rect">
            <a:avLst/>
          </a:prstGeom>
        </p:spPr>
      </p:pic>
      <p:sp>
        <p:nvSpPr>
          <p:cNvPr id="56" name="Shape">
            <a:extLst>
              <a:ext uri="{FF2B5EF4-FFF2-40B4-BE49-F238E27FC236}">
                <a16:creationId xmlns:a16="http://schemas.microsoft.com/office/drawing/2014/main" id="{DA74665F-0F4F-D355-A6C3-EBF65AF339E6}"/>
              </a:ext>
            </a:extLst>
          </p:cNvPr>
          <p:cNvSpPr/>
          <p:nvPr/>
        </p:nvSpPr>
        <p:spPr>
          <a:xfrm>
            <a:off x="1121343" y="459518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uaenews247</a:t>
            </a:r>
            <a:endParaRPr/>
          </a:p>
        </p:txBody>
      </p:sp>
      <p:sp>
        <p:nvSpPr>
          <p:cNvPr id="57" name="Shape">
            <a:extLst>
              <a:ext uri="{FF2B5EF4-FFF2-40B4-BE49-F238E27FC236}">
                <a16:creationId xmlns:a16="http://schemas.microsoft.com/office/drawing/2014/main" id="{7F25DC8D-F765-9A47-F29A-BFE95BC1481D}"/>
              </a:ext>
            </a:extLst>
          </p:cNvPr>
          <p:cNvSpPr/>
          <p:nvPr/>
        </p:nvSpPr>
        <p:spPr>
          <a:xfrm>
            <a:off x="1121343" y="487542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20"/>
              </a:rPr>
              <a:t>uaenews247.com</a:t>
            </a:r>
            <a:endParaRPr/>
          </a:p>
        </p:txBody>
      </p:sp>
      <p:sp>
        <p:nvSpPr>
          <p:cNvPr id="58" name="Shape">
            <a:extLst>
              <a:ext uri="{FF2B5EF4-FFF2-40B4-BE49-F238E27FC236}">
                <a16:creationId xmlns:a16="http://schemas.microsoft.com/office/drawing/2014/main" id="{EDE0CC3C-B899-9DDA-1FD9-1294E38603F5}"/>
              </a:ext>
            </a:extLst>
          </p:cNvPr>
          <p:cNvSpPr/>
          <p:nvPr/>
        </p:nvSpPr>
        <p:spPr>
          <a:xfrm>
            <a:off x="598880" y="511022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1"/>
              </a:rPr>
              <a:t>11/03/26 08:13</a:t>
            </a:r>
            <a:r>
              <a:t> | </a:t>
            </a:r>
            <a:r>
              <a:rPr lang="en" b="0" i="0"/>
              <a:t>United Arab Emirates</a:t>
            </a:r>
            <a:endParaRPr/>
          </a:p>
        </p:txBody>
      </p:sp>
      <p:sp>
        <p:nvSpPr>
          <p:cNvPr id="59" name="Shape">
            <a:extLst>
              <a:ext uri="{FF2B5EF4-FFF2-40B4-BE49-F238E27FC236}">
                <a16:creationId xmlns:a16="http://schemas.microsoft.com/office/drawing/2014/main" id="{C3C627B2-A64E-09DC-6DD9-67DC1A933017}"/>
              </a:ext>
            </a:extLst>
          </p:cNvPr>
          <p:cNvSpPr/>
          <p:nvPr/>
        </p:nvSpPr>
        <p:spPr>
          <a:xfrm>
            <a:off x="3912905" y="453534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21"/>
              </a:rPr>
              <a:t>Eid Shoppers in Dubai Can Win...</a:t>
            </a:r>
            <a:endParaRPr/>
          </a:p>
        </p:txBody>
      </p:sp>
      <p:sp>
        <p:nvSpPr>
          <p:cNvPr id="60" name="Shape">
            <a:extLst>
              <a:ext uri="{FF2B5EF4-FFF2-40B4-BE49-F238E27FC236}">
                <a16:creationId xmlns:a16="http://schemas.microsoft.com/office/drawing/2014/main" id="{01BBCCB2-0E02-C6AC-C4A3-437E27D4A3FE}"/>
              </a:ext>
            </a:extLst>
          </p:cNvPr>
          <p:cNvSpPr/>
          <p:nvPr/>
        </p:nvSpPr>
        <p:spPr>
          <a:xfrm>
            <a:off x="3933748" y="478074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61" name="Picture">
            <a:hlinkClick r:id="rId22"/>
            <a:extLst>
              <a:ext uri="{FF2B5EF4-FFF2-40B4-BE49-F238E27FC236}">
                <a16:creationId xmlns:a16="http://schemas.microsoft.com/office/drawing/2014/main" id="{B34D4619-57B4-B400-F7D8-DD6F20CE329A}"/>
              </a:ext>
            </a:extLst>
          </p:cNvPr>
          <p:cNvPicPr/>
          <p:nvPr/>
        </p:nvPicPr>
        <p:blipFill>
          <a:blip r:embed="rId19"/>
          <a:srcRect/>
          <a:stretch/>
        </p:blipFill>
        <p:spPr>
          <a:xfrm>
            <a:off x="7678415" y="4537923"/>
            <a:ext cx="514350" cy="781050"/>
          </a:xfrm>
          <a:prstGeom prst="rect">
            <a:avLst/>
          </a:prstGeom>
        </p:spPr>
      </p:pic>
      <p:sp>
        <p:nvSpPr>
          <p:cNvPr id="62" name="Shape">
            <a:extLst>
              <a:ext uri="{FF2B5EF4-FFF2-40B4-BE49-F238E27FC236}">
                <a16:creationId xmlns:a16="http://schemas.microsoft.com/office/drawing/2014/main" id="{194DF683-D1EB-7D3B-97BA-3916802B9A97}"/>
              </a:ext>
            </a:extLst>
          </p:cNvPr>
          <p:cNvSpPr/>
          <p:nvPr/>
        </p:nvSpPr>
        <p:spPr>
          <a:xfrm>
            <a:off x="8769307" y="474666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B6B84868-0826-4821-F97C-5C689801C1B7}"/>
              </a:ext>
            </a:extLst>
          </p:cNvPr>
          <p:cNvSpPr/>
          <p:nvPr/>
        </p:nvSpPr>
        <p:spPr>
          <a:xfrm>
            <a:off x="8769307" y="474666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4" name="Shape">
            <a:extLst>
              <a:ext uri="{FF2B5EF4-FFF2-40B4-BE49-F238E27FC236}">
                <a16:creationId xmlns:a16="http://schemas.microsoft.com/office/drawing/2014/main" id="{2B428612-5CC5-1CB2-01F9-81C10B929181}"/>
              </a:ext>
            </a:extLst>
          </p:cNvPr>
          <p:cNvSpPr/>
          <p:nvPr/>
        </p:nvSpPr>
        <p:spPr>
          <a:xfrm>
            <a:off x="10047672" y="448914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5" name="Line 200: (537882, 6316553) - (11654110, 6316553)">
            <a:extLst>
              <a:ext uri="{FF2B5EF4-FFF2-40B4-BE49-F238E27FC236}">
                <a16:creationId xmlns:a16="http://schemas.microsoft.com/office/drawing/2014/main" id="{CB014702-BA2D-6C49-CB9E-0DB6FE34CF94}"/>
              </a:ext>
            </a:extLst>
          </p:cNvPr>
          <p:cNvCxnSpPr/>
          <p:nvPr/>
        </p:nvCxnSpPr>
        <p:spPr>
          <a:xfrm>
            <a:off x="432137" y="5382903"/>
            <a:ext cx="11116228" cy="0"/>
          </a:xfrm>
          <a:prstGeom prst="line">
            <a:avLst/>
          </a:prstGeom>
          <a:ln w="12700">
            <a:solidFill>
              <a:srgbClr val="C7C7C7"/>
            </a:solidFill>
          </a:ln>
        </p:spPr>
      </p:cxnSp>
    </p:spTree>
    <p:extLst>
      <p:ext uri="{BB962C8B-B14F-4D97-AF65-F5344CB8AC3E}">
        <p14:creationId xmlns:p14="http://schemas.microsoft.com/office/powerpoint/2010/main" val="4072288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2BAB3-774B-7C8C-9EF7-A0E62C2A67F9}"/>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BF7DE824-11F6-34AA-61FD-C89CB6A36ABC}"/>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CDA0D230-6D99-97A7-3B8C-6EE0EDF1DF05}"/>
              </a:ext>
            </a:extLst>
          </p:cNvPr>
          <p:cNvCxnSpPr/>
          <p:nvPr/>
        </p:nvCxnSpPr>
        <p:spPr>
          <a:xfrm>
            <a:off x="432137" y="982732"/>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165F1C62-5E28-BCCE-79C7-D9ACDC9E6498}"/>
              </a:ext>
            </a:extLst>
          </p:cNvPr>
          <p:cNvSpPr/>
          <p:nvPr/>
        </p:nvSpPr>
        <p:spPr>
          <a:xfrm>
            <a:off x="765623" y="767464"/>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BB317A51-E9F1-18C6-4EB2-F07E6A5738E9}"/>
              </a:ext>
            </a:extLst>
          </p:cNvPr>
          <p:cNvCxnSpPr/>
          <p:nvPr/>
        </p:nvCxnSpPr>
        <p:spPr>
          <a:xfrm>
            <a:off x="3767005" y="743546"/>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169FFA62-1731-746A-EA32-478ADC5812A6}"/>
              </a:ext>
            </a:extLst>
          </p:cNvPr>
          <p:cNvSpPr/>
          <p:nvPr/>
        </p:nvSpPr>
        <p:spPr>
          <a:xfrm>
            <a:off x="4100491" y="767464"/>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08DBB5CE-65C7-DD96-6DF5-35B9DF11FB21}"/>
              </a:ext>
            </a:extLst>
          </p:cNvPr>
          <p:cNvCxnSpPr/>
          <p:nvPr/>
        </p:nvCxnSpPr>
        <p:spPr>
          <a:xfrm>
            <a:off x="8769307" y="743546"/>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2199976D-7EAC-9F85-3208-6C6E2935FC82}"/>
              </a:ext>
            </a:extLst>
          </p:cNvPr>
          <p:cNvSpPr/>
          <p:nvPr/>
        </p:nvSpPr>
        <p:spPr>
          <a:xfrm>
            <a:off x="8880469" y="767464"/>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5B9B8FD4-2BAA-F72B-168E-F71E8387A3BB}"/>
              </a:ext>
            </a:extLst>
          </p:cNvPr>
          <p:cNvCxnSpPr/>
          <p:nvPr/>
        </p:nvCxnSpPr>
        <p:spPr>
          <a:xfrm>
            <a:off x="9880929" y="743546"/>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8BBFB838-C6C7-C704-345A-B71CBC902AAE}"/>
              </a:ext>
            </a:extLst>
          </p:cNvPr>
          <p:cNvSpPr/>
          <p:nvPr/>
        </p:nvSpPr>
        <p:spPr>
          <a:xfrm>
            <a:off x="10047672" y="767464"/>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6D1A9D61-D819-DEA1-8BAD-24B28B5A26AB}"/>
              </a:ext>
            </a:extLst>
          </p:cNvPr>
          <p:cNvPicPr/>
          <p:nvPr/>
        </p:nvPicPr>
        <p:blipFill>
          <a:blip r:embed="rId2"/>
          <a:srcRect/>
          <a:stretch/>
        </p:blipFill>
        <p:spPr>
          <a:xfrm>
            <a:off x="546549" y="1066627"/>
            <a:ext cx="438150" cy="438150"/>
          </a:xfrm>
          <a:prstGeom prst="rect">
            <a:avLst/>
          </a:prstGeom>
        </p:spPr>
      </p:pic>
      <p:sp>
        <p:nvSpPr>
          <p:cNvPr id="12" name="Shape">
            <a:extLst>
              <a:ext uri="{FF2B5EF4-FFF2-40B4-BE49-F238E27FC236}">
                <a16:creationId xmlns:a16="http://schemas.microsoft.com/office/drawing/2014/main" id="{21F03CD7-63D6-7F05-61E7-D053E916BBE0}"/>
              </a:ext>
            </a:extLst>
          </p:cNvPr>
          <p:cNvSpPr/>
          <p:nvPr/>
        </p:nvSpPr>
        <p:spPr>
          <a:xfrm>
            <a:off x="1121343" y="1103920"/>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By FAST COMPANY STAFF</a:t>
            </a:r>
            <a:endParaRPr/>
          </a:p>
        </p:txBody>
      </p:sp>
      <p:sp>
        <p:nvSpPr>
          <p:cNvPr id="13" name="Shape">
            <a:extLst>
              <a:ext uri="{FF2B5EF4-FFF2-40B4-BE49-F238E27FC236}">
                <a16:creationId xmlns:a16="http://schemas.microsoft.com/office/drawing/2014/main" id="{A0C7CCB2-3135-115F-BEFE-4AF9F1819004}"/>
              </a:ext>
            </a:extLst>
          </p:cNvPr>
          <p:cNvSpPr/>
          <p:nvPr/>
        </p:nvSpPr>
        <p:spPr>
          <a:xfrm>
            <a:off x="1121343" y="1384166"/>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3"/>
              </a:rPr>
              <a:t>fastcompanyme.com</a:t>
            </a:r>
            <a:endParaRPr/>
          </a:p>
        </p:txBody>
      </p:sp>
      <p:sp>
        <p:nvSpPr>
          <p:cNvPr id="14" name="Shape">
            <a:extLst>
              <a:ext uri="{FF2B5EF4-FFF2-40B4-BE49-F238E27FC236}">
                <a16:creationId xmlns:a16="http://schemas.microsoft.com/office/drawing/2014/main" id="{73ED9348-13E3-331B-BAFA-8773140BE2A8}"/>
              </a:ext>
            </a:extLst>
          </p:cNvPr>
          <p:cNvSpPr/>
          <p:nvPr/>
        </p:nvSpPr>
        <p:spPr>
          <a:xfrm>
            <a:off x="598880" y="1618968"/>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4"/>
              </a:rPr>
              <a:t>11/03/26 10:42</a:t>
            </a:r>
            <a:r>
              <a:t> | </a:t>
            </a:r>
            <a:r>
              <a:rPr lang="en" b="0" i="0"/>
              <a:t>United Arab Emirates</a:t>
            </a:r>
            <a:endParaRPr/>
          </a:p>
        </p:txBody>
      </p:sp>
      <p:sp>
        <p:nvSpPr>
          <p:cNvPr id="15" name="Shape">
            <a:extLst>
              <a:ext uri="{FF2B5EF4-FFF2-40B4-BE49-F238E27FC236}">
                <a16:creationId xmlns:a16="http://schemas.microsoft.com/office/drawing/2014/main" id="{F489415D-4D3E-C2F2-D9D1-90227976FE8A}"/>
              </a:ext>
            </a:extLst>
          </p:cNvPr>
          <p:cNvSpPr/>
          <p:nvPr/>
        </p:nvSpPr>
        <p:spPr>
          <a:xfrm>
            <a:off x="3912905" y="1044083"/>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4"/>
              </a:rPr>
              <a:t>Retail in the Middle East is b...</a:t>
            </a:r>
            <a:endParaRPr/>
          </a:p>
        </p:txBody>
      </p:sp>
      <p:sp>
        <p:nvSpPr>
          <p:cNvPr id="16" name="Shape">
            <a:extLst>
              <a:ext uri="{FF2B5EF4-FFF2-40B4-BE49-F238E27FC236}">
                <a16:creationId xmlns:a16="http://schemas.microsoft.com/office/drawing/2014/main" id="{AC75F331-1F38-11AF-0952-BEF9D910C0F6}"/>
              </a:ext>
            </a:extLst>
          </p:cNvPr>
          <p:cNvSpPr/>
          <p:nvPr/>
        </p:nvSpPr>
        <p:spPr>
          <a:xfrm>
            <a:off x="3933748" y="1289488"/>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Polo Assn., G2000, and Miriade, and operates community malls such as Lamcy Plaza and Arabian Center in Dubai. Hesham Al Amoudi, Group CEO, KOJ Group Hesham Al Amoudi serves as Group Chief Executive Officer of Kamal Osman...</a:t>
            </a:r>
            <a:endParaRPr/>
          </a:p>
        </p:txBody>
      </p:sp>
      <p:pic>
        <p:nvPicPr>
          <p:cNvPr id="17" name="Picture">
            <a:hlinkClick r:id="rId5"/>
            <a:extLst>
              <a:ext uri="{FF2B5EF4-FFF2-40B4-BE49-F238E27FC236}">
                <a16:creationId xmlns:a16="http://schemas.microsoft.com/office/drawing/2014/main" id="{B86E433A-B045-231A-E809-3B62E9DED90A}"/>
              </a:ext>
            </a:extLst>
          </p:cNvPr>
          <p:cNvPicPr/>
          <p:nvPr/>
        </p:nvPicPr>
        <p:blipFill>
          <a:blip r:embed="rId6"/>
          <a:srcRect/>
          <a:stretch/>
        </p:blipFill>
        <p:spPr>
          <a:xfrm>
            <a:off x="7245027" y="1046662"/>
            <a:ext cx="1381125" cy="781050"/>
          </a:xfrm>
          <a:prstGeom prst="rect">
            <a:avLst/>
          </a:prstGeom>
        </p:spPr>
      </p:pic>
      <p:sp>
        <p:nvSpPr>
          <p:cNvPr id="18" name="Shape">
            <a:extLst>
              <a:ext uri="{FF2B5EF4-FFF2-40B4-BE49-F238E27FC236}">
                <a16:creationId xmlns:a16="http://schemas.microsoft.com/office/drawing/2014/main" id="{86704F98-A940-2A4F-D3D6-BE52DF62E7BD}"/>
              </a:ext>
            </a:extLst>
          </p:cNvPr>
          <p:cNvSpPr/>
          <p:nvPr/>
        </p:nvSpPr>
        <p:spPr>
          <a:xfrm>
            <a:off x="8769307" y="1255404"/>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19" name="Shape">
            <a:extLst>
              <a:ext uri="{FF2B5EF4-FFF2-40B4-BE49-F238E27FC236}">
                <a16:creationId xmlns:a16="http://schemas.microsoft.com/office/drawing/2014/main" id="{03B6CBA3-0789-D8F2-B255-C5417AD9A7CC}"/>
              </a:ext>
            </a:extLst>
          </p:cNvPr>
          <p:cNvSpPr/>
          <p:nvPr/>
        </p:nvSpPr>
        <p:spPr>
          <a:xfrm>
            <a:off x="8769307" y="1255404"/>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20" name="Shape">
            <a:extLst>
              <a:ext uri="{FF2B5EF4-FFF2-40B4-BE49-F238E27FC236}">
                <a16:creationId xmlns:a16="http://schemas.microsoft.com/office/drawing/2014/main" id="{0013401F-E508-3D7D-5FAB-03767EBFD0E1}"/>
              </a:ext>
            </a:extLst>
          </p:cNvPr>
          <p:cNvSpPr/>
          <p:nvPr/>
        </p:nvSpPr>
        <p:spPr>
          <a:xfrm>
            <a:off x="10047672" y="997880"/>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4B1C644C-A763-7684-0EFE-49AA4B323DCF}"/>
              </a:ext>
            </a:extLst>
          </p:cNvPr>
          <p:cNvCxnSpPr/>
          <p:nvPr/>
        </p:nvCxnSpPr>
        <p:spPr>
          <a:xfrm>
            <a:off x="432137" y="1891642"/>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ADE86DFA-40A1-FDD6-8902-E264B8691E97}"/>
              </a:ext>
            </a:extLst>
          </p:cNvPr>
          <p:cNvPicPr/>
          <p:nvPr/>
        </p:nvPicPr>
        <p:blipFill>
          <a:blip r:embed="rId2"/>
          <a:srcRect/>
          <a:stretch/>
        </p:blipFill>
        <p:spPr>
          <a:xfrm>
            <a:off x="546549" y="1975537"/>
            <a:ext cx="438150" cy="438150"/>
          </a:xfrm>
          <a:prstGeom prst="rect">
            <a:avLst/>
          </a:prstGeom>
        </p:spPr>
      </p:pic>
      <p:sp>
        <p:nvSpPr>
          <p:cNvPr id="23" name="Shape">
            <a:extLst>
              <a:ext uri="{FF2B5EF4-FFF2-40B4-BE49-F238E27FC236}">
                <a16:creationId xmlns:a16="http://schemas.microsoft.com/office/drawing/2014/main" id="{8A6CBC53-7A6C-6A6C-CF78-DD55E5F027CD}"/>
              </a:ext>
            </a:extLst>
          </p:cNvPr>
          <p:cNvSpPr/>
          <p:nvPr/>
        </p:nvSpPr>
        <p:spPr>
          <a:xfrm>
            <a:off x="1121343" y="2012830"/>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Staff Reporter</a:t>
            </a:r>
            <a:endParaRPr/>
          </a:p>
        </p:txBody>
      </p:sp>
      <p:sp>
        <p:nvSpPr>
          <p:cNvPr id="24" name="Shape">
            <a:extLst>
              <a:ext uri="{FF2B5EF4-FFF2-40B4-BE49-F238E27FC236}">
                <a16:creationId xmlns:a16="http://schemas.microsoft.com/office/drawing/2014/main" id="{DF4F1A9B-2682-0199-CFC8-EFD83A35DAC9}"/>
              </a:ext>
            </a:extLst>
          </p:cNvPr>
          <p:cNvSpPr/>
          <p:nvPr/>
        </p:nvSpPr>
        <p:spPr>
          <a:xfrm>
            <a:off x="1121343" y="2293076"/>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7"/>
              </a:rPr>
              <a:t>dubainewsweek.com</a:t>
            </a:r>
            <a:endParaRPr/>
          </a:p>
        </p:txBody>
      </p:sp>
      <p:sp>
        <p:nvSpPr>
          <p:cNvPr id="25" name="Shape">
            <a:extLst>
              <a:ext uri="{FF2B5EF4-FFF2-40B4-BE49-F238E27FC236}">
                <a16:creationId xmlns:a16="http://schemas.microsoft.com/office/drawing/2014/main" id="{AA415866-BB0A-E059-D6A6-EF2B8EDF320A}"/>
              </a:ext>
            </a:extLst>
          </p:cNvPr>
          <p:cNvSpPr/>
          <p:nvPr/>
        </p:nvSpPr>
        <p:spPr>
          <a:xfrm>
            <a:off x="598880" y="2527878"/>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8"/>
              </a:rPr>
              <a:t>11/03/26 11:28</a:t>
            </a:r>
            <a:r>
              <a:t> | </a:t>
            </a:r>
            <a:r>
              <a:rPr lang="en" b="0" i="0"/>
              <a:t>United States</a:t>
            </a:r>
            <a:endParaRPr/>
          </a:p>
        </p:txBody>
      </p:sp>
      <p:sp>
        <p:nvSpPr>
          <p:cNvPr id="26" name="Shape">
            <a:extLst>
              <a:ext uri="{FF2B5EF4-FFF2-40B4-BE49-F238E27FC236}">
                <a16:creationId xmlns:a16="http://schemas.microsoft.com/office/drawing/2014/main" id="{F973C4B8-FC0E-9A1A-EABA-1922B7D4A59A}"/>
              </a:ext>
            </a:extLst>
          </p:cNvPr>
          <p:cNvSpPr/>
          <p:nvPr/>
        </p:nvSpPr>
        <p:spPr>
          <a:xfrm>
            <a:off x="3912905" y="1952993"/>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8"/>
              </a:rPr>
              <a:t>Dubai Eid shopping campaign...</a:t>
            </a:r>
            <a:endParaRPr/>
          </a:p>
        </p:txBody>
      </p:sp>
      <p:sp>
        <p:nvSpPr>
          <p:cNvPr id="27" name="Shape">
            <a:extLst>
              <a:ext uri="{FF2B5EF4-FFF2-40B4-BE49-F238E27FC236}">
                <a16:creationId xmlns:a16="http://schemas.microsoft.com/office/drawing/2014/main" id="{D7D12C1A-A1D7-D26F-FB85-CE483A97E100}"/>
              </a:ext>
            </a:extLst>
          </p:cNvPr>
          <p:cNvSpPr/>
          <p:nvPr/>
        </p:nvSpPr>
        <p:spPr>
          <a:xfrm>
            <a:off x="3933748" y="2198398"/>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...community centres in Dubai, including Al Ghurair Centre, Silicon Central, Bay Avenue, Arabian Center, and Dubai Festival Plaza. Other participating locations include Al Khail Gate Community Centre, Shorooq Community Centre, ...</a:t>
            </a:r>
            <a:endParaRPr/>
          </a:p>
        </p:txBody>
      </p:sp>
      <p:pic>
        <p:nvPicPr>
          <p:cNvPr id="28" name="Picture">
            <a:hlinkClick r:id="rId9"/>
            <a:extLst>
              <a:ext uri="{FF2B5EF4-FFF2-40B4-BE49-F238E27FC236}">
                <a16:creationId xmlns:a16="http://schemas.microsoft.com/office/drawing/2014/main" id="{7E82B48D-B534-144A-7371-12453E23EAC6}"/>
              </a:ext>
            </a:extLst>
          </p:cNvPr>
          <p:cNvPicPr/>
          <p:nvPr/>
        </p:nvPicPr>
        <p:blipFill>
          <a:blip r:embed="rId10"/>
          <a:srcRect/>
          <a:stretch/>
        </p:blipFill>
        <p:spPr>
          <a:xfrm>
            <a:off x="7545065" y="1955572"/>
            <a:ext cx="781050" cy="781050"/>
          </a:xfrm>
          <a:prstGeom prst="rect">
            <a:avLst/>
          </a:prstGeom>
        </p:spPr>
      </p:pic>
      <p:sp>
        <p:nvSpPr>
          <p:cNvPr id="29" name="Shape">
            <a:extLst>
              <a:ext uri="{FF2B5EF4-FFF2-40B4-BE49-F238E27FC236}">
                <a16:creationId xmlns:a16="http://schemas.microsoft.com/office/drawing/2014/main" id="{D132DEE6-FA7E-69F2-585E-9F47B710DCFC}"/>
              </a:ext>
            </a:extLst>
          </p:cNvPr>
          <p:cNvSpPr/>
          <p:nvPr/>
        </p:nvSpPr>
        <p:spPr>
          <a:xfrm>
            <a:off x="8769307" y="216431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5B8FE6C2-FF7A-F3D4-F480-00CEBDF7A422}"/>
              </a:ext>
            </a:extLst>
          </p:cNvPr>
          <p:cNvSpPr/>
          <p:nvPr/>
        </p:nvSpPr>
        <p:spPr>
          <a:xfrm>
            <a:off x="8769307" y="216431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573E6D71-15C0-D0FA-4764-F56AC829198D}"/>
              </a:ext>
            </a:extLst>
          </p:cNvPr>
          <p:cNvSpPr/>
          <p:nvPr/>
        </p:nvSpPr>
        <p:spPr>
          <a:xfrm>
            <a:off x="10047672" y="1906790"/>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10AA0CBF-03E9-3148-9487-4AB3C6FE6202}"/>
              </a:ext>
            </a:extLst>
          </p:cNvPr>
          <p:cNvCxnSpPr/>
          <p:nvPr/>
        </p:nvCxnSpPr>
        <p:spPr>
          <a:xfrm>
            <a:off x="432137" y="2800552"/>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409F3A1A-1200-9DE8-2E5A-92059174B237}"/>
              </a:ext>
            </a:extLst>
          </p:cNvPr>
          <p:cNvPicPr/>
          <p:nvPr/>
        </p:nvPicPr>
        <p:blipFill>
          <a:blip r:embed="rId2"/>
          <a:srcRect/>
          <a:stretch/>
        </p:blipFill>
        <p:spPr>
          <a:xfrm>
            <a:off x="546549" y="2884447"/>
            <a:ext cx="438150" cy="438150"/>
          </a:xfrm>
          <a:prstGeom prst="rect">
            <a:avLst/>
          </a:prstGeom>
        </p:spPr>
      </p:pic>
      <p:sp>
        <p:nvSpPr>
          <p:cNvPr id="34" name="Shape">
            <a:extLst>
              <a:ext uri="{FF2B5EF4-FFF2-40B4-BE49-F238E27FC236}">
                <a16:creationId xmlns:a16="http://schemas.microsoft.com/office/drawing/2014/main" id="{E3333F55-7F93-FFE1-2199-50CE1691563E}"/>
              </a:ext>
            </a:extLst>
          </p:cNvPr>
          <p:cNvSpPr/>
          <p:nvPr/>
        </p:nvSpPr>
        <p:spPr>
          <a:xfrm>
            <a:off x="1121343" y="2921740"/>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alảrbʿaʾ sbahaan</a:t>
            </a:r>
            <a:endParaRPr/>
          </a:p>
        </p:txBody>
      </p:sp>
      <p:sp>
        <p:nvSpPr>
          <p:cNvPr id="35" name="Shape">
            <a:extLst>
              <a:ext uri="{FF2B5EF4-FFF2-40B4-BE49-F238E27FC236}">
                <a16:creationId xmlns:a16="http://schemas.microsoft.com/office/drawing/2014/main" id="{DBE5E73B-DD4C-0021-512D-5AFB5B2A0BF2}"/>
              </a:ext>
            </a:extLst>
          </p:cNvPr>
          <p:cNvSpPr/>
          <p:nvPr/>
        </p:nvSpPr>
        <p:spPr>
          <a:xfrm>
            <a:off x="1121343" y="3201986"/>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1"/>
              </a:rPr>
              <a:t>masralyoum.news</a:t>
            </a:r>
            <a:endParaRPr/>
          </a:p>
        </p:txBody>
      </p:sp>
      <p:sp>
        <p:nvSpPr>
          <p:cNvPr id="36" name="Shape">
            <a:extLst>
              <a:ext uri="{FF2B5EF4-FFF2-40B4-BE49-F238E27FC236}">
                <a16:creationId xmlns:a16="http://schemas.microsoft.com/office/drawing/2014/main" id="{49F1BB2D-243D-309A-A035-61E77064434A}"/>
              </a:ext>
            </a:extLst>
          </p:cNvPr>
          <p:cNvSpPr/>
          <p:nvPr/>
        </p:nvSpPr>
        <p:spPr>
          <a:xfrm>
            <a:off x="598880" y="3436788"/>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2"/>
              </a:rPr>
              <a:t>11/03/26 12:14</a:t>
            </a:r>
            <a:r>
              <a:t> | </a:t>
            </a:r>
            <a:r>
              <a:rPr lang="ar" b="0" i="0"/>
              <a:t>Egypt</a:t>
            </a:r>
            <a:endParaRPr/>
          </a:p>
        </p:txBody>
      </p:sp>
      <p:sp>
        <p:nvSpPr>
          <p:cNvPr id="37" name="Shape">
            <a:extLst>
              <a:ext uri="{FF2B5EF4-FFF2-40B4-BE49-F238E27FC236}">
                <a16:creationId xmlns:a16="http://schemas.microsoft.com/office/drawing/2014/main" id="{AF6698D3-B72F-47AF-01A2-2ACA4F644429}"/>
              </a:ext>
            </a:extLst>
          </p:cNvPr>
          <p:cNvSpPr/>
          <p:nvPr/>
        </p:nvSpPr>
        <p:spPr>
          <a:xfrm>
            <a:off x="3912905" y="2861903"/>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12"/>
              </a:rPr>
              <a:t>200 ألف درهم «عيديات» لمتسوقي...</a:t>
            </a:r>
            <a:endParaRPr/>
          </a:p>
        </p:txBody>
      </p:sp>
      <p:sp>
        <p:nvSpPr>
          <p:cNvPr id="38" name="Shape">
            <a:extLst>
              <a:ext uri="{FF2B5EF4-FFF2-40B4-BE49-F238E27FC236}">
                <a16:creationId xmlns:a16="http://schemas.microsoft.com/office/drawing/2014/main" id="{34AAE5D0-EE7A-B8C7-008F-367D020E2B83}"/>
              </a:ext>
            </a:extLst>
          </p:cNvPr>
          <p:cNvSpPr/>
          <p:nvPr/>
        </p:nvSpPr>
        <p:spPr>
          <a:xfrm>
            <a:off x="3933748" y="3107308"/>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وجهات تجارية تقام الحملة في عدد من الوجهات التجارية والمجتمعية في دبي، من بينها الغرير سنتر، سيليكون سنترال، باي أفينيو، أرابيان سنتر، دبي فستيفال بلازا، مركز بوابة الخيل المجتمعي، مركز شروق المجتمعي، مركز سيرينا المجتمعي، مركز فيلانوفا المجتمعي،...</a:t>
            </a:r>
            <a:endParaRPr/>
          </a:p>
        </p:txBody>
      </p:sp>
      <p:pic>
        <p:nvPicPr>
          <p:cNvPr id="39" name="Picture">
            <a:hlinkClick r:id="rId13"/>
            <a:extLst>
              <a:ext uri="{FF2B5EF4-FFF2-40B4-BE49-F238E27FC236}">
                <a16:creationId xmlns:a16="http://schemas.microsoft.com/office/drawing/2014/main" id="{1F6ECAE5-D96C-42AD-37E0-CA419C65D939}"/>
              </a:ext>
            </a:extLst>
          </p:cNvPr>
          <p:cNvPicPr/>
          <p:nvPr/>
        </p:nvPicPr>
        <p:blipFill>
          <a:blip r:embed="rId14"/>
          <a:srcRect/>
          <a:stretch/>
        </p:blipFill>
        <p:spPr>
          <a:xfrm>
            <a:off x="7240265" y="2864482"/>
            <a:ext cx="1390650" cy="781050"/>
          </a:xfrm>
          <a:prstGeom prst="rect">
            <a:avLst/>
          </a:prstGeom>
        </p:spPr>
      </p:pic>
      <p:sp>
        <p:nvSpPr>
          <p:cNvPr id="40" name="Shape">
            <a:extLst>
              <a:ext uri="{FF2B5EF4-FFF2-40B4-BE49-F238E27FC236}">
                <a16:creationId xmlns:a16="http://schemas.microsoft.com/office/drawing/2014/main" id="{050CA858-F8DC-72B8-859F-305591620CFD}"/>
              </a:ext>
            </a:extLst>
          </p:cNvPr>
          <p:cNvSpPr/>
          <p:nvPr/>
        </p:nvSpPr>
        <p:spPr>
          <a:xfrm>
            <a:off x="8769307" y="307322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B1463E46-EEBD-BAA3-A69A-E421C5D73786}"/>
              </a:ext>
            </a:extLst>
          </p:cNvPr>
          <p:cNvSpPr/>
          <p:nvPr/>
        </p:nvSpPr>
        <p:spPr>
          <a:xfrm>
            <a:off x="8769307" y="307322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DDBD41E6-A9A3-946B-9639-2E258FE96584}"/>
              </a:ext>
            </a:extLst>
          </p:cNvPr>
          <p:cNvSpPr/>
          <p:nvPr/>
        </p:nvSpPr>
        <p:spPr>
          <a:xfrm>
            <a:off x="10047672" y="2815700"/>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30C901E5-2921-5130-65AF-7F59481B67D9}"/>
              </a:ext>
            </a:extLst>
          </p:cNvPr>
          <p:cNvCxnSpPr/>
          <p:nvPr/>
        </p:nvCxnSpPr>
        <p:spPr>
          <a:xfrm>
            <a:off x="432137" y="3709462"/>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4CD7A510-A6F8-230C-9A18-F681594AFE61}"/>
              </a:ext>
            </a:extLst>
          </p:cNvPr>
          <p:cNvPicPr/>
          <p:nvPr/>
        </p:nvPicPr>
        <p:blipFill>
          <a:blip r:embed="rId15"/>
          <a:srcRect/>
          <a:stretch/>
        </p:blipFill>
        <p:spPr>
          <a:xfrm>
            <a:off x="546549" y="3955282"/>
            <a:ext cx="438150" cy="114300"/>
          </a:xfrm>
          <a:prstGeom prst="rect">
            <a:avLst/>
          </a:prstGeom>
        </p:spPr>
      </p:pic>
      <p:sp>
        <p:nvSpPr>
          <p:cNvPr id="45" name="Shape">
            <a:extLst>
              <a:ext uri="{FF2B5EF4-FFF2-40B4-BE49-F238E27FC236}">
                <a16:creationId xmlns:a16="http://schemas.microsoft.com/office/drawing/2014/main" id="{095C2768-863F-7E4A-67EB-5D6796D9E3F5}"/>
              </a:ext>
            </a:extLst>
          </p:cNvPr>
          <p:cNvSpPr/>
          <p:nvPr/>
        </p:nvSpPr>
        <p:spPr>
          <a:xfrm>
            <a:off x="1121343" y="3830650"/>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admin</a:t>
            </a:r>
            <a:endParaRPr/>
          </a:p>
        </p:txBody>
      </p:sp>
      <p:sp>
        <p:nvSpPr>
          <p:cNvPr id="46" name="Shape">
            <a:extLst>
              <a:ext uri="{FF2B5EF4-FFF2-40B4-BE49-F238E27FC236}">
                <a16:creationId xmlns:a16="http://schemas.microsoft.com/office/drawing/2014/main" id="{3F920846-DAC2-5F5D-9AA1-FA2CC5CB55DD}"/>
              </a:ext>
            </a:extLst>
          </p:cNvPr>
          <p:cNvSpPr/>
          <p:nvPr/>
        </p:nvSpPr>
        <p:spPr>
          <a:xfrm>
            <a:off x="1121343" y="4110896"/>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6"/>
              </a:rPr>
              <a:t>dubaishoppingguide.com</a:t>
            </a:r>
            <a:endParaRPr/>
          </a:p>
        </p:txBody>
      </p:sp>
      <p:sp>
        <p:nvSpPr>
          <p:cNvPr id="47" name="Shape">
            <a:extLst>
              <a:ext uri="{FF2B5EF4-FFF2-40B4-BE49-F238E27FC236}">
                <a16:creationId xmlns:a16="http://schemas.microsoft.com/office/drawing/2014/main" id="{38368DBC-AAEC-7F98-38E6-A5537A393695}"/>
              </a:ext>
            </a:extLst>
          </p:cNvPr>
          <p:cNvSpPr/>
          <p:nvPr/>
        </p:nvSpPr>
        <p:spPr>
          <a:xfrm>
            <a:off x="598880" y="4345698"/>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7"/>
              </a:rPr>
              <a:t>11/03/26 12:52</a:t>
            </a:r>
            <a:r>
              <a:t> | </a:t>
            </a:r>
            <a:r>
              <a:rPr lang="en" b="0" i="0"/>
              <a:t>United Arab Emirates</a:t>
            </a:r>
            <a:endParaRPr/>
          </a:p>
        </p:txBody>
      </p:sp>
      <p:sp>
        <p:nvSpPr>
          <p:cNvPr id="48" name="Shape">
            <a:extLst>
              <a:ext uri="{FF2B5EF4-FFF2-40B4-BE49-F238E27FC236}">
                <a16:creationId xmlns:a16="http://schemas.microsoft.com/office/drawing/2014/main" id="{C7D81F9C-D671-8343-4CFD-062B40859D8A}"/>
              </a:ext>
            </a:extLst>
          </p:cNvPr>
          <p:cNvSpPr/>
          <p:nvPr/>
        </p:nvSpPr>
        <p:spPr>
          <a:xfrm>
            <a:off x="3912905" y="3770813"/>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7"/>
              </a:rPr>
              <a:t>Eid Shoppers In Dubai Can Win...</a:t>
            </a:r>
            <a:endParaRPr/>
          </a:p>
        </p:txBody>
      </p:sp>
      <p:sp>
        <p:nvSpPr>
          <p:cNvPr id="49" name="Shape">
            <a:extLst>
              <a:ext uri="{FF2B5EF4-FFF2-40B4-BE49-F238E27FC236}">
                <a16:creationId xmlns:a16="http://schemas.microsoft.com/office/drawing/2014/main" id="{64528C35-D857-E55C-F81B-641B616A803B}"/>
              </a:ext>
            </a:extLst>
          </p:cNvPr>
          <p:cNvSpPr/>
          <p:nvPr/>
        </p:nvSpPr>
        <p:spPr>
          <a:xfrm>
            <a:off x="3933748" y="4016218"/>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50" name="Picture">
            <a:hlinkClick r:id="rId18"/>
            <a:extLst>
              <a:ext uri="{FF2B5EF4-FFF2-40B4-BE49-F238E27FC236}">
                <a16:creationId xmlns:a16="http://schemas.microsoft.com/office/drawing/2014/main" id="{C2882E13-3CB5-D22E-D1E7-568B73D5E985}"/>
              </a:ext>
            </a:extLst>
          </p:cNvPr>
          <p:cNvPicPr/>
          <p:nvPr/>
        </p:nvPicPr>
        <p:blipFill>
          <a:blip r:embed="rId19"/>
          <a:srcRect/>
          <a:stretch/>
        </p:blipFill>
        <p:spPr>
          <a:xfrm>
            <a:off x="7678415" y="3773392"/>
            <a:ext cx="514350" cy="781050"/>
          </a:xfrm>
          <a:prstGeom prst="rect">
            <a:avLst/>
          </a:prstGeom>
        </p:spPr>
      </p:pic>
      <p:sp>
        <p:nvSpPr>
          <p:cNvPr id="51" name="Shape">
            <a:extLst>
              <a:ext uri="{FF2B5EF4-FFF2-40B4-BE49-F238E27FC236}">
                <a16:creationId xmlns:a16="http://schemas.microsoft.com/office/drawing/2014/main" id="{DBEDB16A-76CF-AA74-A930-F8E979537135}"/>
              </a:ext>
            </a:extLst>
          </p:cNvPr>
          <p:cNvSpPr/>
          <p:nvPr/>
        </p:nvSpPr>
        <p:spPr>
          <a:xfrm>
            <a:off x="8769307" y="398213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EB7888E0-856A-4B44-A12E-ADC6D4E21CA1}"/>
              </a:ext>
            </a:extLst>
          </p:cNvPr>
          <p:cNvSpPr/>
          <p:nvPr/>
        </p:nvSpPr>
        <p:spPr>
          <a:xfrm>
            <a:off x="8769307" y="398213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788EBC1B-AA45-4321-3FA5-C098822BC991}"/>
              </a:ext>
            </a:extLst>
          </p:cNvPr>
          <p:cNvSpPr/>
          <p:nvPr/>
        </p:nvSpPr>
        <p:spPr>
          <a:xfrm>
            <a:off x="10047672" y="3724610"/>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AA39E371-DF1A-E765-9BFE-8D6CDC8327BD}"/>
              </a:ext>
            </a:extLst>
          </p:cNvPr>
          <p:cNvCxnSpPr/>
          <p:nvPr/>
        </p:nvCxnSpPr>
        <p:spPr>
          <a:xfrm>
            <a:off x="432137" y="4618372"/>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8129738E-FF02-53EB-89F2-65CCB6513A21}"/>
              </a:ext>
            </a:extLst>
          </p:cNvPr>
          <p:cNvPicPr/>
          <p:nvPr/>
        </p:nvPicPr>
        <p:blipFill>
          <a:blip r:embed="rId2"/>
          <a:srcRect/>
          <a:stretch/>
        </p:blipFill>
        <p:spPr>
          <a:xfrm>
            <a:off x="546549" y="4702267"/>
            <a:ext cx="438150" cy="438150"/>
          </a:xfrm>
          <a:prstGeom prst="rect">
            <a:avLst/>
          </a:prstGeom>
        </p:spPr>
      </p:pic>
      <p:sp>
        <p:nvSpPr>
          <p:cNvPr id="56" name="Shape">
            <a:extLst>
              <a:ext uri="{FF2B5EF4-FFF2-40B4-BE49-F238E27FC236}">
                <a16:creationId xmlns:a16="http://schemas.microsoft.com/office/drawing/2014/main" id="{6F64C270-F90C-0039-56C3-83194370C707}"/>
              </a:ext>
            </a:extLst>
          </p:cNvPr>
          <p:cNvSpPr/>
          <p:nvPr/>
        </p:nvSpPr>
        <p:spPr>
          <a:xfrm>
            <a:off x="1121343" y="4739560"/>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admin</a:t>
            </a:r>
            <a:endParaRPr/>
          </a:p>
        </p:txBody>
      </p:sp>
      <p:sp>
        <p:nvSpPr>
          <p:cNvPr id="57" name="Shape">
            <a:extLst>
              <a:ext uri="{FF2B5EF4-FFF2-40B4-BE49-F238E27FC236}">
                <a16:creationId xmlns:a16="http://schemas.microsoft.com/office/drawing/2014/main" id="{E30461CC-36A4-4B0B-851D-9953D915499B}"/>
              </a:ext>
            </a:extLst>
          </p:cNvPr>
          <p:cNvSpPr/>
          <p:nvPr/>
        </p:nvSpPr>
        <p:spPr>
          <a:xfrm>
            <a:off x="1121343" y="5019806"/>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20"/>
              </a:rPr>
              <a:t>almadarmagazine.ae</a:t>
            </a:r>
            <a:endParaRPr/>
          </a:p>
        </p:txBody>
      </p:sp>
      <p:sp>
        <p:nvSpPr>
          <p:cNvPr id="58" name="Shape">
            <a:extLst>
              <a:ext uri="{FF2B5EF4-FFF2-40B4-BE49-F238E27FC236}">
                <a16:creationId xmlns:a16="http://schemas.microsoft.com/office/drawing/2014/main" id="{F4449C1B-9341-692D-E7C4-2E935A362F51}"/>
              </a:ext>
            </a:extLst>
          </p:cNvPr>
          <p:cNvSpPr/>
          <p:nvPr/>
        </p:nvSpPr>
        <p:spPr>
          <a:xfrm>
            <a:off x="598880" y="5254608"/>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21"/>
              </a:rPr>
              <a:t>11/03/26 13:02</a:t>
            </a:r>
            <a:r>
              <a:t> | </a:t>
            </a:r>
            <a:r>
              <a:rPr lang="ar" b="0" i="0"/>
              <a:t>United Arab Emirates</a:t>
            </a:r>
            <a:endParaRPr/>
          </a:p>
        </p:txBody>
      </p:sp>
      <p:sp>
        <p:nvSpPr>
          <p:cNvPr id="59" name="Shape">
            <a:extLst>
              <a:ext uri="{FF2B5EF4-FFF2-40B4-BE49-F238E27FC236}">
                <a16:creationId xmlns:a16="http://schemas.microsoft.com/office/drawing/2014/main" id="{152A2AFF-6112-148C-0765-24618910459F}"/>
              </a:ext>
            </a:extLst>
          </p:cNvPr>
          <p:cNvSpPr/>
          <p:nvPr/>
        </p:nvSpPr>
        <p:spPr>
          <a:xfrm>
            <a:off x="3912905" y="4679723"/>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21"/>
              </a:rPr>
              <a:t>جوائز نقدية بقيمة 200 ألف درهم...</a:t>
            </a:r>
            <a:endParaRPr/>
          </a:p>
        </p:txBody>
      </p:sp>
      <p:sp>
        <p:nvSpPr>
          <p:cNvPr id="60" name="Shape">
            <a:extLst>
              <a:ext uri="{FF2B5EF4-FFF2-40B4-BE49-F238E27FC236}">
                <a16:creationId xmlns:a16="http://schemas.microsoft.com/office/drawing/2014/main" id="{C35121A6-2151-15D5-7519-CB35899EB5C2}"/>
              </a:ext>
            </a:extLst>
          </p:cNvPr>
          <p:cNvSpPr/>
          <p:nvPr/>
        </p:nvSpPr>
        <p:spPr>
          <a:xfrm>
            <a:off x="3933748" y="4925128"/>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وتقام الحملة في عدد من الوجهات التجارية والمجتمعية في دبي، من بينها الغرير سنتر، سيليكون سنترال، باي أفينيو، أرابيان سنتر، دبي فستيفال بلازا، مركز بوابة الخيل المجتمعي، مركز شروق المجتمعي، مركز سيرينا المجتمعي، مركز فيلانوفا المجتمعي، ومركز مدن...</a:t>
            </a:r>
            <a:endParaRPr/>
          </a:p>
        </p:txBody>
      </p:sp>
      <p:pic>
        <p:nvPicPr>
          <p:cNvPr id="61" name="Picture">
            <a:hlinkClick r:id="rId21"/>
            <a:extLst>
              <a:ext uri="{FF2B5EF4-FFF2-40B4-BE49-F238E27FC236}">
                <a16:creationId xmlns:a16="http://schemas.microsoft.com/office/drawing/2014/main" id="{3DA37558-3044-EFFD-FE89-99129712DFDE}"/>
              </a:ext>
            </a:extLst>
          </p:cNvPr>
          <p:cNvPicPr/>
          <p:nvPr/>
        </p:nvPicPr>
        <p:blipFill>
          <a:blip r:embed="rId22"/>
          <a:srcRect/>
          <a:stretch/>
        </p:blipFill>
        <p:spPr>
          <a:xfrm>
            <a:off x="7673652" y="4682302"/>
            <a:ext cx="523875" cy="781050"/>
          </a:xfrm>
          <a:prstGeom prst="rect">
            <a:avLst/>
          </a:prstGeom>
        </p:spPr>
      </p:pic>
      <p:sp>
        <p:nvSpPr>
          <p:cNvPr id="62" name="Shape">
            <a:extLst>
              <a:ext uri="{FF2B5EF4-FFF2-40B4-BE49-F238E27FC236}">
                <a16:creationId xmlns:a16="http://schemas.microsoft.com/office/drawing/2014/main" id="{958A3908-483F-9DE7-4311-2A7A44523BF5}"/>
              </a:ext>
            </a:extLst>
          </p:cNvPr>
          <p:cNvSpPr/>
          <p:nvPr/>
        </p:nvSpPr>
        <p:spPr>
          <a:xfrm>
            <a:off x="8769307" y="489104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04A4C9A2-FB52-CF14-812A-78FA268EB7CF}"/>
              </a:ext>
            </a:extLst>
          </p:cNvPr>
          <p:cNvSpPr/>
          <p:nvPr/>
        </p:nvSpPr>
        <p:spPr>
          <a:xfrm>
            <a:off x="8769307" y="4891044"/>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4" name="Shape">
            <a:extLst>
              <a:ext uri="{FF2B5EF4-FFF2-40B4-BE49-F238E27FC236}">
                <a16:creationId xmlns:a16="http://schemas.microsoft.com/office/drawing/2014/main" id="{15247F6E-1B32-D8FD-AFC9-70C425D20061}"/>
              </a:ext>
            </a:extLst>
          </p:cNvPr>
          <p:cNvSpPr/>
          <p:nvPr/>
        </p:nvSpPr>
        <p:spPr>
          <a:xfrm>
            <a:off x="10047672" y="4633520"/>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5" name="Line 200: (537882, 6316553) - (11654110, 6316553)">
            <a:extLst>
              <a:ext uri="{FF2B5EF4-FFF2-40B4-BE49-F238E27FC236}">
                <a16:creationId xmlns:a16="http://schemas.microsoft.com/office/drawing/2014/main" id="{C4B37BE7-D046-B9EF-7CC5-B952C78D2C43}"/>
              </a:ext>
            </a:extLst>
          </p:cNvPr>
          <p:cNvCxnSpPr/>
          <p:nvPr/>
        </p:nvCxnSpPr>
        <p:spPr>
          <a:xfrm>
            <a:off x="432137" y="5527282"/>
            <a:ext cx="11116228" cy="0"/>
          </a:xfrm>
          <a:prstGeom prst="line">
            <a:avLst/>
          </a:prstGeom>
          <a:ln w="12700">
            <a:solidFill>
              <a:srgbClr val="C7C7C7"/>
            </a:solidFill>
          </a:ln>
        </p:spPr>
      </p:cxnSp>
    </p:spTree>
    <p:extLst>
      <p:ext uri="{BB962C8B-B14F-4D97-AF65-F5344CB8AC3E}">
        <p14:creationId xmlns:p14="http://schemas.microsoft.com/office/powerpoint/2010/main" val="3500985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EC845-75D5-2D04-532A-1BDC9A02032C}"/>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991E6750-3166-CCF2-21DB-4C4EB6D21AC9}"/>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22F85578-ADAD-F999-82DD-12B71681DBB7}"/>
              </a:ext>
            </a:extLst>
          </p:cNvPr>
          <p:cNvCxnSpPr/>
          <p:nvPr/>
        </p:nvCxnSpPr>
        <p:spPr>
          <a:xfrm>
            <a:off x="432137" y="876853"/>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02FE3A76-E6EA-D26C-F15A-6066999215A4}"/>
              </a:ext>
            </a:extLst>
          </p:cNvPr>
          <p:cNvSpPr/>
          <p:nvPr/>
        </p:nvSpPr>
        <p:spPr>
          <a:xfrm>
            <a:off x="765623" y="661585"/>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819834E3-E3D3-638A-AE32-B8487DA7A5AE}"/>
              </a:ext>
            </a:extLst>
          </p:cNvPr>
          <p:cNvCxnSpPr/>
          <p:nvPr/>
        </p:nvCxnSpPr>
        <p:spPr>
          <a:xfrm>
            <a:off x="3767005" y="637667"/>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A27DA923-54EE-D5FB-3CAB-506C90D5AEC6}"/>
              </a:ext>
            </a:extLst>
          </p:cNvPr>
          <p:cNvSpPr/>
          <p:nvPr/>
        </p:nvSpPr>
        <p:spPr>
          <a:xfrm>
            <a:off x="4100491" y="661585"/>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D76743EA-9A9B-0CE9-EE48-6E1546DFA8AF}"/>
              </a:ext>
            </a:extLst>
          </p:cNvPr>
          <p:cNvCxnSpPr/>
          <p:nvPr/>
        </p:nvCxnSpPr>
        <p:spPr>
          <a:xfrm>
            <a:off x="8769307" y="637667"/>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3A7C8C26-B403-D647-2D8D-F40785C05288}"/>
              </a:ext>
            </a:extLst>
          </p:cNvPr>
          <p:cNvSpPr/>
          <p:nvPr/>
        </p:nvSpPr>
        <p:spPr>
          <a:xfrm>
            <a:off x="8880469" y="661585"/>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A13CD8BE-9742-EBB1-3CFC-DC06A486DE8B}"/>
              </a:ext>
            </a:extLst>
          </p:cNvPr>
          <p:cNvCxnSpPr/>
          <p:nvPr/>
        </p:nvCxnSpPr>
        <p:spPr>
          <a:xfrm>
            <a:off x="9880929" y="637667"/>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7803ECB4-262B-F0D1-B81F-54276B97554F}"/>
              </a:ext>
            </a:extLst>
          </p:cNvPr>
          <p:cNvSpPr/>
          <p:nvPr/>
        </p:nvSpPr>
        <p:spPr>
          <a:xfrm>
            <a:off x="10047672" y="661585"/>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62A23897-2A19-4876-972F-8BFB62F27CA4}"/>
              </a:ext>
            </a:extLst>
          </p:cNvPr>
          <p:cNvPicPr/>
          <p:nvPr/>
        </p:nvPicPr>
        <p:blipFill>
          <a:blip r:embed="rId2"/>
          <a:srcRect/>
          <a:stretch/>
        </p:blipFill>
        <p:spPr>
          <a:xfrm>
            <a:off x="546549" y="960748"/>
            <a:ext cx="438150" cy="438150"/>
          </a:xfrm>
          <a:prstGeom prst="rect">
            <a:avLst/>
          </a:prstGeom>
        </p:spPr>
      </p:pic>
      <p:sp>
        <p:nvSpPr>
          <p:cNvPr id="12" name="Shape">
            <a:extLst>
              <a:ext uri="{FF2B5EF4-FFF2-40B4-BE49-F238E27FC236}">
                <a16:creationId xmlns:a16="http://schemas.microsoft.com/office/drawing/2014/main" id="{E8D81545-E56F-8585-7BE6-53770CC43F54}"/>
              </a:ext>
            </a:extLst>
          </p:cNvPr>
          <p:cNvSpPr/>
          <p:nvPr/>
        </p:nvSpPr>
        <p:spPr>
          <a:xfrm>
            <a:off x="1121343" y="998041"/>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ashraf</a:t>
            </a:r>
            <a:endParaRPr/>
          </a:p>
        </p:txBody>
      </p:sp>
      <p:sp>
        <p:nvSpPr>
          <p:cNvPr id="13" name="Shape">
            <a:extLst>
              <a:ext uri="{FF2B5EF4-FFF2-40B4-BE49-F238E27FC236}">
                <a16:creationId xmlns:a16="http://schemas.microsoft.com/office/drawing/2014/main" id="{9500525D-0476-5118-3BEC-6E1A3AF051FF}"/>
              </a:ext>
            </a:extLst>
          </p:cNvPr>
          <p:cNvSpPr/>
          <p:nvPr/>
        </p:nvSpPr>
        <p:spPr>
          <a:xfrm>
            <a:off x="1121343" y="127828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3"/>
              </a:rPr>
              <a:t>arqam.news</a:t>
            </a:r>
            <a:endParaRPr/>
          </a:p>
        </p:txBody>
      </p:sp>
      <p:sp>
        <p:nvSpPr>
          <p:cNvPr id="14" name="Shape">
            <a:extLst>
              <a:ext uri="{FF2B5EF4-FFF2-40B4-BE49-F238E27FC236}">
                <a16:creationId xmlns:a16="http://schemas.microsoft.com/office/drawing/2014/main" id="{D0F149A7-E918-C132-D196-86D5DF3556AF}"/>
              </a:ext>
            </a:extLst>
          </p:cNvPr>
          <p:cNvSpPr/>
          <p:nvPr/>
        </p:nvSpPr>
        <p:spPr>
          <a:xfrm>
            <a:off x="598880" y="1513089"/>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4"/>
              </a:rPr>
              <a:t>11/03/26 14:07</a:t>
            </a:r>
            <a:r>
              <a:t> | </a:t>
            </a:r>
            <a:r>
              <a:rPr lang="ar" b="0" i="0"/>
              <a:t>Egypt</a:t>
            </a:r>
            <a:endParaRPr/>
          </a:p>
        </p:txBody>
      </p:sp>
      <p:sp>
        <p:nvSpPr>
          <p:cNvPr id="15" name="Shape">
            <a:extLst>
              <a:ext uri="{FF2B5EF4-FFF2-40B4-BE49-F238E27FC236}">
                <a16:creationId xmlns:a16="http://schemas.microsoft.com/office/drawing/2014/main" id="{48D88E7E-A45B-DEFD-6B14-6D4A4DA4E152}"/>
              </a:ext>
            </a:extLst>
          </p:cNvPr>
          <p:cNvSpPr/>
          <p:nvPr/>
        </p:nvSpPr>
        <p:spPr>
          <a:xfrm>
            <a:off x="3912905" y="938204"/>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4"/>
              </a:rPr>
              <a:t>دبي تحتفل بعيد الفطر بحملة “تسو...</a:t>
            </a:r>
            <a:endParaRPr/>
          </a:p>
        </p:txBody>
      </p:sp>
      <p:sp>
        <p:nvSpPr>
          <p:cNvPr id="16" name="Shape">
            <a:extLst>
              <a:ext uri="{FF2B5EF4-FFF2-40B4-BE49-F238E27FC236}">
                <a16:creationId xmlns:a16="http://schemas.microsoft.com/office/drawing/2014/main" id="{B8364817-3204-6568-5613-56AE82E0462D}"/>
              </a:ext>
            </a:extLst>
          </p:cNvPr>
          <p:cNvSpPr/>
          <p:nvPr/>
        </p:nvSpPr>
        <p:spPr>
          <a:xfrm>
            <a:off x="3933748" y="1183609"/>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وتُقام الحملة في عدد من الوجهات التجارية والمجتمعية البارزة في دبي، من بينها: Al Ghurair Centre، Silicon Central Mall، Bay Avenue Mall، Arabian Center، Dubai Festival Plaza، إلى جانب عدد من المراكز المجتمعية مثل مركز بوابة الخيل المجتمعي، مركز...</a:t>
            </a:r>
            <a:endParaRPr/>
          </a:p>
        </p:txBody>
      </p:sp>
      <p:pic>
        <p:nvPicPr>
          <p:cNvPr id="17" name="Picture">
            <a:hlinkClick r:id="rId5"/>
            <a:extLst>
              <a:ext uri="{FF2B5EF4-FFF2-40B4-BE49-F238E27FC236}">
                <a16:creationId xmlns:a16="http://schemas.microsoft.com/office/drawing/2014/main" id="{5B3B89D6-BBAD-BE0F-AABF-2CD81F7D58D7}"/>
              </a:ext>
            </a:extLst>
          </p:cNvPr>
          <p:cNvPicPr/>
          <p:nvPr/>
        </p:nvPicPr>
        <p:blipFill>
          <a:blip r:embed="rId6"/>
          <a:srcRect/>
          <a:stretch/>
        </p:blipFill>
        <p:spPr>
          <a:xfrm>
            <a:off x="7568877" y="940783"/>
            <a:ext cx="733425" cy="781050"/>
          </a:xfrm>
          <a:prstGeom prst="rect">
            <a:avLst/>
          </a:prstGeom>
        </p:spPr>
      </p:pic>
      <p:sp>
        <p:nvSpPr>
          <p:cNvPr id="18" name="Shape">
            <a:extLst>
              <a:ext uri="{FF2B5EF4-FFF2-40B4-BE49-F238E27FC236}">
                <a16:creationId xmlns:a16="http://schemas.microsoft.com/office/drawing/2014/main" id="{2587E733-D26A-CB6E-BFF3-677592ED826F}"/>
              </a:ext>
            </a:extLst>
          </p:cNvPr>
          <p:cNvSpPr/>
          <p:nvPr/>
        </p:nvSpPr>
        <p:spPr>
          <a:xfrm>
            <a:off x="8769307" y="1149525"/>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19" name="Shape">
            <a:extLst>
              <a:ext uri="{FF2B5EF4-FFF2-40B4-BE49-F238E27FC236}">
                <a16:creationId xmlns:a16="http://schemas.microsoft.com/office/drawing/2014/main" id="{26E70A6E-415F-7543-6430-8070A187C03B}"/>
              </a:ext>
            </a:extLst>
          </p:cNvPr>
          <p:cNvSpPr/>
          <p:nvPr/>
        </p:nvSpPr>
        <p:spPr>
          <a:xfrm>
            <a:off x="8769307" y="1149525"/>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20" name="Shape">
            <a:extLst>
              <a:ext uri="{FF2B5EF4-FFF2-40B4-BE49-F238E27FC236}">
                <a16:creationId xmlns:a16="http://schemas.microsoft.com/office/drawing/2014/main" id="{5E98C4D7-166D-D814-4A4A-92F1464F9AA5}"/>
              </a:ext>
            </a:extLst>
          </p:cNvPr>
          <p:cNvSpPr/>
          <p:nvPr/>
        </p:nvSpPr>
        <p:spPr>
          <a:xfrm>
            <a:off x="10047672" y="89200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C1C8B62A-EB19-2753-6186-D610CF412450}"/>
              </a:ext>
            </a:extLst>
          </p:cNvPr>
          <p:cNvCxnSpPr/>
          <p:nvPr/>
        </p:nvCxnSpPr>
        <p:spPr>
          <a:xfrm>
            <a:off x="432137" y="1785763"/>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D0B919A8-0FFE-2865-A7EE-576E03F93595}"/>
              </a:ext>
            </a:extLst>
          </p:cNvPr>
          <p:cNvPicPr/>
          <p:nvPr/>
        </p:nvPicPr>
        <p:blipFill>
          <a:blip r:embed="rId2"/>
          <a:srcRect/>
          <a:stretch/>
        </p:blipFill>
        <p:spPr>
          <a:xfrm>
            <a:off x="546549" y="1869658"/>
            <a:ext cx="438150" cy="438150"/>
          </a:xfrm>
          <a:prstGeom prst="rect">
            <a:avLst/>
          </a:prstGeom>
        </p:spPr>
      </p:pic>
      <p:sp>
        <p:nvSpPr>
          <p:cNvPr id="23" name="Shape">
            <a:extLst>
              <a:ext uri="{FF2B5EF4-FFF2-40B4-BE49-F238E27FC236}">
                <a16:creationId xmlns:a16="http://schemas.microsoft.com/office/drawing/2014/main" id="{95324938-3A84-65D7-849B-BA0AAC2AF99B}"/>
              </a:ext>
            </a:extLst>
          </p:cNvPr>
          <p:cNvSpPr/>
          <p:nvPr/>
        </p:nvSpPr>
        <p:spPr>
          <a:xfrm>
            <a:off x="1121343" y="190695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ummulkiram pardawala</a:t>
            </a:r>
            <a:endParaRPr/>
          </a:p>
        </p:txBody>
      </p:sp>
      <p:sp>
        <p:nvSpPr>
          <p:cNvPr id="24" name="Shape">
            <a:extLst>
              <a:ext uri="{FF2B5EF4-FFF2-40B4-BE49-F238E27FC236}">
                <a16:creationId xmlns:a16="http://schemas.microsoft.com/office/drawing/2014/main" id="{7ED1EEFF-0DB1-6750-C4CB-185AEF995993}"/>
              </a:ext>
            </a:extLst>
          </p:cNvPr>
          <p:cNvSpPr/>
          <p:nvPr/>
        </p:nvSpPr>
        <p:spPr>
          <a:xfrm>
            <a:off x="1121343" y="218719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7"/>
              </a:rPr>
              <a:t>hidubai.com</a:t>
            </a:r>
            <a:endParaRPr/>
          </a:p>
        </p:txBody>
      </p:sp>
      <p:sp>
        <p:nvSpPr>
          <p:cNvPr id="25" name="Shape">
            <a:extLst>
              <a:ext uri="{FF2B5EF4-FFF2-40B4-BE49-F238E27FC236}">
                <a16:creationId xmlns:a16="http://schemas.microsoft.com/office/drawing/2014/main" id="{5EDA0321-1B1F-6B4E-2896-630E1EC9FB9B}"/>
              </a:ext>
            </a:extLst>
          </p:cNvPr>
          <p:cNvSpPr/>
          <p:nvPr/>
        </p:nvSpPr>
        <p:spPr>
          <a:xfrm>
            <a:off x="598880" y="242199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8"/>
              </a:rPr>
              <a:t>11/03/26 15:04</a:t>
            </a:r>
            <a:r>
              <a:t> | </a:t>
            </a:r>
            <a:r>
              <a:rPr lang="en" b="0" i="0"/>
              <a:t>United Arab Emirates</a:t>
            </a:r>
            <a:endParaRPr/>
          </a:p>
        </p:txBody>
      </p:sp>
      <p:sp>
        <p:nvSpPr>
          <p:cNvPr id="26" name="Shape">
            <a:extLst>
              <a:ext uri="{FF2B5EF4-FFF2-40B4-BE49-F238E27FC236}">
                <a16:creationId xmlns:a16="http://schemas.microsoft.com/office/drawing/2014/main" id="{8BD0A94B-680C-BA77-9A99-D289FFDA2F2A}"/>
              </a:ext>
            </a:extLst>
          </p:cNvPr>
          <p:cNvSpPr/>
          <p:nvPr/>
        </p:nvSpPr>
        <p:spPr>
          <a:xfrm>
            <a:off x="3912905" y="184711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8"/>
              </a:rPr>
              <a:t>Eid Shoppers in Dubai Can Win...</a:t>
            </a:r>
            <a:endParaRPr/>
          </a:p>
        </p:txBody>
      </p:sp>
      <p:sp>
        <p:nvSpPr>
          <p:cNvPr id="27" name="Shape">
            <a:extLst>
              <a:ext uri="{FF2B5EF4-FFF2-40B4-BE49-F238E27FC236}">
                <a16:creationId xmlns:a16="http://schemas.microsoft.com/office/drawing/2014/main" id="{0FEB90B4-2E1A-40DD-4317-CC1F7CDB1357}"/>
              </a:ext>
            </a:extLst>
          </p:cNvPr>
          <p:cNvSpPr/>
          <p:nvPr/>
        </p:nvSpPr>
        <p:spPr>
          <a:xfrm>
            <a:off x="3933748" y="209251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28" name="Picture">
            <a:hlinkClick r:id="rId9"/>
            <a:extLst>
              <a:ext uri="{FF2B5EF4-FFF2-40B4-BE49-F238E27FC236}">
                <a16:creationId xmlns:a16="http://schemas.microsoft.com/office/drawing/2014/main" id="{86EB2995-8310-014A-4F77-68A2ECBD98C5}"/>
              </a:ext>
            </a:extLst>
          </p:cNvPr>
          <p:cNvPicPr/>
          <p:nvPr/>
        </p:nvPicPr>
        <p:blipFill>
          <a:blip r:embed="rId10"/>
          <a:srcRect/>
          <a:stretch/>
        </p:blipFill>
        <p:spPr>
          <a:xfrm>
            <a:off x="7349802" y="1849693"/>
            <a:ext cx="1171575" cy="781050"/>
          </a:xfrm>
          <a:prstGeom prst="rect">
            <a:avLst/>
          </a:prstGeom>
        </p:spPr>
      </p:pic>
      <p:sp>
        <p:nvSpPr>
          <p:cNvPr id="29" name="Shape">
            <a:extLst>
              <a:ext uri="{FF2B5EF4-FFF2-40B4-BE49-F238E27FC236}">
                <a16:creationId xmlns:a16="http://schemas.microsoft.com/office/drawing/2014/main" id="{3A167E11-06B0-256A-3DBD-7924356046B1}"/>
              </a:ext>
            </a:extLst>
          </p:cNvPr>
          <p:cNvSpPr/>
          <p:nvPr/>
        </p:nvSpPr>
        <p:spPr>
          <a:xfrm>
            <a:off x="8769307" y="205843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BEFE4BC1-D5DE-95B2-6316-4FD0B86BEA34}"/>
              </a:ext>
            </a:extLst>
          </p:cNvPr>
          <p:cNvSpPr/>
          <p:nvPr/>
        </p:nvSpPr>
        <p:spPr>
          <a:xfrm>
            <a:off x="8769307" y="205843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C8C248A1-3D21-A35A-7B97-FC71F725C5EF}"/>
              </a:ext>
            </a:extLst>
          </p:cNvPr>
          <p:cNvSpPr/>
          <p:nvPr/>
        </p:nvSpPr>
        <p:spPr>
          <a:xfrm>
            <a:off x="10047672" y="180091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D9A59BA6-910D-DD0E-03FE-27B3BBCC4799}"/>
              </a:ext>
            </a:extLst>
          </p:cNvPr>
          <p:cNvCxnSpPr/>
          <p:nvPr/>
        </p:nvCxnSpPr>
        <p:spPr>
          <a:xfrm>
            <a:off x="432137" y="2694673"/>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02F539E1-CA70-43C5-234C-DEAB312BA9AC}"/>
              </a:ext>
            </a:extLst>
          </p:cNvPr>
          <p:cNvPicPr/>
          <p:nvPr/>
        </p:nvPicPr>
        <p:blipFill>
          <a:blip r:embed="rId2"/>
          <a:srcRect/>
          <a:stretch/>
        </p:blipFill>
        <p:spPr>
          <a:xfrm>
            <a:off x="546549" y="2778568"/>
            <a:ext cx="438150" cy="438150"/>
          </a:xfrm>
          <a:prstGeom prst="rect">
            <a:avLst/>
          </a:prstGeom>
        </p:spPr>
      </p:pic>
      <p:sp>
        <p:nvSpPr>
          <p:cNvPr id="34" name="Shape">
            <a:extLst>
              <a:ext uri="{FF2B5EF4-FFF2-40B4-BE49-F238E27FC236}">
                <a16:creationId xmlns:a16="http://schemas.microsoft.com/office/drawing/2014/main" id="{C8521AF8-76F0-3DF1-60F3-39F5C8CA43EA}"/>
              </a:ext>
            </a:extLst>
          </p:cNvPr>
          <p:cNvSpPr/>
          <p:nvPr/>
        </p:nvSpPr>
        <p:spPr>
          <a:xfrm>
            <a:off x="1121343" y="2815861"/>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عرض كل المقالات</a:t>
            </a:r>
            <a:endParaRPr/>
          </a:p>
        </p:txBody>
      </p:sp>
      <p:sp>
        <p:nvSpPr>
          <p:cNvPr id="35" name="Shape">
            <a:extLst>
              <a:ext uri="{FF2B5EF4-FFF2-40B4-BE49-F238E27FC236}">
                <a16:creationId xmlns:a16="http://schemas.microsoft.com/office/drawing/2014/main" id="{DEE20BEF-0236-B60E-FFB8-ECFAEC91C244}"/>
              </a:ext>
            </a:extLst>
          </p:cNvPr>
          <p:cNvSpPr/>
          <p:nvPr/>
        </p:nvSpPr>
        <p:spPr>
          <a:xfrm>
            <a:off x="1121343" y="309610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1"/>
              </a:rPr>
              <a:t>kl-alarab.com</a:t>
            </a:r>
            <a:endParaRPr/>
          </a:p>
        </p:txBody>
      </p:sp>
      <p:sp>
        <p:nvSpPr>
          <p:cNvPr id="36" name="Shape">
            <a:extLst>
              <a:ext uri="{FF2B5EF4-FFF2-40B4-BE49-F238E27FC236}">
                <a16:creationId xmlns:a16="http://schemas.microsoft.com/office/drawing/2014/main" id="{F2804420-0A6D-BBB7-6BBB-FDB06BAF2120}"/>
              </a:ext>
            </a:extLst>
          </p:cNvPr>
          <p:cNvSpPr/>
          <p:nvPr/>
        </p:nvSpPr>
        <p:spPr>
          <a:xfrm>
            <a:off x="598880" y="3330909"/>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2"/>
              </a:rPr>
              <a:t>11/03/26 16:08</a:t>
            </a:r>
            <a:r>
              <a:t> | </a:t>
            </a:r>
            <a:r>
              <a:rPr lang="ar" b="0" i="0"/>
              <a:t>United Arab Emirates</a:t>
            </a:r>
            <a:endParaRPr/>
          </a:p>
        </p:txBody>
      </p:sp>
      <p:sp>
        <p:nvSpPr>
          <p:cNvPr id="37" name="Shape">
            <a:extLst>
              <a:ext uri="{FF2B5EF4-FFF2-40B4-BE49-F238E27FC236}">
                <a16:creationId xmlns:a16="http://schemas.microsoft.com/office/drawing/2014/main" id="{A15E87A6-4BD5-2DBC-DC36-DF7529E50B79}"/>
              </a:ext>
            </a:extLst>
          </p:cNvPr>
          <p:cNvSpPr/>
          <p:nvPr/>
        </p:nvSpPr>
        <p:spPr>
          <a:xfrm>
            <a:off x="3912905" y="2756024"/>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12"/>
              </a:rPr>
              <a:t>جوائز نقدية بقيمة 200 ألف درهم...</a:t>
            </a:r>
            <a:endParaRPr/>
          </a:p>
        </p:txBody>
      </p:sp>
      <p:sp>
        <p:nvSpPr>
          <p:cNvPr id="38" name="Shape">
            <a:extLst>
              <a:ext uri="{FF2B5EF4-FFF2-40B4-BE49-F238E27FC236}">
                <a16:creationId xmlns:a16="http://schemas.microsoft.com/office/drawing/2014/main" id="{B7B04BAC-056A-AC21-1488-0E95985B8F32}"/>
              </a:ext>
            </a:extLst>
          </p:cNvPr>
          <p:cNvSpPr/>
          <p:nvPr/>
        </p:nvSpPr>
        <p:spPr>
          <a:xfrm>
            <a:off x="3933748" y="3001429"/>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وتقام الحملة في عدد من الوجهات التجارية والمجتمعية في دبي، من بينها الغرير سنتر، سيليكون سنترال، باي أفينيو، أرابيان سنتر، دبي فستيفال بلازا، مركز بوابة الخيل المجتمعي، مركز شروق المجتمعي، مركز سيرينا المجتمعي، مركز فيلانوفا المجتمعي، ومركز مدن...</a:t>
            </a:r>
            <a:endParaRPr/>
          </a:p>
        </p:txBody>
      </p:sp>
      <p:pic>
        <p:nvPicPr>
          <p:cNvPr id="39" name="Picture">
            <a:hlinkClick r:id="rId12"/>
            <a:extLst>
              <a:ext uri="{FF2B5EF4-FFF2-40B4-BE49-F238E27FC236}">
                <a16:creationId xmlns:a16="http://schemas.microsoft.com/office/drawing/2014/main" id="{F27E6B70-82A1-5295-6107-A95617405833}"/>
              </a:ext>
            </a:extLst>
          </p:cNvPr>
          <p:cNvPicPr/>
          <p:nvPr/>
        </p:nvPicPr>
        <p:blipFill>
          <a:blip r:embed="rId13"/>
          <a:srcRect/>
          <a:stretch/>
        </p:blipFill>
        <p:spPr>
          <a:xfrm>
            <a:off x="7545065" y="2758603"/>
            <a:ext cx="781050" cy="781050"/>
          </a:xfrm>
          <a:prstGeom prst="rect">
            <a:avLst/>
          </a:prstGeom>
        </p:spPr>
      </p:pic>
      <p:sp>
        <p:nvSpPr>
          <p:cNvPr id="40" name="Shape">
            <a:extLst>
              <a:ext uri="{FF2B5EF4-FFF2-40B4-BE49-F238E27FC236}">
                <a16:creationId xmlns:a16="http://schemas.microsoft.com/office/drawing/2014/main" id="{3DB7686A-261C-F6C2-BF78-F103D0E1F44D}"/>
              </a:ext>
            </a:extLst>
          </p:cNvPr>
          <p:cNvSpPr/>
          <p:nvPr/>
        </p:nvSpPr>
        <p:spPr>
          <a:xfrm>
            <a:off x="8769307" y="296734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63899A98-FCA7-7A98-F18D-FB8EDF918561}"/>
              </a:ext>
            </a:extLst>
          </p:cNvPr>
          <p:cNvSpPr/>
          <p:nvPr/>
        </p:nvSpPr>
        <p:spPr>
          <a:xfrm>
            <a:off x="8769307" y="296734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722F4EAD-DE93-64DA-98FC-CB27C4B35884}"/>
              </a:ext>
            </a:extLst>
          </p:cNvPr>
          <p:cNvSpPr/>
          <p:nvPr/>
        </p:nvSpPr>
        <p:spPr>
          <a:xfrm>
            <a:off x="10047672" y="270982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244EF07F-1456-070D-E64A-3EE5B4549A0F}"/>
              </a:ext>
            </a:extLst>
          </p:cNvPr>
          <p:cNvCxnSpPr/>
          <p:nvPr/>
        </p:nvCxnSpPr>
        <p:spPr>
          <a:xfrm>
            <a:off x="432137" y="3603583"/>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0DB4175A-732C-49DA-5E4E-E6890E0FE847}"/>
              </a:ext>
            </a:extLst>
          </p:cNvPr>
          <p:cNvPicPr/>
          <p:nvPr/>
        </p:nvPicPr>
        <p:blipFill>
          <a:blip r:embed="rId14"/>
          <a:srcRect/>
          <a:stretch/>
        </p:blipFill>
        <p:spPr>
          <a:xfrm>
            <a:off x="546549" y="3687478"/>
            <a:ext cx="438150" cy="438150"/>
          </a:xfrm>
          <a:prstGeom prst="rect">
            <a:avLst/>
          </a:prstGeom>
        </p:spPr>
      </p:pic>
      <p:sp>
        <p:nvSpPr>
          <p:cNvPr id="45" name="Shape">
            <a:extLst>
              <a:ext uri="{FF2B5EF4-FFF2-40B4-BE49-F238E27FC236}">
                <a16:creationId xmlns:a16="http://schemas.microsoft.com/office/drawing/2014/main" id="{4CFF483A-D62F-3273-1F5B-8C653CE427CE}"/>
              </a:ext>
            </a:extLst>
          </p:cNvPr>
          <p:cNvSpPr/>
          <p:nvPr/>
        </p:nvSpPr>
        <p:spPr>
          <a:xfrm>
            <a:off x="1121343" y="3724771"/>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Someone</a:t>
            </a:r>
            <a:endParaRPr/>
          </a:p>
        </p:txBody>
      </p:sp>
      <p:sp>
        <p:nvSpPr>
          <p:cNvPr id="46" name="Shape">
            <a:extLst>
              <a:ext uri="{FF2B5EF4-FFF2-40B4-BE49-F238E27FC236}">
                <a16:creationId xmlns:a16="http://schemas.microsoft.com/office/drawing/2014/main" id="{BE07DEFE-3684-8C3A-AEA8-59341BCAE493}"/>
              </a:ext>
            </a:extLst>
          </p:cNvPr>
          <p:cNvSpPr/>
          <p:nvPr/>
        </p:nvSpPr>
        <p:spPr>
          <a:xfrm>
            <a:off x="1121343" y="400501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Blogs</a:t>
            </a:r>
            <a:r>
              <a:t> | </a:t>
            </a:r>
            <a:r>
              <a:rPr lang="ar" b="0" i="0">
                <a:hlinkClick r:id="rId15"/>
              </a:rPr>
              <a:t>cnegypt.com</a:t>
            </a:r>
            <a:endParaRPr/>
          </a:p>
        </p:txBody>
      </p:sp>
      <p:sp>
        <p:nvSpPr>
          <p:cNvPr id="47" name="Shape">
            <a:extLst>
              <a:ext uri="{FF2B5EF4-FFF2-40B4-BE49-F238E27FC236}">
                <a16:creationId xmlns:a16="http://schemas.microsoft.com/office/drawing/2014/main" id="{780CF42F-F9BE-5882-EC79-9E40C212909C}"/>
              </a:ext>
            </a:extLst>
          </p:cNvPr>
          <p:cNvSpPr/>
          <p:nvPr/>
        </p:nvSpPr>
        <p:spPr>
          <a:xfrm>
            <a:off x="598880" y="4239819"/>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6"/>
              </a:rPr>
              <a:t>11/03/26 16:11</a:t>
            </a:r>
            <a:r>
              <a:t> | </a:t>
            </a:r>
            <a:r>
              <a:rPr lang="ar" b="0" i="0"/>
              <a:t>Egypt</a:t>
            </a:r>
            <a:endParaRPr/>
          </a:p>
        </p:txBody>
      </p:sp>
      <p:sp>
        <p:nvSpPr>
          <p:cNvPr id="48" name="Shape">
            <a:extLst>
              <a:ext uri="{FF2B5EF4-FFF2-40B4-BE49-F238E27FC236}">
                <a16:creationId xmlns:a16="http://schemas.microsoft.com/office/drawing/2014/main" id="{1773BAA3-39EF-AE3C-7394-90098376CF8A}"/>
              </a:ext>
            </a:extLst>
          </p:cNvPr>
          <p:cNvSpPr/>
          <p:nvPr/>
        </p:nvSpPr>
        <p:spPr>
          <a:xfrm>
            <a:off x="3912905" y="3664934"/>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16"/>
              </a:rPr>
              <a:t>جوائز نقدية بقيمة 200 ألف درهم...</a:t>
            </a:r>
            <a:endParaRPr/>
          </a:p>
        </p:txBody>
      </p:sp>
      <p:sp>
        <p:nvSpPr>
          <p:cNvPr id="49" name="Shape">
            <a:extLst>
              <a:ext uri="{FF2B5EF4-FFF2-40B4-BE49-F238E27FC236}">
                <a16:creationId xmlns:a16="http://schemas.microsoft.com/office/drawing/2014/main" id="{4F6CBC79-CEC7-4AD7-8854-441F741E3A0F}"/>
              </a:ext>
            </a:extLst>
          </p:cNvPr>
          <p:cNvSpPr/>
          <p:nvPr/>
        </p:nvSpPr>
        <p:spPr>
          <a:xfrm>
            <a:off x="3933748" y="3910339"/>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وتقام الحملة في عدد من الوجهات التجارية والمجتمعية في دبي، من بينها الغرير سنتر، سيليكون سنترال، باي أفينيو، أرابيان سنتر، دبي فستيفال بلازا، مركز بوابة الخيل المجتمعي، مركز شروق المجتمعي، مركز سيرينا المجتمعي، مركز فيلانوفا المجتمعي، ومركز مدن...</a:t>
            </a:r>
            <a:endParaRPr/>
          </a:p>
        </p:txBody>
      </p:sp>
      <p:pic>
        <p:nvPicPr>
          <p:cNvPr id="50" name="Picture">
            <a:hlinkClick r:id="rId17"/>
            <a:extLst>
              <a:ext uri="{FF2B5EF4-FFF2-40B4-BE49-F238E27FC236}">
                <a16:creationId xmlns:a16="http://schemas.microsoft.com/office/drawing/2014/main" id="{5B2D58E3-B461-9051-2D63-5190475F1D43}"/>
              </a:ext>
            </a:extLst>
          </p:cNvPr>
          <p:cNvPicPr/>
          <p:nvPr/>
        </p:nvPicPr>
        <p:blipFill>
          <a:blip r:embed="rId18"/>
          <a:srcRect/>
          <a:stretch/>
        </p:blipFill>
        <p:spPr>
          <a:xfrm>
            <a:off x="7678415" y="3667513"/>
            <a:ext cx="514350" cy="781050"/>
          </a:xfrm>
          <a:prstGeom prst="rect">
            <a:avLst/>
          </a:prstGeom>
        </p:spPr>
      </p:pic>
      <p:sp>
        <p:nvSpPr>
          <p:cNvPr id="51" name="Shape">
            <a:extLst>
              <a:ext uri="{FF2B5EF4-FFF2-40B4-BE49-F238E27FC236}">
                <a16:creationId xmlns:a16="http://schemas.microsoft.com/office/drawing/2014/main" id="{FFAA103F-81F1-52E5-3633-BF9F5FB61F2B}"/>
              </a:ext>
            </a:extLst>
          </p:cNvPr>
          <p:cNvSpPr/>
          <p:nvPr/>
        </p:nvSpPr>
        <p:spPr>
          <a:xfrm>
            <a:off x="8769307" y="387625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908CABD4-5E0C-D051-DD32-35D67F64EAAC}"/>
              </a:ext>
            </a:extLst>
          </p:cNvPr>
          <p:cNvSpPr/>
          <p:nvPr/>
        </p:nvSpPr>
        <p:spPr>
          <a:xfrm>
            <a:off x="8769307" y="3876255"/>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FB79DBC6-8B8C-A5DC-9A7E-545914F28A31}"/>
              </a:ext>
            </a:extLst>
          </p:cNvPr>
          <p:cNvSpPr/>
          <p:nvPr/>
        </p:nvSpPr>
        <p:spPr>
          <a:xfrm>
            <a:off x="10047672" y="361873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B07CEEA3-80C4-0EF3-9972-768A40A7527D}"/>
              </a:ext>
            </a:extLst>
          </p:cNvPr>
          <p:cNvCxnSpPr/>
          <p:nvPr/>
        </p:nvCxnSpPr>
        <p:spPr>
          <a:xfrm>
            <a:off x="432137" y="4512493"/>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80B98F5F-B95F-7449-B12D-7FBBF383517E}"/>
              </a:ext>
            </a:extLst>
          </p:cNvPr>
          <p:cNvPicPr/>
          <p:nvPr/>
        </p:nvPicPr>
        <p:blipFill>
          <a:blip r:embed="rId2"/>
          <a:srcRect/>
          <a:stretch/>
        </p:blipFill>
        <p:spPr>
          <a:xfrm>
            <a:off x="546549" y="4596388"/>
            <a:ext cx="438150" cy="438150"/>
          </a:xfrm>
          <a:prstGeom prst="rect">
            <a:avLst/>
          </a:prstGeom>
        </p:spPr>
      </p:pic>
      <p:sp>
        <p:nvSpPr>
          <p:cNvPr id="56" name="Shape">
            <a:extLst>
              <a:ext uri="{FF2B5EF4-FFF2-40B4-BE49-F238E27FC236}">
                <a16:creationId xmlns:a16="http://schemas.microsoft.com/office/drawing/2014/main" id="{831B7D49-9FD3-DBAE-97C3-BD1D00C3D70C}"/>
              </a:ext>
            </a:extLst>
          </p:cNvPr>
          <p:cNvSpPr/>
          <p:nvPr/>
        </p:nvSpPr>
        <p:spPr>
          <a:xfrm>
            <a:off x="1121343" y="4633681"/>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Brew News Team</a:t>
            </a:r>
            <a:endParaRPr/>
          </a:p>
        </p:txBody>
      </p:sp>
      <p:sp>
        <p:nvSpPr>
          <p:cNvPr id="57" name="Shape">
            <a:extLst>
              <a:ext uri="{FF2B5EF4-FFF2-40B4-BE49-F238E27FC236}">
                <a16:creationId xmlns:a16="http://schemas.microsoft.com/office/drawing/2014/main" id="{E2D37A7A-4F84-C108-50CC-253EC8FD3528}"/>
              </a:ext>
            </a:extLst>
          </p:cNvPr>
          <p:cNvSpPr/>
          <p:nvPr/>
        </p:nvSpPr>
        <p:spPr>
          <a:xfrm>
            <a:off x="1121343" y="4913927"/>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19"/>
              </a:rPr>
              <a:t>thebrewnews.com</a:t>
            </a:r>
            <a:endParaRPr/>
          </a:p>
        </p:txBody>
      </p:sp>
      <p:sp>
        <p:nvSpPr>
          <p:cNvPr id="58" name="Shape">
            <a:extLst>
              <a:ext uri="{FF2B5EF4-FFF2-40B4-BE49-F238E27FC236}">
                <a16:creationId xmlns:a16="http://schemas.microsoft.com/office/drawing/2014/main" id="{DAEEAB21-7718-6F22-C05C-52616E9DF5F4}"/>
              </a:ext>
            </a:extLst>
          </p:cNvPr>
          <p:cNvSpPr/>
          <p:nvPr/>
        </p:nvSpPr>
        <p:spPr>
          <a:xfrm>
            <a:off x="598880" y="5148729"/>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0"/>
              </a:rPr>
              <a:t>11/03/26 21:00</a:t>
            </a:r>
            <a:r>
              <a:t> | </a:t>
            </a:r>
            <a:r>
              <a:rPr lang="en" b="0" i="0"/>
              <a:t>United Arab Emirates</a:t>
            </a:r>
            <a:endParaRPr/>
          </a:p>
        </p:txBody>
      </p:sp>
      <p:sp>
        <p:nvSpPr>
          <p:cNvPr id="59" name="Shape">
            <a:extLst>
              <a:ext uri="{FF2B5EF4-FFF2-40B4-BE49-F238E27FC236}">
                <a16:creationId xmlns:a16="http://schemas.microsoft.com/office/drawing/2014/main" id="{2891B9A4-FED3-8E72-A914-7FCE2E79C890}"/>
              </a:ext>
            </a:extLst>
          </p:cNvPr>
          <p:cNvSpPr/>
          <p:nvPr/>
        </p:nvSpPr>
        <p:spPr>
          <a:xfrm>
            <a:off x="3912905" y="4573844"/>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20"/>
              </a:rPr>
              <a:t>Dubai Eid shopping campaign...</a:t>
            </a:r>
            <a:endParaRPr/>
          </a:p>
        </p:txBody>
      </p:sp>
      <p:sp>
        <p:nvSpPr>
          <p:cNvPr id="60" name="Shape">
            <a:extLst>
              <a:ext uri="{FF2B5EF4-FFF2-40B4-BE49-F238E27FC236}">
                <a16:creationId xmlns:a16="http://schemas.microsoft.com/office/drawing/2014/main" id="{764B6B4A-A92E-9886-C501-99A859D1265A}"/>
              </a:ext>
            </a:extLst>
          </p:cNvPr>
          <p:cNvSpPr/>
          <p:nvPr/>
        </p:nvSpPr>
        <p:spPr>
          <a:xfrm>
            <a:off x="3933748" y="4819249"/>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Dubai. These include Al Ghurair Centre, Silicon Central, Bay Avenue, Arabian Center, Dubai Festival Plaza, Al Khail Gate Community Centre, Shorooq Community Centre, Serena Community Centre, Villanova Communit...</a:t>
            </a:r>
            <a:endParaRPr/>
          </a:p>
        </p:txBody>
      </p:sp>
      <p:pic>
        <p:nvPicPr>
          <p:cNvPr id="61" name="Picture">
            <a:hlinkClick r:id="rId21"/>
            <a:extLst>
              <a:ext uri="{FF2B5EF4-FFF2-40B4-BE49-F238E27FC236}">
                <a16:creationId xmlns:a16="http://schemas.microsoft.com/office/drawing/2014/main" id="{57D0C0F6-201F-FF24-CBB4-328FB8A3A3C2}"/>
              </a:ext>
            </a:extLst>
          </p:cNvPr>
          <p:cNvPicPr/>
          <p:nvPr/>
        </p:nvPicPr>
        <p:blipFill>
          <a:blip r:embed="rId13"/>
          <a:srcRect/>
          <a:stretch/>
        </p:blipFill>
        <p:spPr>
          <a:xfrm>
            <a:off x="7545065" y="4576423"/>
            <a:ext cx="781050" cy="781050"/>
          </a:xfrm>
          <a:prstGeom prst="rect">
            <a:avLst/>
          </a:prstGeom>
        </p:spPr>
      </p:pic>
      <p:sp>
        <p:nvSpPr>
          <p:cNvPr id="62" name="Shape">
            <a:extLst>
              <a:ext uri="{FF2B5EF4-FFF2-40B4-BE49-F238E27FC236}">
                <a16:creationId xmlns:a16="http://schemas.microsoft.com/office/drawing/2014/main" id="{CAA78E2B-5444-AA85-93EF-F9C74A5EAA94}"/>
              </a:ext>
            </a:extLst>
          </p:cNvPr>
          <p:cNvSpPr/>
          <p:nvPr/>
        </p:nvSpPr>
        <p:spPr>
          <a:xfrm>
            <a:off x="8769307" y="4785165"/>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63" name="Shape">
            <a:extLst>
              <a:ext uri="{FF2B5EF4-FFF2-40B4-BE49-F238E27FC236}">
                <a16:creationId xmlns:a16="http://schemas.microsoft.com/office/drawing/2014/main" id="{47346EA2-3D2D-989C-F3C0-3BE86058BDE5}"/>
              </a:ext>
            </a:extLst>
          </p:cNvPr>
          <p:cNvSpPr/>
          <p:nvPr/>
        </p:nvSpPr>
        <p:spPr>
          <a:xfrm>
            <a:off x="8769307" y="4785165"/>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64" name="Shape">
            <a:extLst>
              <a:ext uri="{FF2B5EF4-FFF2-40B4-BE49-F238E27FC236}">
                <a16:creationId xmlns:a16="http://schemas.microsoft.com/office/drawing/2014/main" id="{9CE326B3-9736-0BA7-0082-1A31A5835D80}"/>
              </a:ext>
            </a:extLst>
          </p:cNvPr>
          <p:cNvSpPr/>
          <p:nvPr/>
        </p:nvSpPr>
        <p:spPr>
          <a:xfrm>
            <a:off x="10047672" y="4527641"/>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5" name="Line 200: (537882, 6316553) - (11654110, 6316553)">
            <a:extLst>
              <a:ext uri="{FF2B5EF4-FFF2-40B4-BE49-F238E27FC236}">
                <a16:creationId xmlns:a16="http://schemas.microsoft.com/office/drawing/2014/main" id="{38E6E8BD-1F33-45B0-0CD6-4057307B9FDC}"/>
              </a:ext>
            </a:extLst>
          </p:cNvPr>
          <p:cNvCxnSpPr/>
          <p:nvPr/>
        </p:nvCxnSpPr>
        <p:spPr>
          <a:xfrm>
            <a:off x="432137" y="5421403"/>
            <a:ext cx="11116228" cy="0"/>
          </a:xfrm>
          <a:prstGeom prst="line">
            <a:avLst/>
          </a:prstGeom>
          <a:ln w="12700">
            <a:solidFill>
              <a:srgbClr val="C7C7C7"/>
            </a:solidFill>
          </a:ln>
        </p:spPr>
      </p:cxnSp>
    </p:spTree>
    <p:extLst>
      <p:ext uri="{BB962C8B-B14F-4D97-AF65-F5344CB8AC3E}">
        <p14:creationId xmlns:p14="http://schemas.microsoft.com/office/powerpoint/2010/main" val="63446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7C3C-72BE-D919-349B-4078338007D9}"/>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02FDB926-A8F9-7E83-BAC6-8D43B756BCCE}"/>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8F6E778E-B71D-1F8A-86F2-9817B1DA421E}"/>
              </a:ext>
            </a:extLst>
          </p:cNvPr>
          <p:cNvCxnSpPr/>
          <p:nvPr/>
        </p:nvCxnSpPr>
        <p:spPr>
          <a:xfrm>
            <a:off x="432137" y="1136735"/>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6CFFBDB1-EAD2-90E4-3E75-15BF484946E6}"/>
              </a:ext>
            </a:extLst>
          </p:cNvPr>
          <p:cNvSpPr/>
          <p:nvPr/>
        </p:nvSpPr>
        <p:spPr>
          <a:xfrm>
            <a:off x="765623" y="921467"/>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CEAFCAC2-868A-C212-C0C8-33047F4FA1EB}"/>
              </a:ext>
            </a:extLst>
          </p:cNvPr>
          <p:cNvCxnSpPr/>
          <p:nvPr/>
        </p:nvCxnSpPr>
        <p:spPr>
          <a:xfrm>
            <a:off x="3767005" y="897549"/>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1F4739D2-E857-D39A-CBF3-7A752F270D65}"/>
              </a:ext>
            </a:extLst>
          </p:cNvPr>
          <p:cNvSpPr/>
          <p:nvPr/>
        </p:nvSpPr>
        <p:spPr>
          <a:xfrm>
            <a:off x="4100491" y="921467"/>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FBF8A392-A5C1-C2B1-8A5B-443179890F9D}"/>
              </a:ext>
            </a:extLst>
          </p:cNvPr>
          <p:cNvCxnSpPr/>
          <p:nvPr/>
        </p:nvCxnSpPr>
        <p:spPr>
          <a:xfrm>
            <a:off x="8769307" y="897549"/>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52695B38-8964-0DE0-0BC3-D14E09145CA3}"/>
              </a:ext>
            </a:extLst>
          </p:cNvPr>
          <p:cNvSpPr/>
          <p:nvPr/>
        </p:nvSpPr>
        <p:spPr>
          <a:xfrm>
            <a:off x="8880469" y="921467"/>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F643204B-1D0A-C988-22DB-EAF27E6BA9EE}"/>
              </a:ext>
            </a:extLst>
          </p:cNvPr>
          <p:cNvCxnSpPr/>
          <p:nvPr/>
        </p:nvCxnSpPr>
        <p:spPr>
          <a:xfrm>
            <a:off x="9880929" y="897549"/>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02A8CC97-62E6-5799-A83F-211173133B8D}"/>
              </a:ext>
            </a:extLst>
          </p:cNvPr>
          <p:cNvSpPr/>
          <p:nvPr/>
        </p:nvSpPr>
        <p:spPr>
          <a:xfrm>
            <a:off x="10047672" y="921467"/>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7D890A5F-41D9-BB10-6112-4F880F322550}"/>
              </a:ext>
            </a:extLst>
          </p:cNvPr>
          <p:cNvPicPr/>
          <p:nvPr/>
        </p:nvPicPr>
        <p:blipFill>
          <a:blip r:embed="rId2"/>
          <a:srcRect/>
          <a:stretch/>
        </p:blipFill>
        <p:spPr>
          <a:xfrm>
            <a:off x="546549" y="1220630"/>
            <a:ext cx="438150" cy="438150"/>
          </a:xfrm>
          <a:prstGeom prst="rect">
            <a:avLst/>
          </a:prstGeom>
        </p:spPr>
      </p:pic>
      <p:sp>
        <p:nvSpPr>
          <p:cNvPr id="12" name="Shape">
            <a:extLst>
              <a:ext uri="{FF2B5EF4-FFF2-40B4-BE49-F238E27FC236}">
                <a16:creationId xmlns:a16="http://schemas.microsoft.com/office/drawing/2014/main" id="{F3F5D04F-EB7D-1C5A-775D-FCF685EE9F19}"/>
              </a:ext>
            </a:extLst>
          </p:cNvPr>
          <p:cNvSpPr/>
          <p:nvPr/>
        </p:nvSpPr>
        <p:spPr>
          <a:xfrm>
            <a:off x="1121343" y="1257923"/>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الاسم *</a:t>
            </a:r>
            <a:endParaRPr/>
          </a:p>
        </p:txBody>
      </p:sp>
      <p:sp>
        <p:nvSpPr>
          <p:cNvPr id="13" name="Shape">
            <a:extLst>
              <a:ext uri="{FF2B5EF4-FFF2-40B4-BE49-F238E27FC236}">
                <a16:creationId xmlns:a16="http://schemas.microsoft.com/office/drawing/2014/main" id="{FA4D89CE-A1BE-25CA-42FA-41EDABF703E5}"/>
              </a:ext>
            </a:extLst>
          </p:cNvPr>
          <p:cNvSpPr/>
          <p:nvPr/>
        </p:nvSpPr>
        <p:spPr>
          <a:xfrm>
            <a:off x="1121343" y="153816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Blogs</a:t>
            </a:r>
            <a:r>
              <a:t> | </a:t>
            </a:r>
            <a:r>
              <a:rPr lang="ar" b="0" i="0">
                <a:hlinkClick r:id="rId3"/>
              </a:rPr>
              <a:t>9cnews.com</a:t>
            </a:r>
            <a:endParaRPr/>
          </a:p>
        </p:txBody>
      </p:sp>
      <p:sp>
        <p:nvSpPr>
          <p:cNvPr id="14" name="Shape">
            <a:extLst>
              <a:ext uri="{FF2B5EF4-FFF2-40B4-BE49-F238E27FC236}">
                <a16:creationId xmlns:a16="http://schemas.microsoft.com/office/drawing/2014/main" id="{89946B98-5DB0-0ED3-86DB-2540FA57A7E6}"/>
              </a:ext>
            </a:extLst>
          </p:cNvPr>
          <p:cNvSpPr/>
          <p:nvPr/>
        </p:nvSpPr>
        <p:spPr>
          <a:xfrm>
            <a:off x="598880" y="1772971"/>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4"/>
              </a:rPr>
              <a:t>11/03/26 23:13</a:t>
            </a:r>
            <a:r>
              <a:t> | </a:t>
            </a:r>
            <a:r>
              <a:rPr lang="ar" b="0" i="0"/>
              <a:t>United Arab Emirates</a:t>
            </a:r>
            <a:endParaRPr/>
          </a:p>
        </p:txBody>
      </p:sp>
      <p:sp>
        <p:nvSpPr>
          <p:cNvPr id="15" name="Shape">
            <a:extLst>
              <a:ext uri="{FF2B5EF4-FFF2-40B4-BE49-F238E27FC236}">
                <a16:creationId xmlns:a16="http://schemas.microsoft.com/office/drawing/2014/main" id="{9CCE147E-7E90-842E-51D7-0AD2B8D8E0E6}"/>
              </a:ext>
            </a:extLst>
          </p:cNvPr>
          <p:cNvSpPr/>
          <p:nvPr/>
        </p:nvSpPr>
        <p:spPr>
          <a:xfrm>
            <a:off x="3912905" y="1198086"/>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4"/>
              </a:rPr>
              <a:t>جوائز نقدية بقيمة 200 ألف درهم...</a:t>
            </a:r>
            <a:endParaRPr/>
          </a:p>
        </p:txBody>
      </p:sp>
      <p:sp>
        <p:nvSpPr>
          <p:cNvPr id="16" name="Shape">
            <a:extLst>
              <a:ext uri="{FF2B5EF4-FFF2-40B4-BE49-F238E27FC236}">
                <a16:creationId xmlns:a16="http://schemas.microsoft.com/office/drawing/2014/main" id="{5028B856-7473-FB21-6E17-F0B3B8B17D47}"/>
              </a:ext>
            </a:extLst>
          </p:cNvPr>
          <p:cNvSpPr/>
          <p:nvPr/>
        </p:nvSpPr>
        <p:spPr>
          <a:xfrm>
            <a:off x="3933748" y="1443491"/>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وتقام الحملة في عدد من الوجهات التجارية والمجتمعية في دبي، من بينها الغرير سنتر، سيليكون سنترال، باي أفينيو، أرابيان سنتر، دبي فستيفال بلازا، مركز بوابة الخيل المجتمعي، مركز شروق المجتمعي، مركز سيرينا المجتمعي، مركز فيلانوفا المجتمعي، ومركز مدن...</a:t>
            </a:r>
            <a:endParaRPr/>
          </a:p>
        </p:txBody>
      </p:sp>
      <p:pic>
        <p:nvPicPr>
          <p:cNvPr id="17" name="Picture">
            <a:hlinkClick r:id="rId4"/>
            <a:extLst>
              <a:ext uri="{FF2B5EF4-FFF2-40B4-BE49-F238E27FC236}">
                <a16:creationId xmlns:a16="http://schemas.microsoft.com/office/drawing/2014/main" id="{FE73633F-3584-B05B-1591-88EF0AA9EFFE}"/>
              </a:ext>
            </a:extLst>
          </p:cNvPr>
          <p:cNvPicPr/>
          <p:nvPr/>
        </p:nvPicPr>
        <p:blipFill>
          <a:blip r:embed="rId5"/>
          <a:srcRect/>
          <a:stretch/>
        </p:blipFill>
        <p:spPr>
          <a:xfrm>
            <a:off x="7364090" y="1200665"/>
            <a:ext cx="1143000" cy="781050"/>
          </a:xfrm>
          <a:prstGeom prst="rect">
            <a:avLst/>
          </a:prstGeom>
        </p:spPr>
      </p:pic>
      <p:sp>
        <p:nvSpPr>
          <p:cNvPr id="18" name="Shape">
            <a:extLst>
              <a:ext uri="{FF2B5EF4-FFF2-40B4-BE49-F238E27FC236}">
                <a16:creationId xmlns:a16="http://schemas.microsoft.com/office/drawing/2014/main" id="{92920091-3D59-F1CC-638B-E5F74AC4DA16}"/>
              </a:ext>
            </a:extLst>
          </p:cNvPr>
          <p:cNvSpPr/>
          <p:nvPr/>
        </p:nvSpPr>
        <p:spPr>
          <a:xfrm>
            <a:off x="8769307" y="140940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FA1A4B05-E109-7880-6C8A-B73C00C38C30}"/>
              </a:ext>
            </a:extLst>
          </p:cNvPr>
          <p:cNvSpPr/>
          <p:nvPr/>
        </p:nvSpPr>
        <p:spPr>
          <a:xfrm>
            <a:off x="8769307" y="140940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E204647F-FAA8-F673-2005-51960D7A5BA4}"/>
              </a:ext>
            </a:extLst>
          </p:cNvPr>
          <p:cNvSpPr/>
          <p:nvPr/>
        </p:nvSpPr>
        <p:spPr>
          <a:xfrm>
            <a:off x="10047672" y="115188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27BC1359-8E47-1790-5FD5-9922C366BD21}"/>
              </a:ext>
            </a:extLst>
          </p:cNvPr>
          <p:cNvCxnSpPr/>
          <p:nvPr/>
        </p:nvCxnSpPr>
        <p:spPr>
          <a:xfrm>
            <a:off x="432137" y="2045645"/>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0575434E-CD18-A90D-78F8-BB8F5B7F4C69}"/>
              </a:ext>
            </a:extLst>
          </p:cNvPr>
          <p:cNvPicPr/>
          <p:nvPr/>
        </p:nvPicPr>
        <p:blipFill>
          <a:blip r:embed="rId2"/>
          <a:srcRect/>
          <a:stretch/>
        </p:blipFill>
        <p:spPr>
          <a:xfrm>
            <a:off x="546549" y="2129540"/>
            <a:ext cx="438150" cy="438150"/>
          </a:xfrm>
          <a:prstGeom prst="rect">
            <a:avLst/>
          </a:prstGeom>
        </p:spPr>
      </p:pic>
      <p:sp>
        <p:nvSpPr>
          <p:cNvPr id="23" name="Shape">
            <a:extLst>
              <a:ext uri="{FF2B5EF4-FFF2-40B4-BE49-F238E27FC236}">
                <a16:creationId xmlns:a16="http://schemas.microsoft.com/office/drawing/2014/main" id="{AEF36287-88F6-785A-F2BE-7FD676007EC7}"/>
              </a:ext>
            </a:extLst>
          </p:cNvPr>
          <p:cNvSpPr/>
          <p:nvPr/>
        </p:nvSpPr>
        <p:spPr>
          <a:xfrm>
            <a:off x="1121343" y="216683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9c news</a:t>
            </a:r>
            <a:endParaRPr/>
          </a:p>
        </p:txBody>
      </p:sp>
      <p:sp>
        <p:nvSpPr>
          <p:cNvPr id="24" name="Shape">
            <a:extLst>
              <a:ext uri="{FF2B5EF4-FFF2-40B4-BE49-F238E27FC236}">
                <a16:creationId xmlns:a16="http://schemas.microsoft.com/office/drawing/2014/main" id="{A030BDB1-D9B7-589B-34DD-40BF211207A2}"/>
              </a:ext>
            </a:extLst>
          </p:cNvPr>
          <p:cNvSpPr/>
          <p:nvPr/>
        </p:nvSpPr>
        <p:spPr>
          <a:xfrm>
            <a:off x="1121343" y="244707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3"/>
              </a:rPr>
              <a:t>9cnews.com</a:t>
            </a:r>
            <a:endParaRPr/>
          </a:p>
        </p:txBody>
      </p:sp>
      <p:sp>
        <p:nvSpPr>
          <p:cNvPr id="25" name="Shape">
            <a:extLst>
              <a:ext uri="{FF2B5EF4-FFF2-40B4-BE49-F238E27FC236}">
                <a16:creationId xmlns:a16="http://schemas.microsoft.com/office/drawing/2014/main" id="{80721C8F-CB22-80A9-E0FC-DF57EA7DE870}"/>
              </a:ext>
            </a:extLst>
          </p:cNvPr>
          <p:cNvSpPr/>
          <p:nvPr/>
        </p:nvSpPr>
        <p:spPr>
          <a:xfrm>
            <a:off x="598880" y="268188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6"/>
              </a:rPr>
              <a:t>11/03/26 23:15</a:t>
            </a:r>
            <a:r>
              <a:t> | </a:t>
            </a:r>
            <a:r>
              <a:rPr lang="en" b="0" i="0"/>
              <a:t>United Arab Emirates</a:t>
            </a:r>
            <a:endParaRPr/>
          </a:p>
        </p:txBody>
      </p:sp>
      <p:sp>
        <p:nvSpPr>
          <p:cNvPr id="26" name="Shape">
            <a:extLst>
              <a:ext uri="{FF2B5EF4-FFF2-40B4-BE49-F238E27FC236}">
                <a16:creationId xmlns:a16="http://schemas.microsoft.com/office/drawing/2014/main" id="{943764CF-A350-829B-25ED-D64E05B03ADE}"/>
              </a:ext>
            </a:extLst>
          </p:cNvPr>
          <p:cNvSpPr/>
          <p:nvPr/>
        </p:nvSpPr>
        <p:spPr>
          <a:xfrm>
            <a:off x="3912905" y="2106996"/>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6"/>
              </a:rPr>
              <a:t>Eid Shoppers in Dubai Can Win...</a:t>
            </a:r>
            <a:endParaRPr/>
          </a:p>
        </p:txBody>
      </p:sp>
      <p:sp>
        <p:nvSpPr>
          <p:cNvPr id="27" name="Shape">
            <a:extLst>
              <a:ext uri="{FF2B5EF4-FFF2-40B4-BE49-F238E27FC236}">
                <a16:creationId xmlns:a16="http://schemas.microsoft.com/office/drawing/2014/main" id="{77BEC2F1-62F4-6C49-E9C0-0A910D4A35DB}"/>
              </a:ext>
            </a:extLst>
          </p:cNvPr>
          <p:cNvSpPr/>
          <p:nvPr/>
        </p:nvSpPr>
        <p:spPr>
          <a:xfrm>
            <a:off x="3933748" y="235240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...throughout the city, including Al Ghurair Centre, Silicon Central, Bay Avenue, Arabian Center, Dubai Festival Plaza, Al Khail Gate Community Centre, Shorooq Community Centre, Serena Community Centre, Villanova Community C...</a:t>
            </a:r>
            <a:endParaRPr/>
          </a:p>
        </p:txBody>
      </p:sp>
      <p:pic>
        <p:nvPicPr>
          <p:cNvPr id="28" name="Picture">
            <a:hlinkClick r:id="rId7"/>
            <a:extLst>
              <a:ext uri="{FF2B5EF4-FFF2-40B4-BE49-F238E27FC236}">
                <a16:creationId xmlns:a16="http://schemas.microsoft.com/office/drawing/2014/main" id="{516BA4C5-16A4-F9BF-6D46-FA2CE332C392}"/>
              </a:ext>
            </a:extLst>
          </p:cNvPr>
          <p:cNvPicPr/>
          <p:nvPr/>
        </p:nvPicPr>
        <p:blipFill>
          <a:blip r:embed="rId5"/>
          <a:srcRect/>
          <a:stretch/>
        </p:blipFill>
        <p:spPr>
          <a:xfrm>
            <a:off x="7364090" y="2109575"/>
            <a:ext cx="1143000" cy="781050"/>
          </a:xfrm>
          <a:prstGeom prst="rect">
            <a:avLst/>
          </a:prstGeom>
        </p:spPr>
      </p:pic>
      <p:sp>
        <p:nvSpPr>
          <p:cNvPr id="29" name="Shape">
            <a:extLst>
              <a:ext uri="{FF2B5EF4-FFF2-40B4-BE49-F238E27FC236}">
                <a16:creationId xmlns:a16="http://schemas.microsoft.com/office/drawing/2014/main" id="{56F62FEC-EDBC-0C16-F701-833508696F41}"/>
              </a:ext>
            </a:extLst>
          </p:cNvPr>
          <p:cNvSpPr/>
          <p:nvPr/>
        </p:nvSpPr>
        <p:spPr>
          <a:xfrm>
            <a:off x="8769307" y="231831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C5AD4AAC-8F9D-2378-D107-63353C5FAB77}"/>
              </a:ext>
            </a:extLst>
          </p:cNvPr>
          <p:cNvSpPr/>
          <p:nvPr/>
        </p:nvSpPr>
        <p:spPr>
          <a:xfrm>
            <a:off x="8769307" y="231831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A14E8C0D-EC78-7795-1823-D089A445A585}"/>
              </a:ext>
            </a:extLst>
          </p:cNvPr>
          <p:cNvSpPr/>
          <p:nvPr/>
        </p:nvSpPr>
        <p:spPr>
          <a:xfrm>
            <a:off x="10047672" y="206079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171DC43C-9CE0-04A8-3596-C1A5316DFE05}"/>
              </a:ext>
            </a:extLst>
          </p:cNvPr>
          <p:cNvCxnSpPr/>
          <p:nvPr/>
        </p:nvCxnSpPr>
        <p:spPr>
          <a:xfrm>
            <a:off x="432137" y="2954555"/>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EA61DA7B-B738-5CAE-52F9-8DD64B66CE11}"/>
              </a:ext>
            </a:extLst>
          </p:cNvPr>
          <p:cNvPicPr/>
          <p:nvPr/>
        </p:nvPicPr>
        <p:blipFill>
          <a:blip r:embed="rId8"/>
          <a:srcRect/>
          <a:stretch/>
        </p:blipFill>
        <p:spPr>
          <a:xfrm>
            <a:off x="546549" y="3038450"/>
            <a:ext cx="438150" cy="438150"/>
          </a:xfrm>
          <a:prstGeom prst="rect">
            <a:avLst/>
          </a:prstGeom>
        </p:spPr>
      </p:pic>
      <p:sp>
        <p:nvSpPr>
          <p:cNvPr id="34" name="Shape">
            <a:extLst>
              <a:ext uri="{FF2B5EF4-FFF2-40B4-BE49-F238E27FC236}">
                <a16:creationId xmlns:a16="http://schemas.microsoft.com/office/drawing/2014/main" id="{463B3ADB-56AB-8024-9BBF-5469FD5F2500}"/>
              </a:ext>
            </a:extLst>
          </p:cNvPr>
          <p:cNvSpPr/>
          <p:nvPr/>
        </p:nvSpPr>
        <p:spPr>
          <a:xfrm>
            <a:off x="1121343" y="307574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news desk</a:t>
            </a:r>
            <a:endParaRPr/>
          </a:p>
        </p:txBody>
      </p:sp>
      <p:sp>
        <p:nvSpPr>
          <p:cNvPr id="35" name="Shape">
            <a:extLst>
              <a:ext uri="{FF2B5EF4-FFF2-40B4-BE49-F238E27FC236}">
                <a16:creationId xmlns:a16="http://schemas.microsoft.com/office/drawing/2014/main" id="{03CD6262-F0EF-33B1-E484-8B463E86D5FB}"/>
              </a:ext>
            </a:extLst>
          </p:cNvPr>
          <p:cNvSpPr/>
          <p:nvPr/>
        </p:nvSpPr>
        <p:spPr>
          <a:xfrm>
            <a:off x="1121343" y="335598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9"/>
              </a:rPr>
              <a:t>onevillenews.com</a:t>
            </a:r>
            <a:endParaRPr/>
          </a:p>
        </p:txBody>
      </p:sp>
      <p:sp>
        <p:nvSpPr>
          <p:cNvPr id="36" name="Shape">
            <a:extLst>
              <a:ext uri="{FF2B5EF4-FFF2-40B4-BE49-F238E27FC236}">
                <a16:creationId xmlns:a16="http://schemas.microsoft.com/office/drawing/2014/main" id="{E49A0263-BD5D-5ECD-5AC8-6819FB55E825}"/>
              </a:ext>
            </a:extLst>
          </p:cNvPr>
          <p:cNvSpPr/>
          <p:nvPr/>
        </p:nvSpPr>
        <p:spPr>
          <a:xfrm>
            <a:off x="598880" y="359079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0"/>
              </a:rPr>
              <a:t>11/03/26 23:42</a:t>
            </a:r>
            <a:r>
              <a:t> | </a:t>
            </a:r>
            <a:r>
              <a:rPr lang="en" b="0" i="0"/>
              <a:t>United Arab Emirates</a:t>
            </a:r>
            <a:endParaRPr/>
          </a:p>
        </p:txBody>
      </p:sp>
      <p:sp>
        <p:nvSpPr>
          <p:cNvPr id="37" name="Shape">
            <a:extLst>
              <a:ext uri="{FF2B5EF4-FFF2-40B4-BE49-F238E27FC236}">
                <a16:creationId xmlns:a16="http://schemas.microsoft.com/office/drawing/2014/main" id="{59A62AE2-DA16-C6BE-F0A1-E1A2002B5FE3}"/>
              </a:ext>
            </a:extLst>
          </p:cNvPr>
          <p:cNvSpPr/>
          <p:nvPr/>
        </p:nvSpPr>
        <p:spPr>
          <a:xfrm>
            <a:off x="3912905" y="3015906"/>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0"/>
              </a:rPr>
              <a:t>Dubai Eid Shoppers to Share...</a:t>
            </a:r>
            <a:endParaRPr/>
          </a:p>
        </p:txBody>
      </p:sp>
      <p:sp>
        <p:nvSpPr>
          <p:cNvPr id="38" name="Shape">
            <a:extLst>
              <a:ext uri="{FF2B5EF4-FFF2-40B4-BE49-F238E27FC236}">
                <a16:creationId xmlns:a16="http://schemas.microsoft.com/office/drawing/2014/main" id="{4DC39EF9-8161-8246-3E0A-A8BF08866497}"/>
              </a:ext>
            </a:extLst>
          </p:cNvPr>
          <p:cNvSpPr/>
          <p:nvPr/>
        </p:nvSpPr>
        <p:spPr>
          <a:xfrm>
            <a:off x="3933748" y="326131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Participating locations include several shopping and community centres across Dubai, among them Al Ghurair Centre, Silicon Central, Bay Avenue, Arabian Center and Dubai Festival Plaza. Community retail hubs such as Al Khail Gate...</a:t>
            </a:r>
            <a:endParaRPr/>
          </a:p>
        </p:txBody>
      </p:sp>
      <p:pic>
        <p:nvPicPr>
          <p:cNvPr id="39" name="Picture">
            <a:hlinkClick r:id="rId11"/>
            <a:extLst>
              <a:ext uri="{FF2B5EF4-FFF2-40B4-BE49-F238E27FC236}">
                <a16:creationId xmlns:a16="http://schemas.microsoft.com/office/drawing/2014/main" id="{8D90A4F0-5F95-974D-0B11-AE2B31121564}"/>
              </a:ext>
            </a:extLst>
          </p:cNvPr>
          <p:cNvPicPr/>
          <p:nvPr/>
        </p:nvPicPr>
        <p:blipFill>
          <a:blip r:embed="rId12"/>
          <a:srcRect/>
          <a:stretch/>
        </p:blipFill>
        <p:spPr>
          <a:xfrm>
            <a:off x="7335515" y="3018485"/>
            <a:ext cx="1200150" cy="781050"/>
          </a:xfrm>
          <a:prstGeom prst="rect">
            <a:avLst/>
          </a:prstGeom>
        </p:spPr>
      </p:pic>
      <p:sp>
        <p:nvSpPr>
          <p:cNvPr id="40" name="Shape">
            <a:extLst>
              <a:ext uri="{FF2B5EF4-FFF2-40B4-BE49-F238E27FC236}">
                <a16:creationId xmlns:a16="http://schemas.microsoft.com/office/drawing/2014/main" id="{58068919-4C71-8ADA-C329-8ECC9DC1F0B2}"/>
              </a:ext>
            </a:extLst>
          </p:cNvPr>
          <p:cNvSpPr/>
          <p:nvPr/>
        </p:nvSpPr>
        <p:spPr>
          <a:xfrm>
            <a:off x="8769307" y="322722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892A6174-8197-C956-461B-9EA5FB08BD81}"/>
              </a:ext>
            </a:extLst>
          </p:cNvPr>
          <p:cNvSpPr/>
          <p:nvPr/>
        </p:nvSpPr>
        <p:spPr>
          <a:xfrm>
            <a:off x="8769307" y="322722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15719F76-C3AF-06B6-052A-089E5336C6A9}"/>
              </a:ext>
            </a:extLst>
          </p:cNvPr>
          <p:cNvSpPr/>
          <p:nvPr/>
        </p:nvSpPr>
        <p:spPr>
          <a:xfrm>
            <a:off x="10047672" y="296970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F6CFA5E6-C9A5-0C4B-91DB-6C2C5ABFEB87}"/>
              </a:ext>
            </a:extLst>
          </p:cNvPr>
          <p:cNvCxnSpPr/>
          <p:nvPr/>
        </p:nvCxnSpPr>
        <p:spPr>
          <a:xfrm>
            <a:off x="432137" y="3863465"/>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F0EF0BC2-0A52-C3E7-5060-69EEBAA7A20E}"/>
              </a:ext>
            </a:extLst>
          </p:cNvPr>
          <p:cNvPicPr/>
          <p:nvPr/>
        </p:nvPicPr>
        <p:blipFill>
          <a:blip r:embed="rId2"/>
          <a:srcRect/>
          <a:stretch/>
        </p:blipFill>
        <p:spPr>
          <a:xfrm>
            <a:off x="546549" y="3947360"/>
            <a:ext cx="438150" cy="438150"/>
          </a:xfrm>
          <a:prstGeom prst="rect">
            <a:avLst/>
          </a:prstGeom>
        </p:spPr>
      </p:pic>
      <p:sp>
        <p:nvSpPr>
          <p:cNvPr id="45" name="Shape">
            <a:extLst>
              <a:ext uri="{FF2B5EF4-FFF2-40B4-BE49-F238E27FC236}">
                <a16:creationId xmlns:a16="http://schemas.microsoft.com/office/drawing/2014/main" id="{F86B8761-D654-B04F-0AD8-56CF6575A2CA}"/>
              </a:ext>
            </a:extLst>
          </p:cNvPr>
          <p:cNvSpPr/>
          <p:nvPr/>
        </p:nvSpPr>
        <p:spPr>
          <a:xfrm>
            <a:off x="1121343" y="398465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mollyyxuf698340.pointblog.net</a:t>
            </a:r>
            <a:endParaRPr/>
          </a:p>
        </p:txBody>
      </p:sp>
      <p:sp>
        <p:nvSpPr>
          <p:cNvPr id="46" name="Shape">
            <a:extLst>
              <a:ext uri="{FF2B5EF4-FFF2-40B4-BE49-F238E27FC236}">
                <a16:creationId xmlns:a16="http://schemas.microsoft.com/office/drawing/2014/main" id="{79EFEC20-67D3-F2EE-92AD-DE65AC4574C5}"/>
              </a:ext>
            </a:extLst>
          </p:cNvPr>
          <p:cNvSpPr/>
          <p:nvPr/>
        </p:nvSpPr>
        <p:spPr>
          <a:xfrm>
            <a:off x="1121343" y="426489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3"/>
              </a:rPr>
              <a:t>pointblog.net</a:t>
            </a:r>
            <a:endParaRPr/>
          </a:p>
        </p:txBody>
      </p:sp>
      <p:sp>
        <p:nvSpPr>
          <p:cNvPr id="47" name="Shape">
            <a:extLst>
              <a:ext uri="{FF2B5EF4-FFF2-40B4-BE49-F238E27FC236}">
                <a16:creationId xmlns:a16="http://schemas.microsoft.com/office/drawing/2014/main" id="{AF5839AE-DC4F-DE36-C303-94321C3D5C51}"/>
              </a:ext>
            </a:extLst>
          </p:cNvPr>
          <p:cNvSpPr/>
          <p:nvPr/>
        </p:nvSpPr>
        <p:spPr>
          <a:xfrm>
            <a:off x="598880" y="449970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4"/>
              </a:rPr>
              <a:t>18/03/26 15:47</a:t>
            </a:r>
            <a:r>
              <a:t> | </a:t>
            </a:r>
            <a:r>
              <a:rPr lang="en" b="0" i="0"/>
              <a:t>United States</a:t>
            </a:r>
            <a:endParaRPr/>
          </a:p>
        </p:txBody>
      </p:sp>
      <p:sp>
        <p:nvSpPr>
          <p:cNvPr id="48" name="Shape">
            <a:extLst>
              <a:ext uri="{FF2B5EF4-FFF2-40B4-BE49-F238E27FC236}">
                <a16:creationId xmlns:a16="http://schemas.microsoft.com/office/drawing/2014/main" id="{AF000A03-EE1D-B9BF-0A89-497C8F86DA2D}"/>
              </a:ext>
            </a:extLst>
          </p:cNvPr>
          <p:cNvSpPr/>
          <p:nvPr/>
        </p:nvSpPr>
        <p:spPr>
          <a:xfrm>
            <a:off x="3912905" y="3924816"/>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4"/>
              </a:rPr>
              <a:t>Unveil UAE Centre: Your Gat...</a:t>
            </a:r>
            <a:endParaRPr/>
          </a:p>
        </p:txBody>
      </p:sp>
      <p:sp>
        <p:nvSpPr>
          <p:cNvPr id="49" name="Shape">
            <a:extLst>
              <a:ext uri="{FF2B5EF4-FFF2-40B4-BE49-F238E27FC236}">
                <a16:creationId xmlns:a16="http://schemas.microsoft.com/office/drawing/2014/main" id="{F1E38F18-E149-9D84-EB84-29EA76F1FB45}"/>
              </a:ext>
            </a:extLst>
          </p:cNvPr>
          <p:cNvSpPr/>
          <p:nvPr/>
        </p:nvSpPr>
        <p:spPr>
          <a:xfrm>
            <a:off x="3933748" y="417022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...an extraordinary journey into the heart of the United Arab Emirates with the Arabian Centre. This vibrant hub offers a unique portal to delve into the rich culture, history, and traditions that define this captivating nation. Immerse ...</a:t>
            </a:r>
            <a:endParaRPr/>
          </a:p>
        </p:txBody>
      </p:sp>
      <p:pic>
        <p:nvPicPr>
          <p:cNvPr id="50" name="Picture">
            <a:hlinkClick r:id="rId15"/>
            <a:extLst>
              <a:ext uri="{FF2B5EF4-FFF2-40B4-BE49-F238E27FC236}">
                <a16:creationId xmlns:a16="http://schemas.microsoft.com/office/drawing/2014/main" id="{1C5A4F48-C443-BFE6-499A-20A6F9EF2FE0}"/>
              </a:ext>
            </a:extLst>
          </p:cNvPr>
          <p:cNvPicPr/>
          <p:nvPr/>
        </p:nvPicPr>
        <p:blipFill>
          <a:blip r:embed="rId16"/>
          <a:srcRect/>
          <a:stretch/>
        </p:blipFill>
        <p:spPr>
          <a:xfrm>
            <a:off x="7545065" y="3927395"/>
            <a:ext cx="781050" cy="781050"/>
          </a:xfrm>
          <a:prstGeom prst="rect">
            <a:avLst/>
          </a:prstGeom>
        </p:spPr>
      </p:pic>
      <p:sp>
        <p:nvSpPr>
          <p:cNvPr id="51" name="Shape">
            <a:extLst>
              <a:ext uri="{FF2B5EF4-FFF2-40B4-BE49-F238E27FC236}">
                <a16:creationId xmlns:a16="http://schemas.microsoft.com/office/drawing/2014/main" id="{5F0199CC-BE53-D4DB-DFB4-736A75D5A11D}"/>
              </a:ext>
            </a:extLst>
          </p:cNvPr>
          <p:cNvSpPr/>
          <p:nvPr/>
        </p:nvSpPr>
        <p:spPr>
          <a:xfrm>
            <a:off x="8769307" y="413613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B50DC13F-87F8-EA58-D6FD-C0C975AE4308}"/>
              </a:ext>
            </a:extLst>
          </p:cNvPr>
          <p:cNvSpPr/>
          <p:nvPr/>
        </p:nvSpPr>
        <p:spPr>
          <a:xfrm>
            <a:off x="8769307" y="413613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6796C302-CD46-0100-C935-D6251DA25B2D}"/>
              </a:ext>
            </a:extLst>
          </p:cNvPr>
          <p:cNvSpPr/>
          <p:nvPr/>
        </p:nvSpPr>
        <p:spPr>
          <a:xfrm>
            <a:off x="10047672" y="387861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DE8501B6-D23A-4FAD-ADC0-BB4772D2F3BA}"/>
              </a:ext>
            </a:extLst>
          </p:cNvPr>
          <p:cNvCxnSpPr/>
          <p:nvPr/>
        </p:nvCxnSpPr>
        <p:spPr>
          <a:xfrm>
            <a:off x="432137" y="4772375"/>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F439497A-107F-F0FC-A81F-E4D186663990}"/>
              </a:ext>
            </a:extLst>
          </p:cNvPr>
          <p:cNvPicPr/>
          <p:nvPr/>
        </p:nvPicPr>
        <p:blipFill>
          <a:blip r:embed="rId2"/>
          <a:srcRect/>
          <a:stretch/>
        </p:blipFill>
        <p:spPr>
          <a:xfrm>
            <a:off x="546549" y="4856270"/>
            <a:ext cx="438150" cy="438150"/>
          </a:xfrm>
          <a:prstGeom prst="rect">
            <a:avLst/>
          </a:prstGeom>
        </p:spPr>
      </p:pic>
      <p:sp>
        <p:nvSpPr>
          <p:cNvPr id="56" name="Shape">
            <a:extLst>
              <a:ext uri="{FF2B5EF4-FFF2-40B4-BE49-F238E27FC236}">
                <a16:creationId xmlns:a16="http://schemas.microsoft.com/office/drawing/2014/main" id="{BC55D601-FC39-6610-8EC2-2307219FDE4A}"/>
              </a:ext>
            </a:extLst>
          </p:cNvPr>
          <p:cNvSpPr/>
          <p:nvPr/>
        </p:nvSpPr>
        <p:spPr>
          <a:xfrm>
            <a:off x="1121343" y="489356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Muskan Gupta</a:t>
            </a:r>
            <a:endParaRPr/>
          </a:p>
        </p:txBody>
      </p:sp>
      <p:sp>
        <p:nvSpPr>
          <p:cNvPr id="57" name="Shape">
            <a:extLst>
              <a:ext uri="{FF2B5EF4-FFF2-40B4-BE49-F238E27FC236}">
                <a16:creationId xmlns:a16="http://schemas.microsoft.com/office/drawing/2014/main" id="{C32D688B-681E-C11D-81FA-15F52A384C8B}"/>
              </a:ext>
            </a:extLst>
          </p:cNvPr>
          <p:cNvSpPr/>
          <p:nvPr/>
        </p:nvSpPr>
        <p:spPr>
          <a:xfrm>
            <a:off x="1121343" y="517380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7"/>
              </a:rPr>
              <a:t>gulfbuzz.com</a:t>
            </a:r>
            <a:endParaRPr/>
          </a:p>
        </p:txBody>
      </p:sp>
      <p:sp>
        <p:nvSpPr>
          <p:cNvPr id="58" name="Shape">
            <a:extLst>
              <a:ext uri="{FF2B5EF4-FFF2-40B4-BE49-F238E27FC236}">
                <a16:creationId xmlns:a16="http://schemas.microsoft.com/office/drawing/2014/main" id="{F94BCB26-608C-7120-292D-0F9C39E50658}"/>
              </a:ext>
            </a:extLst>
          </p:cNvPr>
          <p:cNvSpPr/>
          <p:nvPr/>
        </p:nvSpPr>
        <p:spPr>
          <a:xfrm>
            <a:off x="598880" y="540861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8"/>
              </a:rPr>
              <a:t>18/03/26 17:11</a:t>
            </a:r>
            <a:r>
              <a:t> | </a:t>
            </a:r>
            <a:r>
              <a:rPr lang="en" b="0" i="0"/>
              <a:t>United Arab Emirates</a:t>
            </a:r>
            <a:endParaRPr/>
          </a:p>
        </p:txBody>
      </p:sp>
      <p:sp>
        <p:nvSpPr>
          <p:cNvPr id="59" name="Shape">
            <a:extLst>
              <a:ext uri="{FF2B5EF4-FFF2-40B4-BE49-F238E27FC236}">
                <a16:creationId xmlns:a16="http://schemas.microsoft.com/office/drawing/2014/main" id="{E5F40C46-0A7A-97F1-4E58-A8BBF5109784}"/>
              </a:ext>
            </a:extLst>
          </p:cNvPr>
          <p:cNvSpPr/>
          <p:nvPr/>
        </p:nvSpPr>
        <p:spPr>
          <a:xfrm>
            <a:off x="3912905" y="4833726"/>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8"/>
              </a:rPr>
              <a:t>12 Things To Do This Eid Al Fitr...</a:t>
            </a:r>
            <a:endParaRPr/>
          </a:p>
        </p:txBody>
      </p:sp>
      <p:sp>
        <p:nvSpPr>
          <p:cNvPr id="60" name="Shape">
            <a:extLst>
              <a:ext uri="{FF2B5EF4-FFF2-40B4-BE49-F238E27FC236}">
                <a16:creationId xmlns:a16="http://schemas.microsoft.com/office/drawing/2014/main" id="{FC04645F-23A1-B02B-FD7C-CF42A18FBFF9}"/>
              </a:ext>
            </a:extLst>
          </p:cNvPr>
          <p:cNvSpPr/>
          <p:nvPr/>
        </p:nvSpPr>
        <p:spPr>
          <a:xfrm>
            <a:off x="3933748" y="507913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...Mudon Community Centre, NWZ – Al Khail Gate, NWZ – Mizhar 1, NWZ – Mizhar 2, Arabian Center and Dubai Festival Plaza. The raffle draws will take place during the last three days of Eid. 12. Jewellery Promotions Across Dubai (...</a:t>
            </a:r>
            <a:endParaRPr/>
          </a:p>
        </p:txBody>
      </p:sp>
      <p:pic>
        <p:nvPicPr>
          <p:cNvPr id="61" name="Picture">
            <a:hlinkClick r:id="rId19"/>
            <a:extLst>
              <a:ext uri="{FF2B5EF4-FFF2-40B4-BE49-F238E27FC236}">
                <a16:creationId xmlns:a16="http://schemas.microsoft.com/office/drawing/2014/main" id="{9E715500-6BEA-6C62-8D88-544F78B823B0}"/>
              </a:ext>
            </a:extLst>
          </p:cNvPr>
          <p:cNvPicPr/>
          <p:nvPr/>
        </p:nvPicPr>
        <p:blipFill>
          <a:blip r:embed="rId20"/>
          <a:srcRect/>
          <a:stretch/>
        </p:blipFill>
        <p:spPr>
          <a:xfrm>
            <a:off x="7545065" y="4836305"/>
            <a:ext cx="781050" cy="781050"/>
          </a:xfrm>
          <a:prstGeom prst="rect">
            <a:avLst/>
          </a:prstGeom>
        </p:spPr>
      </p:pic>
      <p:sp>
        <p:nvSpPr>
          <p:cNvPr id="62" name="Shape">
            <a:extLst>
              <a:ext uri="{FF2B5EF4-FFF2-40B4-BE49-F238E27FC236}">
                <a16:creationId xmlns:a16="http://schemas.microsoft.com/office/drawing/2014/main" id="{4B92CC69-6369-60D2-30D7-1A9D99023C7F}"/>
              </a:ext>
            </a:extLst>
          </p:cNvPr>
          <p:cNvSpPr/>
          <p:nvPr/>
        </p:nvSpPr>
        <p:spPr>
          <a:xfrm>
            <a:off x="8769307" y="504504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C9B06469-14DD-6FEE-4FAD-4A3A4BDD6B4A}"/>
              </a:ext>
            </a:extLst>
          </p:cNvPr>
          <p:cNvSpPr/>
          <p:nvPr/>
        </p:nvSpPr>
        <p:spPr>
          <a:xfrm>
            <a:off x="8769307" y="504504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4" name="Shape">
            <a:extLst>
              <a:ext uri="{FF2B5EF4-FFF2-40B4-BE49-F238E27FC236}">
                <a16:creationId xmlns:a16="http://schemas.microsoft.com/office/drawing/2014/main" id="{57280C61-B6A6-76CF-4BB7-CC73ECB8551A}"/>
              </a:ext>
            </a:extLst>
          </p:cNvPr>
          <p:cNvSpPr/>
          <p:nvPr/>
        </p:nvSpPr>
        <p:spPr>
          <a:xfrm>
            <a:off x="10047672" y="478752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5" name="Line 200: (537882, 6316553) - (11654110, 6316553)">
            <a:extLst>
              <a:ext uri="{FF2B5EF4-FFF2-40B4-BE49-F238E27FC236}">
                <a16:creationId xmlns:a16="http://schemas.microsoft.com/office/drawing/2014/main" id="{AFA2D5D7-6158-EC8E-75EF-680E1C258D76}"/>
              </a:ext>
            </a:extLst>
          </p:cNvPr>
          <p:cNvCxnSpPr/>
          <p:nvPr/>
        </p:nvCxnSpPr>
        <p:spPr>
          <a:xfrm>
            <a:off x="432137" y="5681285"/>
            <a:ext cx="11116228" cy="0"/>
          </a:xfrm>
          <a:prstGeom prst="line">
            <a:avLst/>
          </a:prstGeom>
          <a:ln w="12700">
            <a:solidFill>
              <a:srgbClr val="C7C7C7"/>
            </a:solidFill>
          </a:ln>
        </p:spPr>
      </p:cxnSp>
    </p:spTree>
    <p:extLst>
      <p:ext uri="{BB962C8B-B14F-4D97-AF65-F5344CB8AC3E}">
        <p14:creationId xmlns:p14="http://schemas.microsoft.com/office/powerpoint/2010/main" val="2932699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F45B-957E-9227-09A6-5E74A582A588}"/>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ACB1DCD8-D651-EBB3-939D-EC64D009176B}"/>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18E8BE4B-E2E3-EA59-E177-6C2F3547373D}"/>
              </a:ext>
            </a:extLst>
          </p:cNvPr>
          <p:cNvCxnSpPr/>
          <p:nvPr/>
        </p:nvCxnSpPr>
        <p:spPr>
          <a:xfrm>
            <a:off x="432137" y="1030858"/>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9A33EA25-B21E-E0C7-5325-D3B78DCD2755}"/>
              </a:ext>
            </a:extLst>
          </p:cNvPr>
          <p:cNvSpPr/>
          <p:nvPr/>
        </p:nvSpPr>
        <p:spPr>
          <a:xfrm>
            <a:off x="765623" y="815590"/>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C02B4129-3475-E6A0-CFE2-CF09973BF14D}"/>
              </a:ext>
            </a:extLst>
          </p:cNvPr>
          <p:cNvCxnSpPr/>
          <p:nvPr/>
        </p:nvCxnSpPr>
        <p:spPr>
          <a:xfrm>
            <a:off x="3767005" y="791672"/>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17A78954-FC0E-6294-07AF-3CFB9CABAC21}"/>
              </a:ext>
            </a:extLst>
          </p:cNvPr>
          <p:cNvSpPr/>
          <p:nvPr/>
        </p:nvSpPr>
        <p:spPr>
          <a:xfrm>
            <a:off x="4100491" y="815590"/>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5D3F9944-2D80-573C-B58A-760F25253DA0}"/>
              </a:ext>
            </a:extLst>
          </p:cNvPr>
          <p:cNvCxnSpPr/>
          <p:nvPr/>
        </p:nvCxnSpPr>
        <p:spPr>
          <a:xfrm>
            <a:off x="8769307" y="791672"/>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039802F0-3BC6-7851-F675-29C35BFDE717}"/>
              </a:ext>
            </a:extLst>
          </p:cNvPr>
          <p:cNvSpPr/>
          <p:nvPr/>
        </p:nvSpPr>
        <p:spPr>
          <a:xfrm>
            <a:off x="8880469" y="815590"/>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232E9C6B-06AD-B903-FE36-2FEE4A6BF116}"/>
              </a:ext>
            </a:extLst>
          </p:cNvPr>
          <p:cNvCxnSpPr/>
          <p:nvPr/>
        </p:nvCxnSpPr>
        <p:spPr>
          <a:xfrm>
            <a:off x="9880929" y="791672"/>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DC384C70-9FBF-8314-E0A3-40793DFAF1AD}"/>
              </a:ext>
            </a:extLst>
          </p:cNvPr>
          <p:cNvSpPr/>
          <p:nvPr/>
        </p:nvSpPr>
        <p:spPr>
          <a:xfrm>
            <a:off x="10047672" y="815590"/>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3075CB03-B644-F83E-6F3C-AC8997128628}"/>
              </a:ext>
            </a:extLst>
          </p:cNvPr>
          <p:cNvPicPr/>
          <p:nvPr/>
        </p:nvPicPr>
        <p:blipFill>
          <a:blip r:embed="rId2"/>
          <a:srcRect/>
          <a:stretch/>
        </p:blipFill>
        <p:spPr>
          <a:xfrm>
            <a:off x="546549" y="1286203"/>
            <a:ext cx="438150" cy="95250"/>
          </a:xfrm>
          <a:prstGeom prst="rect">
            <a:avLst/>
          </a:prstGeom>
        </p:spPr>
      </p:pic>
      <p:sp>
        <p:nvSpPr>
          <p:cNvPr id="12" name="Shape">
            <a:extLst>
              <a:ext uri="{FF2B5EF4-FFF2-40B4-BE49-F238E27FC236}">
                <a16:creationId xmlns:a16="http://schemas.microsoft.com/office/drawing/2014/main" id="{D7306E2C-0278-39B5-B57D-5520369CE975}"/>
              </a:ext>
            </a:extLst>
          </p:cNvPr>
          <p:cNvSpPr/>
          <p:nvPr/>
        </p:nvSpPr>
        <p:spPr>
          <a:xfrm>
            <a:off x="1121343" y="115204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aarti saundalkar 21</a:t>
            </a:r>
            <a:endParaRPr/>
          </a:p>
        </p:txBody>
      </p:sp>
      <p:sp>
        <p:nvSpPr>
          <p:cNvPr id="13" name="Shape">
            <a:extLst>
              <a:ext uri="{FF2B5EF4-FFF2-40B4-BE49-F238E27FC236}">
                <a16:creationId xmlns:a16="http://schemas.microsoft.com/office/drawing/2014/main" id="{F1C4FF1B-FCEC-9776-2289-C2E768207035}"/>
              </a:ext>
            </a:extLst>
          </p:cNvPr>
          <p:cNvSpPr/>
          <p:nvPr/>
        </p:nvSpPr>
        <p:spPr>
          <a:xfrm>
            <a:off x="1121343" y="143229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3"/>
              </a:rPr>
              <a:t>whatson.ae</a:t>
            </a:r>
            <a:endParaRPr/>
          </a:p>
        </p:txBody>
      </p:sp>
      <p:sp>
        <p:nvSpPr>
          <p:cNvPr id="14" name="Shape">
            <a:extLst>
              <a:ext uri="{FF2B5EF4-FFF2-40B4-BE49-F238E27FC236}">
                <a16:creationId xmlns:a16="http://schemas.microsoft.com/office/drawing/2014/main" id="{71F99C91-5173-2181-2131-9B2B20B5E03C}"/>
              </a:ext>
            </a:extLst>
          </p:cNvPr>
          <p:cNvSpPr/>
          <p:nvPr/>
        </p:nvSpPr>
        <p:spPr>
          <a:xfrm>
            <a:off x="598880" y="166709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4"/>
              </a:rPr>
              <a:t>21/03/26 08:00</a:t>
            </a:r>
            <a:r>
              <a:t> | </a:t>
            </a:r>
            <a:r>
              <a:rPr lang="en" b="0" i="0"/>
              <a:t>United Arab Emirates</a:t>
            </a:r>
            <a:endParaRPr/>
          </a:p>
        </p:txBody>
      </p:sp>
      <p:sp>
        <p:nvSpPr>
          <p:cNvPr id="15" name="Shape">
            <a:extLst>
              <a:ext uri="{FF2B5EF4-FFF2-40B4-BE49-F238E27FC236}">
                <a16:creationId xmlns:a16="http://schemas.microsoft.com/office/drawing/2014/main" id="{67263554-799D-A65B-18FA-4D5D237F8949}"/>
              </a:ext>
            </a:extLst>
          </p:cNvPr>
          <p:cNvSpPr/>
          <p:nvPr/>
        </p:nvSpPr>
        <p:spPr>
          <a:xfrm>
            <a:off x="3912905" y="109220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4"/>
              </a:rPr>
              <a:t>63 of the best indoor activitie...</a:t>
            </a:r>
            <a:endParaRPr/>
          </a:p>
        </p:txBody>
      </p:sp>
      <p:sp>
        <p:nvSpPr>
          <p:cNvPr id="16" name="Shape">
            <a:extLst>
              <a:ext uri="{FF2B5EF4-FFF2-40B4-BE49-F238E27FC236}">
                <a16:creationId xmlns:a16="http://schemas.microsoft.com/office/drawing/2014/main" id="{EC0F8592-0E8A-3DBE-C7BA-35F20F0C3B17}"/>
              </a:ext>
            </a:extLst>
          </p:cNvPr>
          <p:cNvSpPr/>
          <p:nvPr/>
        </p:nvSpPr>
        <p:spPr>
          <a:xfrm>
            <a:off x="3933748" y="133761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...inflatable park which you can find in Arabian Centre Dubai, Al Quoz, Nad Al Sheba and Mercato Mall. Get your thrills in this ... and for the people watching. Where: Arabian Centre, Mercato, Nad Al Sheba and Al Quoz When: varies ...</a:t>
            </a:r>
            <a:endParaRPr/>
          </a:p>
        </p:txBody>
      </p:sp>
      <p:pic>
        <p:nvPicPr>
          <p:cNvPr id="17" name="Picture">
            <a:hlinkClick r:id="rId5"/>
            <a:extLst>
              <a:ext uri="{FF2B5EF4-FFF2-40B4-BE49-F238E27FC236}">
                <a16:creationId xmlns:a16="http://schemas.microsoft.com/office/drawing/2014/main" id="{5191DE44-10A8-97AB-B92F-69183E918A5E}"/>
              </a:ext>
            </a:extLst>
          </p:cNvPr>
          <p:cNvPicPr/>
          <p:nvPr/>
        </p:nvPicPr>
        <p:blipFill>
          <a:blip r:embed="rId6"/>
          <a:srcRect/>
          <a:stretch/>
        </p:blipFill>
        <p:spPr>
          <a:xfrm>
            <a:off x="7216452" y="1113838"/>
            <a:ext cx="1438275" cy="742950"/>
          </a:xfrm>
          <a:prstGeom prst="rect">
            <a:avLst/>
          </a:prstGeom>
        </p:spPr>
      </p:pic>
      <p:sp>
        <p:nvSpPr>
          <p:cNvPr id="18" name="Shape">
            <a:extLst>
              <a:ext uri="{FF2B5EF4-FFF2-40B4-BE49-F238E27FC236}">
                <a16:creationId xmlns:a16="http://schemas.microsoft.com/office/drawing/2014/main" id="{0FC0877B-8986-B741-1449-E6B5DDB6E5BA}"/>
              </a:ext>
            </a:extLst>
          </p:cNvPr>
          <p:cNvSpPr/>
          <p:nvPr/>
        </p:nvSpPr>
        <p:spPr>
          <a:xfrm>
            <a:off x="8769307" y="130353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19" name="Shape">
            <a:extLst>
              <a:ext uri="{FF2B5EF4-FFF2-40B4-BE49-F238E27FC236}">
                <a16:creationId xmlns:a16="http://schemas.microsoft.com/office/drawing/2014/main" id="{25049052-8E18-4F4A-4B32-C91B2DDA2056}"/>
              </a:ext>
            </a:extLst>
          </p:cNvPr>
          <p:cNvSpPr/>
          <p:nvPr/>
        </p:nvSpPr>
        <p:spPr>
          <a:xfrm>
            <a:off x="8769307" y="130353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20" name="Shape">
            <a:extLst>
              <a:ext uri="{FF2B5EF4-FFF2-40B4-BE49-F238E27FC236}">
                <a16:creationId xmlns:a16="http://schemas.microsoft.com/office/drawing/2014/main" id="{59AFD802-C595-97C9-9B5E-B03F86DFDC9D}"/>
              </a:ext>
            </a:extLst>
          </p:cNvPr>
          <p:cNvSpPr/>
          <p:nvPr/>
        </p:nvSpPr>
        <p:spPr>
          <a:xfrm>
            <a:off x="10047672" y="104600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25C7F4A9-6DD8-2A85-21C0-93C0B1315573}"/>
              </a:ext>
            </a:extLst>
          </p:cNvPr>
          <p:cNvCxnSpPr/>
          <p:nvPr/>
        </p:nvCxnSpPr>
        <p:spPr>
          <a:xfrm>
            <a:off x="432137" y="1939768"/>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62A2BACB-7A81-2712-EAEF-660A80831950}"/>
              </a:ext>
            </a:extLst>
          </p:cNvPr>
          <p:cNvPicPr/>
          <p:nvPr/>
        </p:nvPicPr>
        <p:blipFill>
          <a:blip r:embed="rId2"/>
          <a:srcRect/>
          <a:stretch/>
        </p:blipFill>
        <p:spPr>
          <a:xfrm>
            <a:off x="546549" y="2195113"/>
            <a:ext cx="438150" cy="95250"/>
          </a:xfrm>
          <a:prstGeom prst="rect">
            <a:avLst/>
          </a:prstGeom>
        </p:spPr>
      </p:pic>
      <p:sp>
        <p:nvSpPr>
          <p:cNvPr id="23" name="Shape">
            <a:extLst>
              <a:ext uri="{FF2B5EF4-FFF2-40B4-BE49-F238E27FC236}">
                <a16:creationId xmlns:a16="http://schemas.microsoft.com/office/drawing/2014/main" id="{942E4624-8CF7-92CF-420C-15C852AD0BCC}"/>
              </a:ext>
            </a:extLst>
          </p:cNvPr>
          <p:cNvSpPr/>
          <p:nvPr/>
        </p:nvSpPr>
        <p:spPr>
          <a:xfrm>
            <a:off x="1121343" y="206095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aarti saundalkar 25</a:t>
            </a:r>
            <a:endParaRPr/>
          </a:p>
        </p:txBody>
      </p:sp>
      <p:sp>
        <p:nvSpPr>
          <p:cNvPr id="24" name="Shape">
            <a:extLst>
              <a:ext uri="{FF2B5EF4-FFF2-40B4-BE49-F238E27FC236}">
                <a16:creationId xmlns:a16="http://schemas.microsoft.com/office/drawing/2014/main" id="{27BB052A-A25D-8C11-F4A0-B5BC8E4F9FBF}"/>
              </a:ext>
            </a:extLst>
          </p:cNvPr>
          <p:cNvSpPr/>
          <p:nvPr/>
        </p:nvSpPr>
        <p:spPr>
          <a:xfrm>
            <a:off x="1121343" y="234120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3"/>
              </a:rPr>
              <a:t>whatson.ae</a:t>
            </a:r>
            <a:endParaRPr/>
          </a:p>
        </p:txBody>
      </p:sp>
      <p:sp>
        <p:nvSpPr>
          <p:cNvPr id="25" name="Shape">
            <a:extLst>
              <a:ext uri="{FF2B5EF4-FFF2-40B4-BE49-F238E27FC236}">
                <a16:creationId xmlns:a16="http://schemas.microsoft.com/office/drawing/2014/main" id="{41D09127-9E94-3B15-C2C5-C172D967C2AB}"/>
              </a:ext>
            </a:extLst>
          </p:cNvPr>
          <p:cNvSpPr/>
          <p:nvPr/>
        </p:nvSpPr>
        <p:spPr>
          <a:xfrm>
            <a:off x="598880" y="257600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7"/>
              </a:rPr>
              <a:t>25/03/26 11:30</a:t>
            </a:r>
            <a:r>
              <a:t> | </a:t>
            </a:r>
            <a:r>
              <a:rPr lang="en" b="0" i="0"/>
              <a:t>United Arab Emirates</a:t>
            </a:r>
            <a:endParaRPr/>
          </a:p>
        </p:txBody>
      </p:sp>
      <p:sp>
        <p:nvSpPr>
          <p:cNvPr id="26" name="Shape">
            <a:extLst>
              <a:ext uri="{FF2B5EF4-FFF2-40B4-BE49-F238E27FC236}">
                <a16:creationId xmlns:a16="http://schemas.microsoft.com/office/drawing/2014/main" id="{2577843D-4976-12F2-66C7-E413E8780A77}"/>
              </a:ext>
            </a:extLst>
          </p:cNvPr>
          <p:cNvSpPr/>
          <p:nvPr/>
        </p:nvSpPr>
        <p:spPr>
          <a:xfrm>
            <a:off x="3912905" y="200111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7"/>
              </a:rPr>
              <a:t>16 adrenaline-pumping indoo...</a:t>
            </a:r>
            <a:endParaRPr/>
          </a:p>
        </p:txBody>
      </p:sp>
      <p:sp>
        <p:nvSpPr>
          <p:cNvPr id="27" name="Shape">
            <a:extLst>
              <a:ext uri="{FF2B5EF4-FFF2-40B4-BE49-F238E27FC236}">
                <a16:creationId xmlns:a16="http://schemas.microsoft.com/office/drawing/2014/main" id="{F93ECC31-5A8A-9074-8DCE-AACE81FA2780}"/>
              </a:ext>
            </a:extLst>
          </p:cNvPr>
          <p:cNvSpPr/>
          <p:nvPr/>
        </p:nvSpPr>
        <p:spPr>
          <a:xfrm>
            <a:off x="3933748" y="224652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...inflatable park, which you can find in Arabian Centre Dubai, Al Quoz, Nad Al Sheba and Mercato Mall. Get your thrills in ... but in a playful, chaotic way. Where: Arabian Centre, Mercato, Nad Al Sheba and Al Quoz When: varies Cost:...</a:t>
            </a:r>
            <a:endParaRPr/>
          </a:p>
        </p:txBody>
      </p:sp>
      <p:pic>
        <p:nvPicPr>
          <p:cNvPr id="28" name="Picture">
            <a:hlinkClick r:id="rId8"/>
            <a:extLst>
              <a:ext uri="{FF2B5EF4-FFF2-40B4-BE49-F238E27FC236}">
                <a16:creationId xmlns:a16="http://schemas.microsoft.com/office/drawing/2014/main" id="{A86A2178-F78C-332A-8B58-ACF02A220FE3}"/>
              </a:ext>
            </a:extLst>
          </p:cNvPr>
          <p:cNvPicPr/>
          <p:nvPr/>
        </p:nvPicPr>
        <p:blipFill>
          <a:blip r:embed="rId9"/>
          <a:srcRect/>
          <a:stretch/>
        </p:blipFill>
        <p:spPr>
          <a:xfrm>
            <a:off x="7216452" y="2022748"/>
            <a:ext cx="1438275" cy="742950"/>
          </a:xfrm>
          <a:prstGeom prst="rect">
            <a:avLst/>
          </a:prstGeom>
        </p:spPr>
      </p:pic>
      <p:sp>
        <p:nvSpPr>
          <p:cNvPr id="29" name="Shape">
            <a:extLst>
              <a:ext uri="{FF2B5EF4-FFF2-40B4-BE49-F238E27FC236}">
                <a16:creationId xmlns:a16="http://schemas.microsoft.com/office/drawing/2014/main" id="{22DD8C9C-8A63-A83D-B569-3F432A75FD1D}"/>
              </a:ext>
            </a:extLst>
          </p:cNvPr>
          <p:cNvSpPr/>
          <p:nvPr/>
        </p:nvSpPr>
        <p:spPr>
          <a:xfrm>
            <a:off x="8769307" y="221244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A08B9BD7-D699-1C68-8F4E-3FA5748889A2}"/>
              </a:ext>
            </a:extLst>
          </p:cNvPr>
          <p:cNvSpPr/>
          <p:nvPr/>
        </p:nvSpPr>
        <p:spPr>
          <a:xfrm>
            <a:off x="8769307" y="221244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51EFF8EE-E225-2AF2-3786-47D5135AAFF1}"/>
              </a:ext>
            </a:extLst>
          </p:cNvPr>
          <p:cNvSpPr/>
          <p:nvPr/>
        </p:nvSpPr>
        <p:spPr>
          <a:xfrm>
            <a:off x="10047672" y="195491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76EEBE0B-26D5-5DC0-72F4-6D3D329E2094}"/>
              </a:ext>
            </a:extLst>
          </p:cNvPr>
          <p:cNvCxnSpPr/>
          <p:nvPr/>
        </p:nvCxnSpPr>
        <p:spPr>
          <a:xfrm>
            <a:off x="432137" y="2848678"/>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72104298-2233-9991-1D0B-D30ABB36B42D}"/>
              </a:ext>
            </a:extLst>
          </p:cNvPr>
          <p:cNvPicPr/>
          <p:nvPr/>
        </p:nvPicPr>
        <p:blipFill>
          <a:blip r:embed="rId2"/>
          <a:srcRect/>
          <a:stretch/>
        </p:blipFill>
        <p:spPr>
          <a:xfrm>
            <a:off x="546549" y="3104023"/>
            <a:ext cx="438150" cy="95250"/>
          </a:xfrm>
          <a:prstGeom prst="rect">
            <a:avLst/>
          </a:prstGeom>
        </p:spPr>
      </p:pic>
      <p:sp>
        <p:nvSpPr>
          <p:cNvPr id="34" name="Shape">
            <a:extLst>
              <a:ext uri="{FF2B5EF4-FFF2-40B4-BE49-F238E27FC236}">
                <a16:creationId xmlns:a16="http://schemas.microsoft.com/office/drawing/2014/main" id="{AE5FF551-16D1-283B-6F74-679F4F3F7CB3}"/>
              </a:ext>
            </a:extLst>
          </p:cNvPr>
          <p:cNvSpPr/>
          <p:nvPr/>
        </p:nvSpPr>
        <p:spPr>
          <a:xfrm>
            <a:off x="1121343" y="296986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aarti saundalkar 27</a:t>
            </a:r>
            <a:endParaRPr/>
          </a:p>
        </p:txBody>
      </p:sp>
      <p:sp>
        <p:nvSpPr>
          <p:cNvPr id="35" name="Shape">
            <a:extLst>
              <a:ext uri="{FF2B5EF4-FFF2-40B4-BE49-F238E27FC236}">
                <a16:creationId xmlns:a16="http://schemas.microsoft.com/office/drawing/2014/main" id="{47DF1148-4D51-E277-B24E-7D2153644F30}"/>
              </a:ext>
            </a:extLst>
          </p:cNvPr>
          <p:cNvSpPr/>
          <p:nvPr/>
        </p:nvSpPr>
        <p:spPr>
          <a:xfrm>
            <a:off x="1121343" y="325011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3"/>
              </a:rPr>
              <a:t>whatson.ae</a:t>
            </a:r>
            <a:endParaRPr/>
          </a:p>
        </p:txBody>
      </p:sp>
      <p:sp>
        <p:nvSpPr>
          <p:cNvPr id="36" name="Shape">
            <a:extLst>
              <a:ext uri="{FF2B5EF4-FFF2-40B4-BE49-F238E27FC236}">
                <a16:creationId xmlns:a16="http://schemas.microsoft.com/office/drawing/2014/main" id="{E468245B-615E-B72A-328E-EED7846B8796}"/>
              </a:ext>
            </a:extLst>
          </p:cNvPr>
          <p:cNvSpPr/>
          <p:nvPr/>
        </p:nvSpPr>
        <p:spPr>
          <a:xfrm>
            <a:off x="598880" y="348491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0"/>
              </a:rPr>
              <a:t>27/03/26 10:28</a:t>
            </a:r>
            <a:r>
              <a:t> | </a:t>
            </a:r>
            <a:r>
              <a:rPr lang="en" b="0" i="0"/>
              <a:t>United Arab Emirates</a:t>
            </a:r>
            <a:endParaRPr/>
          </a:p>
        </p:txBody>
      </p:sp>
      <p:sp>
        <p:nvSpPr>
          <p:cNvPr id="37" name="Shape">
            <a:extLst>
              <a:ext uri="{FF2B5EF4-FFF2-40B4-BE49-F238E27FC236}">
                <a16:creationId xmlns:a16="http://schemas.microsoft.com/office/drawing/2014/main" id="{98DD6576-65B9-2220-B648-710DF49A4BF4}"/>
              </a:ext>
            </a:extLst>
          </p:cNvPr>
          <p:cNvSpPr/>
          <p:nvPr/>
        </p:nvSpPr>
        <p:spPr>
          <a:xfrm>
            <a:off x="3912905" y="291002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0"/>
              </a:rPr>
              <a:t>13 best indoor play areas for ...</a:t>
            </a:r>
            <a:endParaRPr/>
          </a:p>
        </p:txBody>
      </p:sp>
      <p:sp>
        <p:nvSpPr>
          <p:cNvPr id="38" name="Shape">
            <a:extLst>
              <a:ext uri="{FF2B5EF4-FFF2-40B4-BE49-F238E27FC236}">
                <a16:creationId xmlns:a16="http://schemas.microsoft.com/office/drawing/2014/main" id="{839F2A1D-5993-3B63-C648-B9BD916AACCA}"/>
              </a:ext>
            </a:extLst>
          </p:cNvPr>
          <p:cNvSpPr/>
          <p:nvPr/>
        </p:nvSpPr>
        <p:spPr>
          <a:xfrm>
            <a:off x="3933748" y="315543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...inflatable park, which you can find in Arabian Centre Dubai, Al Quoz, Nad Al Sheba and Mercato Mall. Burn energy at the ... and for the people watching. Where: Arabian Centre, Mercato, Nad Al Sheba and Al Quoz When: varies Cost:...</a:t>
            </a:r>
            <a:endParaRPr/>
          </a:p>
        </p:txBody>
      </p:sp>
      <p:pic>
        <p:nvPicPr>
          <p:cNvPr id="39" name="Picture">
            <a:hlinkClick r:id="rId11"/>
            <a:extLst>
              <a:ext uri="{FF2B5EF4-FFF2-40B4-BE49-F238E27FC236}">
                <a16:creationId xmlns:a16="http://schemas.microsoft.com/office/drawing/2014/main" id="{3201FF8B-757D-CF7B-8BA7-A34D55D0E249}"/>
              </a:ext>
            </a:extLst>
          </p:cNvPr>
          <p:cNvPicPr/>
          <p:nvPr/>
        </p:nvPicPr>
        <p:blipFill>
          <a:blip r:embed="rId12"/>
          <a:srcRect/>
          <a:stretch/>
        </p:blipFill>
        <p:spPr>
          <a:xfrm>
            <a:off x="7216452" y="2931658"/>
            <a:ext cx="1438275" cy="742950"/>
          </a:xfrm>
          <a:prstGeom prst="rect">
            <a:avLst/>
          </a:prstGeom>
        </p:spPr>
      </p:pic>
      <p:sp>
        <p:nvSpPr>
          <p:cNvPr id="40" name="Shape">
            <a:extLst>
              <a:ext uri="{FF2B5EF4-FFF2-40B4-BE49-F238E27FC236}">
                <a16:creationId xmlns:a16="http://schemas.microsoft.com/office/drawing/2014/main" id="{FBC45E26-D2B0-E2FD-8D83-3E509EF411A1}"/>
              </a:ext>
            </a:extLst>
          </p:cNvPr>
          <p:cNvSpPr/>
          <p:nvPr/>
        </p:nvSpPr>
        <p:spPr>
          <a:xfrm>
            <a:off x="8769307" y="312135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1" name="Shape">
            <a:extLst>
              <a:ext uri="{FF2B5EF4-FFF2-40B4-BE49-F238E27FC236}">
                <a16:creationId xmlns:a16="http://schemas.microsoft.com/office/drawing/2014/main" id="{81A897BE-AF6E-FE4B-8E1D-CF03FC65FFC5}"/>
              </a:ext>
            </a:extLst>
          </p:cNvPr>
          <p:cNvSpPr/>
          <p:nvPr/>
        </p:nvSpPr>
        <p:spPr>
          <a:xfrm>
            <a:off x="8769307" y="312135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42" name="Shape">
            <a:extLst>
              <a:ext uri="{FF2B5EF4-FFF2-40B4-BE49-F238E27FC236}">
                <a16:creationId xmlns:a16="http://schemas.microsoft.com/office/drawing/2014/main" id="{7158B578-C2E6-B88E-9EA9-121A25BDC9FB}"/>
              </a:ext>
            </a:extLst>
          </p:cNvPr>
          <p:cNvSpPr/>
          <p:nvPr/>
        </p:nvSpPr>
        <p:spPr>
          <a:xfrm>
            <a:off x="10047672" y="286382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15EB6BAD-0081-1309-0F75-87AB3A83186E}"/>
              </a:ext>
            </a:extLst>
          </p:cNvPr>
          <p:cNvCxnSpPr/>
          <p:nvPr/>
        </p:nvCxnSpPr>
        <p:spPr>
          <a:xfrm>
            <a:off x="432137" y="3757588"/>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FAF0CAFB-5FDB-D13A-5103-6DCFAA9B5D25}"/>
              </a:ext>
            </a:extLst>
          </p:cNvPr>
          <p:cNvPicPr/>
          <p:nvPr/>
        </p:nvPicPr>
        <p:blipFill>
          <a:blip r:embed="rId13"/>
          <a:srcRect/>
          <a:stretch/>
        </p:blipFill>
        <p:spPr>
          <a:xfrm>
            <a:off x="546549" y="3841483"/>
            <a:ext cx="438150" cy="438150"/>
          </a:xfrm>
          <a:prstGeom prst="rect">
            <a:avLst/>
          </a:prstGeom>
        </p:spPr>
      </p:pic>
      <p:sp>
        <p:nvSpPr>
          <p:cNvPr id="45" name="Shape">
            <a:extLst>
              <a:ext uri="{FF2B5EF4-FFF2-40B4-BE49-F238E27FC236}">
                <a16:creationId xmlns:a16="http://schemas.microsoft.com/office/drawing/2014/main" id="{8BED3537-2558-C1FD-2B86-D9A53D67ED88}"/>
              </a:ext>
            </a:extLst>
          </p:cNvPr>
          <p:cNvSpPr/>
          <p:nvPr/>
        </p:nvSpPr>
        <p:spPr>
          <a:xfrm>
            <a:off x="1121343" y="387877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dby "alkhlyj"</a:t>
            </a:r>
            <a:endParaRPr/>
          </a:p>
        </p:txBody>
      </p:sp>
      <p:sp>
        <p:nvSpPr>
          <p:cNvPr id="46" name="Shape">
            <a:extLst>
              <a:ext uri="{FF2B5EF4-FFF2-40B4-BE49-F238E27FC236}">
                <a16:creationId xmlns:a16="http://schemas.microsoft.com/office/drawing/2014/main" id="{1261F3E0-90F9-66EE-E3D5-D72FDEEF7F8A}"/>
              </a:ext>
            </a:extLst>
          </p:cNvPr>
          <p:cNvSpPr/>
          <p:nvPr/>
        </p:nvSpPr>
        <p:spPr>
          <a:xfrm>
            <a:off x="1121343" y="415902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4"/>
              </a:rPr>
              <a:t>alkhaleej.ae</a:t>
            </a:r>
            <a:endParaRPr/>
          </a:p>
        </p:txBody>
      </p:sp>
      <p:sp>
        <p:nvSpPr>
          <p:cNvPr id="47" name="Shape">
            <a:extLst>
              <a:ext uri="{FF2B5EF4-FFF2-40B4-BE49-F238E27FC236}">
                <a16:creationId xmlns:a16="http://schemas.microsoft.com/office/drawing/2014/main" id="{3362B56B-203F-16E1-F353-845C801EC4CD}"/>
              </a:ext>
            </a:extLst>
          </p:cNvPr>
          <p:cNvSpPr/>
          <p:nvPr/>
        </p:nvSpPr>
        <p:spPr>
          <a:xfrm>
            <a:off x="598880" y="439382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5"/>
              </a:rPr>
              <a:t>27/03/26 16:43</a:t>
            </a:r>
            <a:r>
              <a:t> | </a:t>
            </a:r>
            <a:r>
              <a:rPr lang="ar" b="0" i="0"/>
              <a:t>United Arab Emirates</a:t>
            </a:r>
            <a:endParaRPr/>
          </a:p>
        </p:txBody>
      </p:sp>
      <p:sp>
        <p:nvSpPr>
          <p:cNvPr id="48" name="Shape">
            <a:extLst>
              <a:ext uri="{FF2B5EF4-FFF2-40B4-BE49-F238E27FC236}">
                <a16:creationId xmlns:a16="http://schemas.microsoft.com/office/drawing/2014/main" id="{0217D6A2-5807-4663-C07A-F7F5D6BB7AC7}"/>
              </a:ext>
            </a:extLst>
          </p:cNvPr>
          <p:cNvSpPr/>
          <p:nvPr/>
        </p:nvSpPr>
        <p:spPr>
          <a:xfrm>
            <a:off x="3912905" y="3818939"/>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15"/>
              </a:rPr>
              <a:t>%8 نمو مبيعات مراكز «الفطيم» خ...</a:t>
            </a:r>
            <a:endParaRPr/>
          </a:p>
        </p:txBody>
      </p:sp>
      <p:sp>
        <p:nvSpPr>
          <p:cNvPr id="49" name="Shape">
            <a:extLst>
              <a:ext uri="{FF2B5EF4-FFF2-40B4-BE49-F238E27FC236}">
                <a16:creationId xmlns:a16="http://schemas.microsoft.com/office/drawing/2014/main" id="{81421B45-68C1-4809-3AB3-42E13B6387ED}"/>
              </a:ext>
            </a:extLst>
          </p:cNvPr>
          <p:cNvSpPr/>
          <p:nvPr/>
        </p:nvSpPr>
        <p:spPr>
          <a:xfrm>
            <a:off x="3933748" y="406434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...أقيمت خلال فترة العيد، ما أسهم في تعزيز حضور المركز كمحور للتفاعل المجتمعي. أرابيان سنتر أما «أرابيان سنتر» فقد واصل ترسيخ مكانته كوجهة مجتمعية تعتمد على القيمة، مسجلاً نمواً ملحوظاً في حجم الإنفاق رغم التحديات العامة في السوق، وارتفعت مبيعات شهر...</a:t>
            </a:r>
            <a:endParaRPr/>
          </a:p>
        </p:txBody>
      </p:sp>
      <p:pic>
        <p:nvPicPr>
          <p:cNvPr id="50" name="Picture">
            <a:hlinkClick r:id="rId15"/>
            <a:extLst>
              <a:ext uri="{FF2B5EF4-FFF2-40B4-BE49-F238E27FC236}">
                <a16:creationId xmlns:a16="http://schemas.microsoft.com/office/drawing/2014/main" id="{BAF76896-508A-8A09-D20D-6176AFCA8546}"/>
              </a:ext>
            </a:extLst>
          </p:cNvPr>
          <p:cNvPicPr/>
          <p:nvPr/>
        </p:nvPicPr>
        <p:blipFill>
          <a:blip r:embed="rId16"/>
          <a:srcRect/>
          <a:stretch/>
        </p:blipFill>
        <p:spPr>
          <a:xfrm>
            <a:off x="7416477" y="3821518"/>
            <a:ext cx="1038225" cy="781050"/>
          </a:xfrm>
          <a:prstGeom prst="rect">
            <a:avLst/>
          </a:prstGeom>
        </p:spPr>
      </p:pic>
      <p:sp>
        <p:nvSpPr>
          <p:cNvPr id="51" name="Shape">
            <a:extLst>
              <a:ext uri="{FF2B5EF4-FFF2-40B4-BE49-F238E27FC236}">
                <a16:creationId xmlns:a16="http://schemas.microsoft.com/office/drawing/2014/main" id="{78AE2127-B4C4-2A81-CFB7-77481A1889B1}"/>
              </a:ext>
            </a:extLst>
          </p:cNvPr>
          <p:cNvSpPr/>
          <p:nvPr/>
        </p:nvSpPr>
        <p:spPr>
          <a:xfrm>
            <a:off x="8769307" y="403026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52" name="Shape">
            <a:extLst>
              <a:ext uri="{FF2B5EF4-FFF2-40B4-BE49-F238E27FC236}">
                <a16:creationId xmlns:a16="http://schemas.microsoft.com/office/drawing/2014/main" id="{EAD98382-7154-F897-CE53-0E2982EA62AA}"/>
              </a:ext>
            </a:extLst>
          </p:cNvPr>
          <p:cNvSpPr/>
          <p:nvPr/>
        </p:nvSpPr>
        <p:spPr>
          <a:xfrm>
            <a:off x="8769307" y="403026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53" name="Shape">
            <a:extLst>
              <a:ext uri="{FF2B5EF4-FFF2-40B4-BE49-F238E27FC236}">
                <a16:creationId xmlns:a16="http://schemas.microsoft.com/office/drawing/2014/main" id="{442C4923-CC5E-9716-B9DA-AE584B5FA9C9}"/>
              </a:ext>
            </a:extLst>
          </p:cNvPr>
          <p:cNvSpPr/>
          <p:nvPr/>
        </p:nvSpPr>
        <p:spPr>
          <a:xfrm>
            <a:off x="10047672" y="377273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BBC7D321-42FA-1255-9867-6A509326B7BD}"/>
              </a:ext>
            </a:extLst>
          </p:cNvPr>
          <p:cNvCxnSpPr/>
          <p:nvPr/>
        </p:nvCxnSpPr>
        <p:spPr>
          <a:xfrm>
            <a:off x="432137" y="4666498"/>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CC3911F6-3588-5938-6151-0DA40B9918ED}"/>
              </a:ext>
            </a:extLst>
          </p:cNvPr>
          <p:cNvPicPr/>
          <p:nvPr/>
        </p:nvPicPr>
        <p:blipFill>
          <a:blip r:embed="rId13"/>
          <a:srcRect/>
          <a:stretch/>
        </p:blipFill>
        <p:spPr>
          <a:xfrm>
            <a:off x="546549" y="4750393"/>
            <a:ext cx="438150" cy="438150"/>
          </a:xfrm>
          <a:prstGeom prst="rect">
            <a:avLst/>
          </a:prstGeom>
        </p:spPr>
      </p:pic>
      <p:sp>
        <p:nvSpPr>
          <p:cNvPr id="56" name="Shape">
            <a:extLst>
              <a:ext uri="{FF2B5EF4-FFF2-40B4-BE49-F238E27FC236}">
                <a16:creationId xmlns:a16="http://schemas.microsoft.com/office/drawing/2014/main" id="{DCB75F45-8359-CF1B-F41D-6606DF2AC1A0}"/>
              </a:ext>
            </a:extLst>
          </p:cNvPr>
          <p:cNvSpPr/>
          <p:nvPr/>
        </p:nvSpPr>
        <p:spPr>
          <a:xfrm>
            <a:off x="1121343" y="478768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Someone</a:t>
            </a:r>
            <a:endParaRPr/>
          </a:p>
        </p:txBody>
      </p:sp>
      <p:sp>
        <p:nvSpPr>
          <p:cNvPr id="57" name="Shape">
            <a:extLst>
              <a:ext uri="{FF2B5EF4-FFF2-40B4-BE49-F238E27FC236}">
                <a16:creationId xmlns:a16="http://schemas.microsoft.com/office/drawing/2014/main" id="{B32A3B5C-4EFF-B3D8-45CC-E1AB70AD82C6}"/>
              </a:ext>
            </a:extLst>
          </p:cNvPr>
          <p:cNvSpPr/>
          <p:nvPr/>
        </p:nvSpPr>
        <p:spPr>
          <a:xfrm>
            <a:off x="1121343" y="506793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7"/>
              </a:rPr>
              <a:t>alwahdanews.ae</a:t>
            </a:r>
            <a:endParaRPr/>
          </a:p>
        </p:txBody>
      </p:sp>
      <p:sp>
        <p:nvSpPr>
          <p:cNvPr id="58" name="Shape">
            <a:extLst>
              <a:ext uri="{FF2B5EF4-FFF2-40B4-BE49-F238E27FC236}">
                <a16:creationId xmlns:a16="http://schemas.microsoft.com/office/drawing/2014/main" id="{231A7BD7-1F46-85ED-5271-0F60123B8442}"/>
              </a:ext>
            </a:extLst>
          </p:cNvPr>
          <p:cNvSpPr/>
          <p:nvPr/>
        </p:nvSpPr>
        <p:spPr>
          <a:xfrm>
            <a:off x="598880" y="530273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8"/>
              </a:rPr>
              <a:t>27/03/26 18:29</a:t>
            </a:r>
            <a:r>
              <a:t> | </a:t>
            </a:r>
            <a:r>
              <a:rPr lang="ar" b="0" i="0"/>
              <a:t>United Arab Emirates</a:t>
            </a:r>
            <a:endParaRPr/>
          </a:p>
        </p:txBody>
      </p:sp>
      <p:sp>
        <p:nvSpPr>
          <p:cNvPr id="59" name="Shape">
            <a:extLst>
              <a:ext uri="{FF2B5EF4-FFF2-40B4-BE49-F238E27FC236}">
                <a16:creationId xmlns:a16="http://schemas.microsoft.com/office/drawing/2014/main" id="{86ACD10C-B515-0868-3B98-3E2CB6879786}"/>
              </a:ext>
            </a:extLst>
          </p:cNvPr>
          <p:cNvSpPr/>
          <p:nvPr/>
        </p:nvSpPr>
        <p:spPr>
          <a:xfrm>
            <a:off x="3933748" y="497325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...في دولة الإمارات، والتي تشمل كل من "دبي فستيفال سيتي مول"، و"فستيفال بلازا"، و"أرابيان سنتر"، حيث حققت متوسط نمو سنوي في المبيعات بنسبة 8% خلال موسم رمضان وعيد الفطر 2026. وجاء هذا الأداء امتداداً للزخم...</a:t>
            </a:r>
            <a:endParaRPr/>
          </a:p>
        </p:txBody>
      </p:sp>
      <p:pic>
        <p:nvPicPr>
          <p:cNvPr id="60" name="Picture">
            <a:hlinkClick r:id="rId18"/>
            <a:extLst>
              <a:ext uri="{FF2B5EF4-FFF2-40B4-BE49-F238E27FC236}">
                <a16:creationId xmlns:a16="http://schemas.microsoft.com/office/drawing/2014/main" id="{4C57EB3B-DC8E-8D49-A579-2CE759951BFE}"/>
              </a:ext>
            </a:extLst>
          </p:cNvPr>
          <p:cNvPicPr/>
          <p:nvPr/>
        </p:nvPicPr>
        <p:blipFill>
          <a:blip r:embed="rId19"/>
          <a:srcRect/>
          <a:stretch/>
        </p:blipFill>
        <p:spPr>
          <a:xfrm>
            <a:off x="7545065" y="4730428"/>
            <a:ext cx="781050" cy="781050"/>
          </a:xfrm>
          <a:prstGeom prst="rect">
            <a:avLst/>
          </a:prstGeom>
        </p:spPr>
      </p:pic>
      <p:sp>
        <p:nvSpPr>
          <p:cNvPr id="61" name="Shape">
            <a:extLst>
              <a:ext uri="{FF2B5EF4-FFF2-40B4-BE49-F238E27FC236}">
                <a16:creationId xmlns:a16="http://schemas.microsoft.com/office/drawing/2014/main" id="{EFD7F2BC-AEBD-19EF-2E32-1C5ED5DD0C1F}"/>
              </a:ext>
            </a:extLst>
          </p:cNvPr>
          <p:cNvSpPr/>
          <p:nvPr/>
        </p:nvSpPr>
        <p:spPr>
          <a:xfrm>
            <a:off x="8769307" y="493917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2" name="Shape">
            <a:extLst>
              <a:ext uri="{FF2B5EF4-FFF2-40B4-BE49-F238E27FC236}">
                <a16:creationId xmlns:a16="http://schemas.microsoft.com/office/drawing/2014/main" id="{4EAA1CBD-5129-9B72-FDCC-4FE977E5AF7B}"/>
              </a:ext>
            </a:extLst>
          </p:cNvPr>
          <p:cNvSpPr/>
          <p:nvPr/>
        </p:nvSpPr>
        <p:spPr>
          <a:xfrm>
            <a:off x="8769307" y="493917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7ADBE757-EC39-A63B-E2C4-CC16A320F3B1}"/>
              </a:ext>
            </a:extLst>
          </p:cNvPr>
          <p:cNvSpPr/>
          <p:nvPr/>
        </p:nvSpPr>
        <p:spPr>
          <a:xfrm>
            <a:off x="10047672" y="468164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4" name="Line 200: (537882, 6316553) - (11654110, 6316553)">
            <a:extLst>
              <a:ext uri="{FF2B5EF4-FFF2-40B4-BE49-F238E27FC236}">
                <a16:creationId xmlns:a16="http://schemas.microsoft.com/office/drawing/2014/main" id="{97742B5A-5277-74A5-E104-6477ADAD7514}"/>
              </a:ext>
            </a:extLst>
          </p:cNvPr>
          <p:cNvCxnSpPr/>
          <p:nvPr/>
        </p:nvCxnSpPr>
        <p:spPr>
          <a:xfrm>
            <a:off x="432137" y="5575408"/>
            <a:ext cx="11116228" cy="0"/>
          </a:xfrm>
          <a:prstGeom prst="line">
            <a:avLst/>
          </a:prstGeom>
          <a:ln w="12700">
            <a:solidFill>
              <a:srgbClr val="C7C7C7"/>
            </a:solidFill>
          </a:ln>
        </p:spPr>
      </p:cxnSp>
    </p:spTree>
    <p:extLst>
      <p:ext uri="{BB962C8B-B14F-4D97-AF65-F5344CB8AC3E}">
        <p14:creationId xmlns:p14="http://schemas.microsoft.com/office/powerpoint/2010/main" val="2304676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B610-947F-5A16-BF47-E5CDE61774D6}"/>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700B8AF6-2380-8394-5362-9BB9271EFAE9}"/>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1BCFBA47-814A-471F-84FC-E6188EB39906}"/>
              </a:ext>
            </a:extLst>
          </p:cNvPr>
          <p:cNvCxnSpPr/>
          <p:nvPr/>
        </p:nvCxnSpPr>
        <p:spPr>
          <a:xfrm>
            <a:off x="432137" y="1030858"/>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44E1B220-4769-31D6-770A-E034962A7B08}"/>
              </a:ext>
            </a:extLst>
          </p:cNvPr>
          <p:cNvSpPr/>
          <p:nvPr/>
        </p:nvSpPr>
        <p:spPr>
          <a:xfrm>
            <a:off x="765623" y="815590"/>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F3204833-AC26-F905-154D-FE717D64A63B}"/>
              </a:ext>
            </a:extLst>
          </p:cNvPr>
          <p:cNvCxnSpPr/>
          <p:nvPr/>
        </p:nvCxnSpPr>
        <p:spPr>
          <a:xfrm>
            <a:off x="3767005" y="791672"/>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F5458DB1-60C0-2AE8-2D58-5F38DC19B5A2}"/>
              </a:ext>
            </a:extLst>
          </p:cNvPr>
          <p:cNvSpPr/>
          <p:nvPr/>
        </p:nvSpPr>
        <p:spPr>
          <a:xfrm>
            <a:off x="4100491" y="815590"/>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FDA8AA6F-9D4C-0EFC-6ED3-B770CD9028F2}"/>
              </a:ext>
            </a:extLst>
          </p:cNvPr>
          <p:cNvCxnSpPr/>
          <p:nvPr/>
        </p:nvCxnSpPr>
        <p:spPr>
          <a:xfrm>
            <a:off x="8769307" y="791672"/>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061732C2-09CA-F4FE-2F4A-1EF764B5BE0A}"/>
              </a:ext>
            </a:extLst>
          </p:cNvPr>
          <p:cNvSpPr/>
          <p:nvPr/>
        </p:nvSpPr>
        <p:spPr>
          <a:xfrm>
            <a:off x="8880469" y="815590"/>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B80BF1F1-AB74-7C50-1479-17BB24D94F9C}"/>
              </a:ext>
            </a:extLst>
          </p:cNvPr>
          <p:cNvCxnSpPr/>
          <p:nvPr/>
        </p:nvCxnSpPr>
        <p:spPr>
          <a:xfrm>
            <a:off x="9880929" y="791672"/>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234C598A-3F8E-E5B9-AA21-26026665CEB1}"/>
              </a:ext>
            </a:extLst>
          </p:cNvPr>
          <p:cNvSpPr/>
          <p:nvPr/>
        </p:nvSpPr>
        <p:spPr>
          <a:xfrm>
            <a:off x="10047672" y="815590"/>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3CBF2965-8632-1B1A-E776-7D03669231D0}"/>
              </a:ext>
            </a:extLst>
          </p:cNvPr>
          <p:cNvPicPr/>
          <p:nvPr/>
        </p:nvPicPr>
        <p:blipFill>
          <a:blip r:embed="rId2"/>
          <a:srcRect/>
          <a:stretch/>
        </p:blipFill>
        <p:spPr>
          <a:xfrm>
            <a:off x="546549" y="1114753"/>
            <a:ext cx="438150" cy="438150"/>
          </a:xfrm>
          <a:prstGeom prst="rect">
            <a:avLst/>
          </a:prstGeom>
        </p:spPr>
      </p:pic>
      <p:sp>
        <p:nvSpPr>
          <p:cNvPr id="12" name="Shape">
            <a:extLst>
              <a:ext uri="{FF2B5EF4-FFF2-40B4-BE49-F238E27FC236}">
                <a16:creationId xmlns:a16="http://schemas.microsoft.com/office/drawing/2014/main" id="{FD36360C-CFFB-E82D-7084-2BE9903229B1}"/>
              </a:ext>
            </a:extLst>
          </p:cNvPr>
          <p:cNvSpPr/>
          <p:nvPr/>
        </p:nvSpPr>
        <p:spPr>
          <a:xfrm>
            <a:off x="1121343" y="115204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dar alkhlyj</a:t>
            </a:r>
            <a:endParaRPr/>
          </a:p>
        </p:txBody>
      </p:sp>
      <p:sp>
        <p:nvSpPr>
          <p:cNvPr id="13" name="Shape">
            <a:extLst>
              <a:ext uri="{FF2B5EF4-FFF2-40B4-BE49-F238E27FC236}">
                <a16:creationId xmlns:a16="http://schemas.microsoft.com/office/drawing/2014/main" id="{A624D9C4-04B0-0BFB-6A3A-5C772257CF25}"/>
              </a:ext>
            </a:extLst>
          </p:cNvPr>
          <p:cNvSpPr/>
          <p:nvPr/>
        </p:nvSpPr>
        <p:spPr>
          <a:xfrm>
            <a:off x="1121343" y="143229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3"/>
              </a:rPr>
              <a:t>aljazeeraeyes.com</a:t>
            </a:r>
            <a:endParaRPr/>
          </a:p>
        </p:txBody>
      </p:sp>
      <p:sp>
        <p:nvSpPr>
          <p:cNvPr id="14" name="Shape">
            <a:extLst>
              <a:ext uri="{FF2B5EF4-FFF2-40B4-BE49-F238E27FC236}">
                <a16:creationId xmlns:a16="http://schemas.microsoft.com/office/drawing/2014/main" id="{0E675620-D9C6-E4E1-437E-4412A5FB2FB4}"/>
              </a:ext>
            </a:extLst>
          </p:cNvPr>
          <p:cNvSpPr/>
          <p:nvPr/>
        </p:nvSpPr>
        <p:spPr>
          <a:xfrm>
            <a:off x="598880" y="166709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4"/>
              </a:rPr>
              <a:t>27/03/26 18:30</a:t>
            </a:r>
            <a:r>
              <a:t> | </a:t>
            </a:r>
            <a:r>
              <a:rPr lang="ar" b="0" i="0"/>
              <a:t>Saudi Arabia</a:t>
            </a:r>
            <a:endParaRPr/>
          </a:p>
        </p:txBody>
      </p:sp>
      <p:sp>
        <p:nvSpPr>
          <p:cNvPr id="15" name="Shape">
            <a:extLst>
              <a:ext uri="{FF2B5EF4-FFF2-40B4-BE49-F238E27FC236}">
                <a16:creationId xmlns:a16="http://schemas.microsoft.com/office/drawing/2014/main" id="{E18C5FC9-6A9A-303E-EF87-5C23A092A3A9}"/>
              </a:ext>
            </a:extLst>
          </p:cNvPr>
          <p:cNvSpPr/>
          <p:nvPr/>
        </p:nvSpPr>
        <p:spPr>
          <a:xfrm>
            <a:off x="3912905" y="1092209"/>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4"/>
              </a:rPr>
              <a:t>%8 نمو مبيعات مراكز «الفطيم» خ...</a:t>
            </a:r>
            <a:endParaRPr/>
          </a:p>
        </p:txBody>
      </p:sp>
      <p:sp>
        <p:nvSpPr>
          <p:cNvPr id="16" name="Shape">
            <a:extLst>
              <a:ext uri="{FF2B5EF4-FFF2-40B4-BE49-F238E27FC236}">
                <a16:creationId xmlns:a16="http://schemas.microsoft.com/office/drawing/2014/main" id="{D6FEDA1C-AAB5-7186-57C3-BD7A0BA1AB9B}"/>
              </a:ext>
            </a:extLst>
          </p:cNvPr>
          <p:cNvSpPr/>
          <p:nvPr/>
        </p:nvSpPr>
        <p:spPr>
          <a:xfrm>
            <a:off x="3933748" y="133761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...أقيمت خلال فترة العيد، ما أسهم في تعزيز حضور المركز كمحور للتفاعل المجتمعي. أرابيان سنتر أما «أرابيان سنتر» فقد واصل ترسيخ مكانته كوجهة مجتمعية تعتمد على القيمة، مسجلاً نمواً ملحوظاً في حجم الإنفاق رغم التحديات العامة في السوق، وارتفعت مبيعات شهر...</a:t>
            </a:r>
            <a:endParaRPr/>
          </a:p>
        </p:txBody>
      </p:sp>
      <p:pic>
        <p:nvPicPr>
          <p:cNvPr id="17" name="Picture">
            <a:hlinkClick r:id="rId5"/>
            <a:extLst>
              <a:ext uri="{FF2B5EF4-FFF2-40B4-BE49-F238E27FC236}">
                <a16:creationId xmlns:a16="http://schemas.microsoft.com/office/drawing/2014/main" id="{FE3A35CF-90C1-B37E-3066-9048F0957B9A}"/>
              </a:ext>
            </a:extLst>
          </p:cNvPr>
          <p:cNvPicPr/>
          <p:nvPr/>
        </p:nvPicPr>
        <p:blipFill>
          <a:blip r:embed="rId6"/>
          <a:srcRect/>
          <a:stretch/>
        </p:blipFill>
        <p:spPr>
          <a:xfrm>
            <a:off x="7330752" y="1094788"/>
            <a:ext cx="1209675" cy="781050"/>
          </a:xfrm>
          <a:prstGeom prst="rect">
            <a:avLst/>
          </a:prstGeom>
        </p:spPr>
      </p:pic>
      <p:sp>
        <p:nvSpPr>
          <p:cNvPr id="18" name="Shape">
            <a:extLst>
              <a:ext uri="{FF2B5EF4-FFF2-40B4-BE49-F238E27FC236}">
                <a16:creationId xmlns:a16="http://schemas.microsoft.com/office/drawing/2014/main" id="{D53391EB-CB0D-0C13-106F-6850E1F10017}"/>
              </a:ext>
            </a:extLst>
          </p:cNvPr>
          <p:cNvSpPr/>
          <p:nvPr/>
        </p:nvSpPr>
        <p:spPr>
          <a:xfrm>
            <a:off x="8769307" y="130353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B56746CC-DD94-3477-CF8A-6970E1DA780D}"/>
              </a:ext>
            </a:extLst>
          </p:cNvPr>
          <p:cNvSpPr/>
          <p:nvPr/>
        </p:nvSpPr>
        <p:spPr>
          <a:xfrm>
            <a:off x="8769307" y="130353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7D0898A7-2B6D-B2D6-D0B2-8A6EC39CC68A}"/>
              </a:ext>
            </a:extLst>
          </p:cNvPr>
          <p:cNvSpPr/>
          <p:nvPr/>
        </p:nvSpPr>
        <p:spPr>
          <a:xfrm>
            <a:off x="10047672" y="104600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12A63F33-BE92-427C-A636-F3045FCE8C2B}"/>
              </a:ext>
            </a:extLst>
          </p:cNvPr>
          <p:cNvCxnSpPr/>
          <p:nvPr/>
        </p:nvCxnSpPr>
        <p:spPr>
          <a:xfrm>
            <a:off x="432137" y="1939768"/>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DB7D568E-6C0D-F7C3-FF8A-4DCCC073DE1E}"/>
              </a:ext>
            </a:extLst>
          </p:cNvPr>
          <p:cNvPicPr/>
          <p:nvPr/>
        </p:nvPicPr>
        <p:blipFill>
          <a:blip r:embed="rId2"/>
          <a:srcRect/>
          <a:stretch/>
        </p:blipFill>
        <p:spPr>
          <a:xfrm>
            <a:off x="546549" y="2023663"/>
            <a:ext cx="438150" cy="438150"/>
          </a:xfrm>
          <a:prstGeom prst="rect">
            <a:avLst/>
          </a:prstGeom>
        </p:spPr>
      </p:pic>
      <p:sp>
        <p:nvSpPr>
          <p:cNvPr id="23" name="Shape">
            <a:extLst>
              <a:ext uri="{FF2B5EF4-FFF2-40B4-BE49-F238E27FC236}">
                <a16:creationId xmlns:a16="http://schemas.microsoft.com/office/drawing/2014/main" id="{B5A0B88A-F636-D559-FAE6-22F9439C12AC}"/>
              </a:ext>
            </a:extLst>
          </p:cNvPr>
          <p:cNvSpPr/>
          <p:nvPr/>
        </p:nvSpPr>
        <p:spPr>
          <a:xfrm>
            <a:off x="1121343" y="206095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aljmʿt msaʾan</a:t>
            </a:r>
            <a:endParaRPr/>
          </a:p>
        </p:txBody>
      </p:sp>
      <p:sp>
        <p:nvSpPr>
          <p:cNvPr id="24" name="Shape">
            <a:extLst>
              <a:ext uri="{FF2B5EF4-FFF2-40B4-BE49-F238E27FC236}">
                <a16:creationId xmlns:a16="http://schemas.microsoft.com/office/drawing/2014/main" id="{AFCF70DE-BD34-8883-1170-030FFC8992C6}"/>
              </a:ext>
            </a:extLst>
          </p:cNvPr>
          <p:cNvSpPr/>
          <p:nvPr/>
        </p:nvSpPr>
        <p:spPr>
          <a:xfrm>
            <a:off x="1121343" y="234120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7"/>
              </a:rPr>
              <a:t>masralyoum.news</a:t>
            </a:r>
            <a:endParaRPr/>
          </a:p>
        </p:txBody>
      </p:sp>
      <p:sp>
        <p:nvSpPr>
          <p:cNvPr id="25" name="Shape">
            <a:extLst>
              <a:ext uri="{FF2B5EF4-FFF2-40B4-BE49-F238E27FC236}">
                <a16:creationId xmlns:a16="http://schemas.microsoft.com/office/drawing/2014/main" id="{A2F773EE-F1AC-E2A9-0C1E-16E21A26AD99}"/>
              </a:ext>
            </a:extLst>
          </p:cNvPr>
          <p:cNvSpPr/>
          <p:nvPr/>
        </p:nvSpPr>
        <p:spPr>
          <a:xfrm>
            <a:off x="598880" y="257600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8"/>
              </a:rPr>
              <a:t>27/03/26 18:50</a:t>
            </a:r>
            <a:r>
              <a:t> | </a:t>
            </a:r>
            <a:r>
              <a:rPr lang="ar" b="0" i="0"/>
              <a:t>Egypt</a:t>
            </a:r>
            <a:endParaRPr/>
          </a:p>
        </p:txBody>
      </p:sp>
      <p:sp>
        <p:nvSpPr>
          <p:cNvPr id="26" name="Shape">
            <a:extLst>
              <a:ext uri="{FF2B5EF4-FFF2-40B4-BE49-F238E27FC236}">
                <a16:creationId xmlns:a16="http://schemas.microsoft.com/office/drawing/2014/main" id="{2D373CAA-87A2-16B0-0D85-ABE63DDB49CE}"/>
              </a:ext>
            </a:extLst>
          </p:cNvPr>
          <p:cNvSpPr/>
          <p:nvPr/>
        </p:nvSpPr>
        <p:spPr>
          <a:xfrm>
            <a:off x="3912905" y="2001119"/>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8"/>
              </a:rPr>
              <a:t>%8 نمو مبيعات مراكز «الفطيم» خ...</a:t>
            </a:r>
            <a:endParaRPr/>
          </a:p>
        </p:txBody>
      </p:sp>
      <p:sp>
        <p:nvSpPr>
          <p:cNvPr id="27" name="Shape">
            <a:extLst>
              <a:ext uri="{FF2B5EF4-FFF2-40B4-BE49-F238E27FC236}">
                <a16:creationId xmlns:a16="http://schemas.microsoft.com/office/drawing/2014/main" id="{7533C255-3C7D-301B-8FCA-0FDD6B447D56}"/>
              </a:ext>
            </a:extLst>
          </p:cNvPr>
          <p:cNvSpPr/>
          <p:nvPr/>
        </p:nvSpPr>
        <p:spPr>
          <a:xfrm>
            <a:off x="3933748" y="224652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...أقيمت خلال فترة العيد، ما أسهم في تعزيز حضور المركز كمحور للتفاعل المجتمعي. أرابيان سنتر أما «أرابيان سنتر» فقد واصل ترسيخ مكانته كوجهة مجتمعية تعتمد على القيمة، مسجلاً نمواً ملحوظاً في حجم الإنفاق رغم التحديات العامة في السوق، وارتفعت مبيعات شهر...</a:t>
            </a:r>
            <a:endParaRPr/>
          </a:p>
        </p:txBody>
      </p:sp>
      <p:pic>
        <p:nvPicPr>
          <p:cNvPr id="28" name="Picture">
            <a:hlinkClick r:id="rId9"/>
            <a:extLst>
              <a:ext uri="{FF2B5EF4-FFF2-40B4-BE49-F238E27FC236}">
                <a16:creationId xmlns:a16="http://schemas.microsoft.com/office/drawing/2014/main" id="{51EEE31A-E942-F3A8-8AB4-33A3A786EBE8}"/>
              </a:ext>
            </a:extLst>
          </p:cNvPr>
          <p:cNvPicPr/>
          <p:nvPr/>
        </p:nvPicPr>
        <p:blipFill>
          <a:blip r:embed="rId10"/>
          <a:srcRect/>
          <a:stretch/>
        </p:blipFill>
        <p:spPr>
          <a:xfrm>
            <a:off x="7416477" y="2003698"/>
            <a:ext cx="1038225" cy="781050"/>
          </a:xfrm>
          <a:prstGeom prst="rect">
            <a:avLst/>
          </a:prstGeom>
        </p:spPr>
      </p:pic>
      <p:sp>
        <p:nvSpPr>
          <p:cNvPr id="29" name="Shape">
            <a:extLst>
              <a:ext uri="{FF2B5EF4-FFF2-40B4-BE49-F238E27FC236}">
                <a16:creationId xmlns:a16="http://schemas.microsoft.com/office/drawing/2014/main" id="{944CABCE-DE1B-65B5-7E46-AEEE942A6069}"/>
              </a:ext>
            </a:extLst>
          </p:cNvPr>
          <p:cNvSpPr/>
          <p:nvPr/>
        </p:nvSpPr>
        <p:spPr>
          <a:xfrm>
            <a:off x="8769307" y="221244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524F077D-653D-8A4E-690A-EE6D94688874}"/>
              </a:ext>
            </a:extLst>
          </p:cNvPr>
          <p:cNvSpPr/>
          <p:nvPr/>
        </p:nvSpPr>
        <p:spPr>
          <a:xfrm>
            <a:off x="8769307" y="221244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27354EAF-8159-6AB5-B564-91A8B55C4D21}"/>
              </a:ext>
            </a:extLst>
          </p:cNvPr>
          <p:cNvSpPr/>
          <p:nvPr/>
        </p:nvSpPr>
        <p:spPr>
          <a:xfrm>
            <a:off x="10047672" y="195491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077A16BF-4E6F-5079-2E0A-C71D6202A95E}"/>
              </a:ext>
            </a:extLst>
          </p:cNvPr>
          <p:cNvCxnSpPr/>
          <p:nvPr/>
        </p:nvCxnSpPr>
        <p:spPr>
          <a:xfrm>
            <a:off x="432137" y="2848678"/>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06937B9F-9DB1-B72C-ACD6-5AFED17B943F}"/>
              </a:ext>
            </a:extLst>
          </p:cNvPr>
          <p:cNvPicPr/>
          <p:nvPr/>
        </p:nvPicPr>
        <p:blipFill>
          <a:blip r:embed="rId11"/>
          <a:srcRect/>
          <a:stretch/>
        </p:blipFill>
        <p:spPr>
          <a:xfrm>
            <a:off x="546549" y="3094498"/>
            <a:ext cx="438150" cy="114300"/>
          </a:xfrm>
          <a:prstGeom prst="rect">
            <a:avLst/>
          </a:prstGeom>
        </p:spPr>
      </p:pic>
      <p:sp>
        <p:nvSpPr>
          <p:cNvPr id="34" name="Shape">
            <a:extLst>
              <a:ext uri="{FF2B5EF4-FFF2-40B4-BE49-F238E27FC236}">
                <a16:creationId xmlns:a16="http://schemas.microsoft.com/office/drawing/2014/main" id="{27134826-9E6C-00FE-F6E5-B313BB11B61F}"/>
              </a:ext>
            </a:extLst>
          </p:cNvPr>
          <p:cNvSpPr/>
          <p:nvPr/>
        </p:nvSpPr>
        <p:spPr>
          <a:xfrm>
            <a:off x="1121343" y="296986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admin</a:t>
            </a:r>
            <a:endParaRPr/>
          </a:p>
        </p:txBody>
      </p:sp>
      <p:sp>
        <p:nvSpPr>
          <p:cNvPr id="35" name="Shape">
            <a:extLst>
              <a:ext uri="{FF2B5EF4-FFF2-40B4-BE49-F238E27FC236}">
                <a16:creationId xmlns:a16="http://schemas.microsoft.com/office/drawing/2014/main" id="{B09D5D31-A496-E856-2E15-52189A4D5643}"/>
              </a:ext>
            </a:extLst>
          </p:cNvPr>
          <p:cNvSpPr/>
          <p:nvPr/>
        </p:nvSpPr>
        <p:spPr>
          <a:xfrm>
            <a:off x="1121343" y="325011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12"/>
              </a:rPr>
              <a:t>dubaishoppingguide.com</a:t>
            </a:r>
            <a:endParaRPr/>
          </a:p>
        </p:txBody>
      </p:sp>
      <p:sp>
        <p:nvSpPr>
          <p:cNvPr id="36" name="Shape">
            <a:extLst>
              <a:ext uri="{FF2B5EF4-FFF2-40B4-BE49-F238E27FC236}">
                <a16:creationId xmlns:a16="http://schemas.microsoft.com/office/drawing/2014/main" id="{54133113-E639-C674-0E29-147C232530E7}"/>
              </a:ext>
            </a:extLst>
          </p:cNvPr>
          <p:cNvSpPr/>
          <p:nvPr/>
        </p:nvSpPr>
        <p:spPr>
          <a:xfrm>
            <a:off x="598880" y="348491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3"/>
              </a:rPr>
              <a:t>28/03/26 03:58</a:t>
            </a:r>
            <a:r>
              <a:t> | </a:t>
            </a:r>
            <a:r>
              <a:rPr lang="en" b="0" i="0"/>
              <a:t>United Arab Emirates</a:t>
            </a:r>
            <a:endParaRPr/>
          </a:p>
        </p:txBody>
      </p:sp>
      <p:sp>
        <p:nvSpPr>
          <p:cNvPr id="37" name="Shape">
            <a:extLst>
              <a:ext uri="{FF2B5EF4-FFF2-40B4-BE49-F238E27FC236}">
                <a16:creationId xmlns:a16="http://schemas.microsoft.com/office/drawing/2014/main" id="{33DF3E26-76A9-5ABA-2712-66264BE51C18}"/>
              </a:ext>
            </a:extLst>
          </p:cNvPr>
          <p:cNvSpPr/>
          <p:nvPr/>
        </p:nvSpPr>
        <p:spPr>
          <a:xfrm>
            <a:off x="3912905" y="291002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3"/>
              </a:rPr>
              <a:t>Al-futtaim's Malls Report Str...</a:t>
            </a:r>
            <a:endParaRPr/>
          </a:p>
        </p:txBody>
      </p:sp>
      <p:sp>
        <p:nvSpPr>
          <p:cNvPr id="38" name="Shape">
            <a:extLst>
              <a:ext uri="{FF2B5EF4-FFF2-40B4-BE49-F238E27FC236}">
                <a16:creationId xmlns:a16="http://schemas.microsoft.com/office/drawing/2014/main" id="{B33C18FC-2930-3135-6381-89A3AC1A204F}"/>
              </a:ext>
            </a:extLst>
          </p:cNvPr>
          <p:cNvSpPr/>
          <p:nvPr/>
        </p:nvSpPr>
        <p:spPr>
          <a:xfrm>
            <a:off x="3933748" y="315543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...and Eid activations, further solidified its community-centric position. Arabian Center Arabian Center reinforced its position as a value-driven community destination, achieving approximately 5% growth during Ramadan, with furthe...</a:t>
            </a:r>
            <a:endParaRPr/>
          </a:p>
        </p:txBody>
      </p:sp>
      <p:pic>
        <p:nvPicPr>
          <p:cNvPr id="39" name="Picture">
            <a:hlinkClick r:id="rId13"/>
            <a:extLst>
              <a:ext uri="{FF2B5EF4-FFF2-40B4-BE49-F238E27FC236}">
                <a16:creationId xmlns:a16="http://schemas.microsoft.com/office/drawing/2014/main" id="{F73AEBEE-72AE-CBBA-355B-BEF2E9ECE7F7}"/>
              </a:ext>
            </a:extLst>
          </p:cNvPr>
          <p:cNvPicPr/>
          <p:nvPr/>
        </p:nvPicPr>
        <p:blipFill>
          <a:blip r:embed="rId14"/>
          <a:srcRect/>
          <a:stretch/>
        </p:blipFill>
        <p:spPr>
          <a:xfrm>
            <a:off x="7354565" y="2912608"/>
            <a:ext cx="1162050" cy="781050"/>
          </a:xfrm>
          <a:prstGeom prst="rect">
            <a:avLst/>
          </a:prstGeom>
        </p:spPr>
      </p:pic>
      <p:sp>
        <p:nvSpPr>
          <p:cNvPr id="40" name="Shape">
            <a:extLst>
              <a:ext uri="{FF2B5EF4-FFF2-40B4-BE49-F238E27FC236}">
                <a16:creationId xmlns:a16="http://schemas.microsoft.com/office/drawing/2014/main" id="{2ADBC4EF-8D6F-02D6-DD4A-1AA4E8A88E5D}"/>
              </a:ext>
            </a:extLst>
          </p:cNvPr>
          <p:cNvSpPr/>
          <p:nvPr/>
        </p:nvSpPr>
        <p:spPr>
          <a:xfrm>
            <a:off x="8769307" y="312135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41" name="Shape">
            <a:extLst>
              <a:ext uri="{FF2B5EF4-FFF2-40B4-BE49-F238E27FC236}">
                <a16:creationId xmlns:a16="http://schemas.microsoft.com/office/drawing/2014/main" id="{AB7C4E9A-6D69-3B60-BDAB-9FDE332CAFF3}"/>
              </a:ext>
            </a:extLst>
          </p:cNvPr>
          <p:cNvSpPr/>
          <p:nvPr/>
        </p:nvSpPr>
        <p:spPr>
          <a:xfrm>
            <a:off x="8769307" y="312135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42" name="Shape">
            <a:extLst>
              <a:ext uri="{FF2B5EF4-FFF2-40B4-BE49-F238E27FC236}">
                <a16:creationId xmlns:a16="http://schemas.microsoft.com/office/drawing/2014/main" id="{C145B6F0-1FEF-BDC2-CC09-EC08B1BECE56}"/>
              </a:ext>
            </a:extLst>
          </p:cNvPr>
          <p:cNvSpPr/>
          <p:nvPr/>
        </p:nvSpPr>
        <p:spPr>
          <a:xfrm>
            <a:off x="10047672" y="286382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A84E250C-558F-B008-15DC-036ECEB6369A}"/>
              </a:ext>
            </a:extLst>
          </p:cNvPr>
          <p:cNvCxnSpPr/>
          <p:nvPr/>
        </p:nvCxnSpPr>
        <p:spPr>
          <a:xfrm>
            <a:off x="432137" y="3757588"/>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12D5F2C5-5D3D-BD27-B050-F382A4377665}"/>
              </a:ext>
            </a:extLst>
          </p:cNvPr>
          <p:cNvPicPr/>
          <p:nvPr/>
        </p:nvPicPr>
        <p:blipFill>
          <a:blip r:embed="rId2"/>
          <a:srcRect/>
          <a:stretch/>
        </p:blipFill>
        <p:spPr>
          <a:xfrm>
            <a:off x="546549" y="3841483"/>
            <a:ext cx="438150" cy="438150"/>
          </a:xfrm>
          <a:prstGeom prst="rect">
            <a:avLst/>
          </a:prstGeom>
        </p:spPr>
      </p:pic>
      <p:sp>
        <p:nvSpPr>
          <p:cNvPr id="45" name="Shape">
            <a:extLst>
              <a:ext uri="{FF2B5EF4-FFF2-40B4-BE49-F238E27FC236}">
                <a16:creationId xmlns:a16="http://schemas.microsoft.com/office/drawing/2014/main" id="{05838AA9-999F-6CBC-F90E-F76D45C94287}"/>
              </a:ext>
            </a:extLst>
          </p:cNvPr>
          <p:cNvSpPr/>
          <p:nvPr/>
        </p:nvSpPr>
        <p:spPr>
          <a:xfrm>
            <a:off x="1121343" y="387877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adel</a:t>
            </a:r>
            <a:endParaRPr/>
          </a:p>
        </p:txBody>
      </p:sp>
      <p:sp>
        <p:nvSpPr>
          <p:cNvPr id="46" name="Shape">
            <a:extLst>
              <a:ext uri="{FF2B5EF4-FFF2-40B4-BE49-F238E27FC236}">
                <a16:creationId xmlns:a16="http://schemas.microsoft.com/office/drawing/2014/main" id="{5AE7F3EF-1721-16FB-35D2-D2BF4AD2509A}"/>
              </a:ext>
            </a:extLst>
          </p:cNvPr>
          <p:cNvSpPr/>
          <p:nvPr/>
        </p:nvSpPr>
        <p:spPr>
          <a:xfrm>
            <a:off x="1121343" y="415902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15"/>
              </a:rPr>
              <a:t>mydubainews.com</a:t>
            </a:r>
            <a:endParaRPr/>
          </a:p>
        </p:txBody>
      </p:sp>
      <p:sp>
        <p:nvSpPr>
          <p:cNvPr id="47" name="Shape">
            <a:extLst>
              <a:ext uri="{FF2B5EF4-FFF2-40B4-BE49-F238E27FC236}">
                <a16:creationId xmlns:a16="http://schemas.microsoft.com/office/drawing/2014/main" id="{DC202E17-DD2C-D6AD-B745-B5BDCE91DE02}"/>
              </a:ext>
            </a:extLst>
          </p:cNvPr>
          <p:cNvSpPr/>
          <p:nvPr/>
        </p:nvSpPr>
        <p:spPr>
          <a:xfrm>
            <a:off x="598880" y="439382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6"/>
              </a:rPr>
              <a:t>28/03/26 07:04</a:t>
            </a:r>
            <a:r>
              <a:t> | </a:t>
            </a:r>
            <a:r>
              <a:rPr lang="en" b="0" i="0"/>
              <a:t>United Arab Emirates</a:t>
            </a:r>
            <a:endParaRPr/>
          </a:p>
        </p:txBody>
      </p:sp>
      <p:sp>
        <p:nvSpPr>
          <p:cNvPr id="48" name="Shape">
            <a:extLst>
              <a:ext uri="{FF2B5EF4-FFF2-40B4-BE49-F238E27FC236}">
                <a16:creationId xmlns:a16="http://schemas.microsoft.com/office/drawing/2014/main" id="{F8BE9BC8-21DE-44DB-C512-FB37A297D423}"/>
              </a:ext>
            </a:extLst>
          </p:cNvPr>
          <p:cNvSpPr/>
          <p:nvPr/>
        </p:nvSpPr>
        <p:spPr>
          <a:xfrm>
            <a:off x="3912905" y="3818939"/>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16"/>
              </a:rPr>
              <a:t>Al-Futtaim’s Malls Report Str...</a:t>
            </a:r>
            <a:endParaRPr/>
          </a:p>
        </p:txBody>
      </p:sp>
      <p:sp>
        <p:nvSpPr>
          <p:cNvPr id="49" name="Shape">
            <a:extLst>
              <a:ext uri="{FF2B5EF4-FFF2-40B4-BE49-F238E27FC236}">
                <a16:creationId xmlns:a16="http://schemas.microsoft.com/office/drawing/2014/main" id="{1E976AA2-E180-C7FF-2B5B-EC6A853634BB}"/>
              </a:ext>
            </a:extLst>
          </p:cNvPr>
          <p:cNvSpPr/>
          <p:nvPr/>
        </p:nvSpPr>
        <p:spPr>
          <a:xfrm>
            <a:off x="3933748" y="406434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...its community-centric position. Arabian Center Arabian Center reinforced its position as a value-driven community ... integration solutions. Arabian Center A local favourite, Arabian Center is home to 200 brands, ranging from clot...</a:t>
            </a:r>
            <a:endParaRPr/>
          </a:p>
        </p:txBody>
      </p:sp>
      <p:pic>
        <p:nvPicPr>
          <p:cNvPr id="50" name="Picture">
            <a:hlinkClick r:id="rId16"/>
            <a:extLst>
              <a:ext uri="{FF2B5EF4-FFF2-40B4-BE49-F238E27FC236}">
                <a16:creationId xmlns:a16="http://schemas.microsoft.com/office/drawing/2014/main" id="{A1CD574F-5B68-489A-2307-3442EE070D1B}"/>
              </a:ext>
            </a:extLst>
          </p:cNvPr>
          <p:cNvPicPr/>
          <p:nvPr/>
        </p:nvPicPr>
        <p:blipFill>
          <a:blip r:embed="rId17"/>
          <a:srcRect/>
          <a:stretch/>
        </p:blipFill>
        <p:spPr>
          <a:xfrm>
            <a:off x="7297415" y="3821518"/>
            <a:ext cx="1276350" cy="781050"/>
          </a:xfrm>
          <a:prstGeom prst="rect">
            <a:avLst/>
          </a:prstGeom>
        </p:spPr>
      </p:pic>
      <p:sp>
        <p:nvSpPr>
          <p:cNvPr id="51" name="Shape">
            <a:extLst>
              <a:ext uri="{FF2B5EF4-FFF2-40B4-BE49-F238E27FC236}">
                <a16:creationId xmlns:a16="http://schemas.microsoft.com/office/drawing/2014/main" id="{7ABE94DF-957B-5652-F83C-318DC71A89E0}"/>
              </a:ext>
            </a:extLst>
          </p:cNvPr>
          <p:cNvSpPr/>
          <p:nvPr/>
        </p:nvSpPr>
        <p:spPr>
          <a:xfrm>
            <a:off x="8769307" y="403026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31585D95-B361-AEED-9ABF-ADD1AD09EFB3}"/>
              </a:ext>
            </a:extLst>
          </p:cNvPr>
          <p:cNvSpPr/>
          <p:nvPr/>
        </p:nvSpPr>
        <p:spPr>
          <a:xfrm>
            <a:off x="8769307" y="403026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756D14C8-F037-2E8D-BD3C-B76DBFEE6065}"/>
              </a:ext>
            </a:extLst>
          </p:cNvPr>
          <p:cNvSpPr/>
          <p:nvPr/>
        </p:nvSpPr>
        <p:spPr>
          <a:xfrm>
            <a:off x="10047672" y="377273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1CCBABDF-0687-F5C9-DF5A-06C49D7CFEA7}"/>
              </a:ext>
            </a:extLst>
          </p:cNvPr>
          <p:cNvCxnSpPr/>
          <p:nvPr/>
        </p:nvCxnSpPr>
        <p:spPr>
          <a:xfrm>
            <a:off x="432137" y="4666498"/>
            <a:ext cx="11116228" cy="0"/>
          </a:xfrm>
          <a:prstGeom prst="line">
            <a:avLst/>
          </a:prstGeom>
          <a:ln w="12700">
            <a:solidFill>
              <a:srgbClr val="C7C7C7"/>
            </a:solidFill>
          </a:ln>
        </p:spPr>
      </p:cxnSp>
      <p:pic>
        <p:nvPicPr>
          <p:cNvPr id="55" name="Picture">
            <a:extLst>
              <a:ext uri="{FF2B5EF4-FFF2-40B4-BE49-F238E27FC236}">
                <a16:creationId xmlns:a16="http://schemas.microsoft.com/office/drawing/2014/main" id="{5C43EF0F-D398-210D-187E-779C5889F089}"/>
              </a:ext>
            </a:extLst>
          </p:cNvPr>
          <p:cNvPicPr/>
          <p:nvPr/>
        </p:nvPicPr>
        <p:blipFill>
          <a:blip r:embed="rId18"/>
          <a:srcRect/>
          <a:stretch/>
        </p:blipFill>
        <p:spPr>
          <a:xfrm>
            <a:off x="546549" y="4907555"/>
            <a:ext cx="438150" cy="123825"/>
          </a:xfrm>
          <a:prstGeom prst="rect">
            <a:avLst/>
          </a:prstGeom>
        </p:spPr>
      </p:pic>
      <p:sp>
        <p:nvSpPr>
          <p:cNvPr id="56" name="Shape">
            <a:extLst>
              <a:ext uri="{FF2B5EF4-FFF2-40B4-BE49-F238E27FC236}">
                <a16:creationId xmlns:a16="http://schemas.microsoft.com/office/drawing/2014/main" id="{1F293801-32D8-5F79-64B0-5DF83360DB4D}"/>
              </a:ext>
            </a:extLst>
          </p:cNvPr>
          <p:cNvSpPr/>
          <p:nvPr/>
        </p:nvSpPr>
        <p:spPr>
          <a:xfrm>
            <a:off x="1121343" y="478768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admin</a:t>
            </a:r>
            <a:endParaRPr/>
          </a:p>
        </p:txBody>
      </p:sp>
      <p:sp>
        <p:nvSpPr>
          <p:cNvPr id="57" name="Shape">
            <a:extLst>
              <a:ext uri="{FF2B5EF4-FFF2-40B4-BE49-F238E27FC236}">
                <a16:creationId xmlns:a16="http://schemas.microsoft.com/office/drawing/2014/main" id="{BF3AC1A5-1D85-0B8D-6730-052F962E8758}"/>
              </a:ext>
            </a:extLst>
          </p:cNvPr>
          <p:cNvSpPr/>
          <p:nvPr/>
        </p:nvSpPr>
        <p:spPr>
          <a:xfrm>
            <a:off x="1121343" y="506793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9"/>
              </a:rPr>
              <a:t>hashtagdubai.org</a:t>
            </a:r>
            <a:endParaRPr/>
          </a:p>
        </p:txBody>
      </p:sp>
      <p:sp>
        <p:nvSpPr>
          <p:cNvPr id="58" name="Shape">
            <a:extLst>
              <a:ext uri="{FF2B5EF4-FFF2-40B4-BE49-F238E27FC236}">
                <a16:creationId xmlns:a16="http://schemas.microsoft.com/office/drawing/2014/main" id="{FDD33EF0-BB1E-8EE9-9DD7-28F0E8A881A4}"/>
              </a:ext>
            </a:extLst>
          </p:cNvPr>
          <p:cNvSpPr/>
          <p:nvPr/>
        </p:nvSpPr>
        <p:spPr>
          <a:xfrm>
            <a:off x="598880" y="530273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20"/>
              </a:rPr>
              <a:t>28/03/26 07:16</a:t>
            </a:r>
            <a:r>
              <a:t> | </a:t>
            </a:r>
            <a:r>
              <a:rPr lang="ar" b="0" i="0"/>
              <a:t>United Arab Emirates</a:t>
            </a:r>
            <a:endParaRPr/>
          </a:p>
        </p:txBody>
      </p:sp>
      <p:sp>
        <p:nvSpPr>
          <p:cNvPr id="59" name="Shape">
            <a:extLst>
              <a:ext uri="{FF2B5EF4-FFF2-40B4-BE49-F238E27FC236}">
                <a16:creationId xmlns:a16="http://schemas.microsoft.com/office/drawing/2014/main" id="{6EF4B867-2EC3-0AB0-B990-4F140EEA0C65}"/>
              </a:ext>
            </a:extLst>
          </p:cNvPr>
          <p:cNvSpPr/>
          <p:nvPr/>
        </p:nvSpPr>
        <p:spPr>
          <a:xfrm>
            <a:off x="3912905" y="4727849"/>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20"/>
              </a:rPr>
              <a:t>مراكز التسوق التابعة لـ “الفطيم...</a:t>
            </a:r>
            <a:endParaRPr/>
          </a:p>
        </p:txBody>
      </p:sp>
      <p:sp>
        <p:nvSpPr>
          <p:cNvPr id="60" name="Shape">
            <a:extLst>
              <a:ext uri="{FF2B5EF4-FFF2-40B4-BE49-F238E27FC236}">
                <a16:creationId xmlns:a16="http://schemas.microsoft.com/office/drawing/2014/main" id="{13B58E32-BF7D-D293-E556-2B2F1D6C1309}"/>
              </a:ext>
            </a:extLst>
          </p:cNvPr>
          <p:cNvSpPr/>
          <p:nvPr/>
        </p:nvSpPr>
        <p:spPr>
          <a:xfrm>
            <a:off x="3933748" y="497325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...يعزز حضور المركز كوجهة مجتمعية. أرابيان سنتر أكد “أرابيان سنتر” مرونته كوجهة مجتمعية تركز على القيمة، حيث حقق نمو ملحوظ في ... لمراكز التسوق في المنطقة، بما في ذلك أرابيان سنتر، التابع لمجموعة النابوده. كما تتولى مجموعة الفطيم العقارية مسؤولية إدارة...</a:t>
            </a:r>
            <a:endParaRPr/>
          </a:p>
        </p:txBody>
      </p:sp>
      <p:pic>
        <p:nvPicPr>
          <p:cNvPr id="61" name="Picture">
            <a:hlinkClick r:id="rId20"/>
            <a:extLst>
              <a:ext uri="{FF2B5EF4-FFF2-40B4-BE49-F238E27FC236}">
                <a16:creationId xmlns:a16="http://schemas.microsoft.com/office/drawing/2014/main" id="{E00B2CE3-DFCE-5E1C-0103-DF3FD2207AA4}"/>
              </a:ext>
            </a:extLst>
          </p:cNvPr>
          <p:cNvPicPr/>
          <p:nvPr/>
        </p:nvPicPr>
        <p:blipFill>
          <a:blip r:embed="rId21"/>
          <a:srcRect/>
          <a:stretch/>
        </p:blipFill>
        <p:spPr>
          <a:xfrm>
            <a:off x="7416477" y="4730428"/>
            <a:ext cx="1038225" cy="781050"/>
          </a:xfrm>
          <a:prstGeom prst="rect">
            <a:avLst/>
          </a:prstGeom>
        </p:spPr>
      </p:pic>
      <p:sp>
        <p:nvSpPr>
          <p:cNvPr id="62" name="Shape">
            <a:extLst>
              <a:ext uri="{FF2B5EF4-FFF2-40B4-BE49-F238E27FC236}">
                <a16:creationId xmlns:a16="http://schemas.microsoft.com/office/drawing/2014/main" id="{40B15D26-8C14-8C81-DF7D-44F785283861}"/>
              </a:ext>
            </a:extLst>
          </p:cNvPr>
          <p:cNvSpPr/>
          <p:nvPr/>
        </p:nvSpPr>
        <p:spPr>
          <a:xfrm>
            <a:off x="8769307" y="493917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3" name="Shape">
            <a:extLst>
              <a:ext uri="{FF2B5EF4-FFF2-40B4-BE49-F238E27FC236}">
                <a16:creationId xmlns:a16="http://schemas.microsoft.com/office/drawing/2014/main" id="{35C7D3C7-4BF0-2F9D-C758-D82E37EA690B}"/>
              </a:ext>
            </a:extLst>
          </p:cNvPr>
          <p:cNvSpPr/>
          <p:nvPr/>
        </p:nvSpPr>
        <p:spPr>
          <a:xfrm>
            <a:off x="8769307" y="4939170"/>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4" name="Shape">
            <a:extLst>
              <a:ext uri="{FF2B5EF4-FFF2-40B4-BE49-F238E27FC236}">
                <a16:creationId xmlns:a16="http://schemas.microsoft.com/office/drawing/2014/main" id="{B0C78269-4B9A-7ED8-500A-BE561CE324F1}"/>
              </a:ext>
            </a:extLst>
          </p:cNvPr>
          <p:cNvSpPr/>
          <p:nvPr/>
        </p:nvSpPr>
        <p:spPr>
          <a:xfrm>
            <a:off x="10047672" y="468164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65" name="Line 200: (537882, 6316553) - (11654110, 6316553)">
            <a:extLst>
              <a:ext uri="{FF2B5EF4-FFF2-40B4-BE49-F238E27FC236}">
                <a16:creationId xmlns:a16="http://schemas.microsoft.com/office/drawing/2014/main" id="{6A17C0F2-6A92-DDF8-CA1A-CDA0340091ED}"/>
              </a:ext>
            </a:extLst>
          </p:cNvPr>
          <p:cNvCxnSpPr/>
          <p:nvPr/>
        </p:nvCxnSpPr>
        <p:spPr>
          <a:xfrm>
            <a:off x="432137" y="5575408"/>
            <a:ext cx="11116228" cy="0"/>
          </a:xfrm>
          <a:prstGeom prst="line">
            <a:avLst/>
          </a:prstGeom>
          <a:ln w="12700">
            <a:solidFill>
              <a:srgbClr val="C7C7C7"/>
            </a:solidFill>
          </a:ln>
        </p:spPr>
      </p:cxnSp>
    </p:spTree>
    <p:extLst>
      <p:ext uri="{BB962C8B-B14F-4D97-AF65-F5344CB8AC3E}">
        <p14:creationId xmlns:p14="http://schemas.microsoft.com/office/powerpoint/2010/main" val="157943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50601-FF2E-EF73-DC78-EB8AFB0F0F07}"/>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0420991E-A37C-2E5F-58B2-A7CD427402B3}"/>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92498EBF-E89B-3725-14C1-9E0054E0640D}"/>
              </a:ext>
            </a:extLst>
          </p:cNvPr>
          <p:cNvCxnSpPr/>
          <p:nvPr/>
        </p:nvCxnSpPr>
        <p:spPr>
          <a:xfrm>
            <a:off x="432137" y="1059734"/>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840B7E2A-FA8E-4EAF-794A-5C8CFA16289A}"/>
              </a:ext>
            </a:extLst>
          </p:cNvPr>
          <p:cNvSpPr/>
          <p:nvPr/>
        </p:nvSpPr>
        <p:spPr>
          <a:xfrm>
            <a:off x="765623" y="844466"/>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C410F235-307B-429E-127C-BA239004B31F}"/>
              </a:ext>
            </a:extLst>
          </p:cNvPr>
          <p:cNvCxnSpPr/>
          <p:nvPr/>
        </p:nvCxnSpPr>
        <p:spPr>
          <a:xfrm>
            <a:off x="3767005" y="820548"/>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3AEE6F46-5875-D440-F706-35D0D7DF4C07}"/>
              </a:ext>
            </a:extLst>
          </p:cNvPr>
          <p:cNvSpPr/>
          <p:nvPr/>
        </p:nvSpPr>
        <p:spPr>
          <a:xfrm>
            <a:off x="4100491" y="844466"/>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21507D9F-6962-2BAE-CADF-B3740662D6AF}"/>
              </a:ext>
            </a:extLst>
          </p:cNvPr>
          <p:cNvCxnSpPr/>
          <p:nvPr/>
        </p:nvCxnSpPr>
        <p:spPr>
          <a:xfrm>
            <a:off x="8769307" y="820548"/>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8C0A51E5-C147-799D-5EE9-365287DDDD21}"/>
              </a:ext>
            </a:extLst>
          </p:cNvPr>
          <p:cNvSpPr/>
          <p:nvPr/>
        </p:nvSpPr>
        <p:spPr>
          <a:xfrm>
            <a:off x="8880469" y="844466"/>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7C071683-9A79-C802-6079-914A32EC5B78}"/>
              </a:ext>
            </a:extLst>
          </p:cNvPr>
          <p:cNvCxnSpPr/>
          <p:nvPr/>
        </p:nvCxnSpPr>
        <p:spPr>
          <a:xfrm>
            <a:off x="9880929" y="820548"/>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31D91C92-D8DB-54DB-7DA0-00DB86DCB610}"/>
              </a:ext>
            </a:extLst>
          </p:cNvPr>
          <p:cNvSpPr/>
          <p:nvPr/>
        </p:nvSpPr>
        <p:spPr>
          <a:xfrm>
            <a:off x="10047672" y="844466"/>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BA278526-B00F-08EA-F0DE-0B2CF6995741}"/>
              </a:ext>
            </a:extLst>
          </p:cNvPr>
          <p:cNvPicPr/>
          <p:nvPr/>
        </p:nvPicPr>
        <p:blipFill>
          <a:blip r:embed="rId2"/>
          <a:srcRect/>
          <a:stretch/>
        </p:blipFill>
        <p:spPr>
          <a:xfrm>
            <a:off x="546549" y="1143629"/>
            <a:ext cx="438150" cy="438150"/>
          </a:xfrm>
          <a:prstGeom prst="rect">
            <a:avLst/>
          </a:prstGeom>
        </p:spPr>
      </p:pic>
      <p:sp>
        <p:nvSpPr>
          <p:cNvPr id="12" name="Shape">
            <a:extLst>
              <a:ext uri="{FF2B5EF4-FFF2-40B4-BE49-F238E27FC236}">
                <a16:creationId xmlns:a16="http://schemas.microsoft.com/office/drawing/2014/main" id="{89B972AE-AD96-FF4B-4BF1-8F0BCEDBCAD4}"/>
              </a:ext>
            </a:extLst>
          </p:cNvPr>
          <p:cNvSpPr/>
          <p:nvPr/>
        </p:nvSpPr>
        <p:spPr>
          <a:xfrm>
            <a:off x="1121343" y="118092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sawpcvzrt</a:t>
            </a:r>
            <a:endParaRPr/>
          </a:p>
        </p:txBody>
      </p:sp>
      <p:sp>
        <p:nvSpPr>
          <p:cNvPr id="13" name="Shape">
            <a:extLst>
              <a:ext uri="{FF2B5EF4-FFF2-40B4-BE49-F238E27FC236}">
                <a16:creationId xmlns:a16="http://schemas.microsoft.com/office/drawing/2014/main" id="{6C32523A-48E0-905B-F78B-C0456D7A08F0}"/>
              </a:ext>
            </a:extLst>
          </p:cNvPr>
          <p:cNvSpPr/>
          <p:nvPr/>
        </p:nvSpPr>
        <p:spPr>
          <a:xfrm>
            <a:off x="1121343" y="146116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Blogs</a:t>
            </a:r>
            <a:r>
              <a:t> | </a:t>
            </a:r>
            <a:r>
              <a:rPr lang="en" b="0" i="0">
                <a:hlinkClick r:id="rId3"/>
              </a:rPr>
              <a:t>abudhabitalking.com</a:t>
            </a:r>
            <a:endParaRPr/>
          </a:p>
        </p:txBody>
      </p:sp>
      <p:sp>
        <p:nvSpPr>
          <p:cNvPr id="14" name="Shape">
            <a:extLst>
              <a:ext uri="{FF2B5EF4-FFF2-40B4-BE49-F238E27FC236}">
                <a16:creationId xmlns:a16="http://schemas.microsoft.com/office/drawing/2014/main" id="{02BA2E22-55F8-1C2B-D64D-A073CB23F5F5}"/>
              </a:ext>
            </a:extLst>
          </p:cNvPr>
          <p:cNvSpPr/>
          <p:nvPr/>
        </p:nvSpPr>
        <p:spPr>
          <a:xfrm>
            <a:off x="598880" y="169597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4"/>
              </a:rPr>
              <a:t>28/03/26 15:52</a:t>
            </a:r>
            <a:r>
              <a:t> | </a:t>
            </a:r>
            <a:r>
              <a:rPr lang="en" b="0" i="0"/>
              <a:t>United Arab Emirates</a:t>
            </a:r>
            <a:endParaRPr/>
          </a:p>
        </p:txBody>
      </p:sp>
      <p:sp>
        <p:nvSpPr>
          <p:cNvPr id="15" name="Shape">
            <a:extLst>
              <a:ext uri="{FF2B5EF4-FFF2-40B4-BE49-F238E27FC236}">
                <a16:creationId xmlns:a16="http://schemas.microsoft.com/office/drawing/2014/main" id="{ABBBA5DF-3921-3DFC-EDB1-01E01520867E}"/>
              </a:ext>
            </a:extLst>
          </p:cNvPr>
          <p:cNvSpPr/>
          <p:nvPr/>
        </p:nvSpPr>
        <p:spPr>
          <a:xfrm>
            <a:off x="3912905" y="112108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4"/>
              </a:rPr>
              <a:t>Al-Futtaim Malls Deliver Strong...</a:t>
            </a:r>
            <a:endParaRPr/>
          </a:p>
        </p:txBody>
      </p:sp>
      <p:sp>
        <p:nvSpPr>
          <p:cNvPr id="16" name="Shape">
            <a:extLst>
              <a:ext uri="{FF2B5EF4-FFF2-40B4-BE49-F238E27FC236}">
                <a16:creationId xmlns:a16="http://schemas.microsoft.com/office/drawing/2014/main" id="{35C99D07-EA55-B32A-E068-72667FD8AC54}"/>
              </a:ext>
            </a:extLst>
          </p:cNvPr>
          <p:cNvSpPr/>
          <p:nvPr/>
        </p:nvSpPr>
        <p:spPr>
          <a:xfrm>
            <a:off x="3933748" y="136649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The group’s key destinations, including Dubai Festival City Mall, Festival Plaza, and Arabian Centre, recorded an average 8% year-on-year sales growth during the Ramadan and Eid period, reflecting robust consumer demand and the...</a:t>
            </a:r>
            <a:endParaRPr/>
          </a:p>
        </p:txBody>
      </p:sp>
      <p:pic>
        <p:nvPicPr>
          <p:cNvPr id="17" name="Picture">
            <a:hlinkClick r:id="rId5"/>
            <a:extLst>
              <a:ext uri="{FF2B5EF4-FFF2-40B4-BE49-F238E27FC236}">
                <a16:creationId xmlns:a16="http://schemas.microsoft.com/office/drawing/2014/main" id="{DE8024E9-608A-879D-2828-E329235D86B1}"/>
              </a:ext>
            </a:extLst>
          </p:cNvPr>
          <p:cNvPicPr/>
          <p:nvPr/>
        </p:nvPicPr>
        <p:blipFill>
          <a:blip r:embed="rId6"/>
          <a:srcRect/>
          <a:stretch/>
        </p:blipFill>
        <p:spPr>
          <a:xfrm>
            <a:off x="7583165" y="1161764"/>
            <a:ext cx="704850" cy="704850"/>
          </a:xfrm>
          <a:prstGeom prst="rect">
            <a:avLst/>
          </a:prstGeom>
        </p:spPr>
      </p:pic>
      <p:sp>
        <p:nvSpPr>
          <p:cNvPr id="18" name="Shape">
            <a:extLst>
              <a:ext uri="{FF2B5EF4-FFF2-40B4-BE49-F238E27FC236}">
                <a16:creationId xmlns:a16="http://schemas.microsoft.com/office/drawing/2014/main" id="{918AECA0-4AB7-B51C-5036-FBB3974A8D51}"/>
              </a:ext>
            </a:extLst>
          </p:cNvPr>
          <p:cNvSpPr/>
          <p:nvPr/>
        </p:nvSpPr>
        <p:spPr>
          <a:xfrm>
            <a:off x="8769307" y="133240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BBECE9B2-F480-F167-5C6B-044A89BBE898}"/>
              </a:ext>
            </a:extLst>
          </p:cNvPr>
          <p:cNvSpPr/>
          <p:nvPr/>
        </p:nvSpPr>
        <p:spPr>
          <a:xfrm>
            <a:off x="8769307" y="133240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7BD77A31-4440-8AD9-E6E6-4BE89A1BAA4E}"/>
              </a:ext>
            </a:extLst>
          </p:cNvPr>
          <p:cNvSpPr/>
          <p:nvPr/>
        </p:nvSpPr>
        <p:spPr>
          <a:xfrm>
            <a:off x="10047672" y="107488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21" name="Line 200: (537882, 2680913) - (11654110, 2680913)">
            <a:extLst>
              <a:ext uri="{FF2B5EF4-FFF2-40B4-BE49-F238E27FC236}">
                <a16:creationId xmlns:a16="http://schemas.microsoft.com/office/drawing/2014/main" id="{EC2BFE17-4D92-1559-CD4B-52C2FCCED68D}"/>
              </a:ext>
            </a:extLst>
          </p:cNvPr>
          <p:cNvCxnSpPr/>
          <p:nvPr/>
        </p:nvCxnSpPr>
        <p:spPr>
          <a:xfrm>
            <a:off x="432137" y="1968644"/>
            <a:ext cx="11116228" cy="0"/>
          </a:xfrm>
          <a:prstGeom prst="line">
            <a:avLst/>
          </a:prstGeom>
          <a:ln w="12700">
            <a:solidFill>
              <a:srgbClr val="C7C7C7"/>
            </a:solidFill>
          </a:ln>
        </p:spPr>
      </p:cxnSp>
      <p:pic>
        <p:nvPicPr>
          <p:cNvPr id="22" name="Picture">
            <a:extLst>
              <a:ext uri="{FF2B5EF4-FFF2-40B4-BE49-F238E27FC236}">
                <a16:creationId xmlns:a16="http://schemas.microsoft.com/office/drawing/2014/main" id="{43C1FBBD-D24D-4828-EAF4-C7C1C8331DE3}"/>
              </a:ext>
            </a:extLst>
          </p:cNvPr>
          <p:cNvPicPr/>
          <p:nvPr/>
        </p:nvPicPr>
        <p:blipFill>
          <a:blip r:embed="rId7"/>
          <a:srcRect/>
          <a:stretch/>
        </p:blipFill>
        <p:spPr>
          <a:xfrm>
            <a:off x="546549" y="2052539"/>
            <a:ext cx="438150" cy="438150"/>
          </a:xfrm>
          <a:prstGeom prst="rect">
            <a:avLst/>
          </a:prstGeom>
        </p:spPr>
      </p:pic>
      <p:sp>
        <p:nvSpPr>
          <p:cNvPr id="23" name="Shape">
            <a:extLst>
              <a:ext uri="{FF2B5EF4-FFF2-40B4-BE49-F238E27FC236}">
                <a16:creationId xmlns:a16="http://schemas.microsoft.com/office/drawing/2014/main" id="{EE0225F9-345F-0F88-4A33-B4A05D7F91C8}"/>
              </a:ext>
            </a:extLst>
          </p:cNvPr>
          <p:cNvSpPr/>
          <p:nvPr/>
        </p:nvSpPr>
        <p:spPr>
          <a:xfrm>
            <a:off x="1121343" y="2089832"/>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eva francisquite</a:t>
            </a:r>
            <a:endParaRPr/>
          </a:p>
        </p:txBody>
      </p:sp>
      <p:sp>
        <p:nvSpPr>
          <p:cNvPr id="24" name="Shape">
            <a:extLst>
              <a:ext uri="{FF2B5EF4-FFF2-40B4-BE49-F238E27FC236}">
                <a16:creationId xmlns:a16="http://schemas.microsoft.com/office/drawing/2014/main" id="{2098FA4A-6DF3-DAE3-5191-8A730C6665F3}"/>
              </a:ext>
            </a:extLst>
          </p:cNvPr>
          <p:cNvSpPr/>
          <p:nvPr/>
        </p:nvSpPr>
        <p:spPr>
          <a:xfrm>
            <a:off x="1121343" y="237007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Online News Other</a:t>
            </a:r>
            <a:r>
              <a:t> | </a:t>
            </a:r>
            <a:r>
              <a:rPr lang="en" b="0" i="0">
                <a:hlinkClick r:id="rId8"/>
              </a:rPr>
              <a:t>mea-biz.com</a:t>
            </a:r>
            <a:endParaRPr/>
          </a:p>
        </p:txBody>
      </p:sp>
      <p:sp>
        <p:nvSpPr>
          <p:cNvPr id="25" name="Shape">
            <a:extLst>
              <a:ext uri="{FF2B5EF4-FFF2-40B4-BE49-F238E27FC236}">
                <a16:creationId xmlns:a16="http://schemas.microsoft.com/office/drawing/2014/main" id="{62A330E4-1FA0-688D-9506-D7A04F0F7427}"/>
              </a:ext>
            </a:extLst>
          </p:cNvPr>
          <p:cNvSpPr/>
          <p:nvPr/>
        </p:nvSpPr>
        <p:spPr>
          <a:xfrm>
            <a:off x="598880" y="2604880"/>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9"/>
              </a:rPr>
              <a:t>28/03/26 19:44</a:t>
            </a:r>
            <a:r>
              <a:t> | </a:t>
            </a:r>
            <a:r>
              <a:rPr lang="en" b="0" i="0"/>
              <a:t>United Arab Emirates</a:t>
            </a:r>
            <a:endParaRPr/>
          </a:p>
        </p:txBody>
      </p:sp>
      <p:sp>
        <p:nvSpPr>
          <p:cNvPr id="26" name="Shape">
            <a:extLst>
              <a:ext uri="{FF2B5EF4-FFF2-40B4-BE49-F238E27FC236}">
                <a16:creationId xmlns:a16="http://schemas.microsoft.com/office/drawing/2014/main" id="{8435F13B-E84B-23B2-05C7-21BDD56D0422}"/>
              </a:ext>
            </a:extLst>
          </p:cNvPr>
          <p:cNvSpPr/>
          <p:nvPr/>
        </p:nvSpPr>
        <p:spPr>
          <a:xfrm>
            <a:off x="3912905" y="2029995"/>
            <a:ext cx="2772108" cy="81801"/>
          </a:xfrm>
          <a:prstGeom prst="rect">
            <a:avLst/>
          </a:prstGeom>
        </p:spPr>
        <p:txBody>
          <a:bodyPr wrap="square" lIns="0" tIns="0" rIns="0">
            <a:noAutofit/>
          </a:bodyPr>
          <a:lstStyle/>
          <a:p>
            <a:pPr algn="l" fontAlgn="t">
              <a:defRPr sz="1100" b="1" i="0">
                <a:solidFill>
                  <a:srgbClr val="000000"/>
                </a:solidFill>
                <a:latin typeface="Arial"/>
              </a:defRPr>
            </a:pPr>
            <a:r>
              <a:rPr lang="en" b="1" i="0">
                <a:hlinkClick r:id="rId9"/>
              </a:rPr>
              <a:t>Al-Futtaim's Malls report str...</a:t>
            </a:r>
            <a:endParaRPr/>
          </a:p>
        </p:txBody>
      </p:sp>
      <p:sp>
        <p:nvSpPr>
          <p:cNvPr id="27" name="Shape">
            <a:extLst>
              <a:ext uri="{FF2B5EF4-FFF2-40B4-BE49-F238E27FC236}">
                <a16:creationId xmlns:a16="http://schemas.microsoft.com/office/drawing/2014/main" id="{03C177A9-723C-0F43-0B6C-BD422522D146}"/>
              </a:ext>
            </a:extLst>
          </p:cNvPr>
          <p:cNvSpPr/>
          <p:nvPr/>
        </p:nvSpPr>
        <p:spPr>
          <a:xfrm>
            <a:off x="3933748" y="2275400"/>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...and Eid activations, further solidified its community-centric position. Arabian Center Arabian Center reinforced its position as a value-driven community destination, achieving approximately 5% growth during Ramadan, with furthe...</a:t>
            </a:r>
            <a:endParaRPr/>
          </a:p>
        </p:txBody>
      </p:sp>
      <p:pic>
        <p:nvPicPr>
          <p:cNvPr id="28" name="Picture">
            <a:hlinkClick r:id="rId10"/>
            <a:extLst>
              <a:ext uri="{FF2B5EF4-FFF2-40B4-BE49-F238E27FC236}">
                <a16:creationId xmlns:a16="http://schemas.microsoft.com/office/drawing/2014/main" id="{C790D2E5-661B-1B04-93F5-35BC656072DA}"/>
              </a:ext>
            </a:extLst>
          </p:cNvPr>
          <p:cNvPicPr/>
          <p:nvPr/>
        </p:nvPicPr>
        <p:blipFill>
          <a:blip r:embed="rId11"/>
          <a:srcRect/>
          <a:stretch/>
        </p:blipFill>
        <p:spPr>
          <a:xfrm>
            <a:off x="7545065" y="2032574"/>
            <a:ext cx="781050" cy="781050"/>
          </a:xfrm>
          <a:prstGeom prst="rect">
            <a:avLst/>
          </a:prstGeom>
        </p:spPr>
      </p:pic>
      <p:sp>
        <p:nvSpPr>
          <p:cNvPr id="29" name="Shape">
            <a:extLst>
              <a:ext uri="{FF2B5EF4-FFF2-40B4-BE49-F238E27FC236}">
                <a16:creationId xmlns:a16="http://schemas.microsoft.com/office/drawing/2014/main" id="{E474860F-8A42-1F00-EE89-C993E6861A34}"/>
              </a:ext>
            </a:extLst>
          </p:cNvPr>
          <p:cNvSpPr/>
          <p:nvPr/>
        </p:nvSpPr>
        <p:spPr>
          <a:xfrm>
            <a:off x="8769307" y="224131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0" name="Shape">
            <a:extLst>
              <a:ext uri="{FF2B5EF4-FFF2-40B4-BE49-F238E27FC236}">
                <a16:creationId xmlns:a16="http://schemas.microsoft.com/office/drawing/2014/main" id="{843E4881-DDD6-152F-133B-CA92F81199B4}"/>
              </a:ext>
            </a:extLst>
          </p:cNvPr>
          <p:cNvSpPr/>
          <p:nvPr/>
        </p:nvSpPr>
        <p:spPr>
          <a:xfrm>
            <a:off x="8769307" y="224131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1" name="Shape">
            <a:extLst>
              <a:ext uri="{FF2B5EF4-FFF2-40B4-BE49-F238E27FC236}">
                <a16:creationId xmlns:a16="http://schemas.microsoft.com/office/drawing/2014/main" id="{8200B6BA-1A7D-EFAA-EA33-551A52785027}"/>
              </a:ext>
            </a:extLst>
          </p:cNvPr>
          <p:cNvSpPr/>
          <p:nvPr/>
        </p:nvSpPr>
        <p:spPr>
          <a:xfrm>
            <a:off x="10047672" y="198379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32" name="Line 200: (537882, 3589823) - (11654110, 3589823)">
            <a:extLst>
              <a:ext uri="{FF2B5EF4-FFF2-40B4-BE49-F238E27FC236}">
                <a16:creationId xmlns:a16="http://schemas.microsoft.com/office/drawing/2014/main" id="{D5757D25-CE00-C9CF-C507-2AA10F950C5D}"/>
              </a:ext>
            </a:extLst>
          </p:cNvPr>
          <p:cNvCxnSpPr/>
          <p:nvPr/>
        </p:nvCxnSpPr>
        <p:spPr>
          <a:xfrm>
            <a:off x="432137" y="2877554"/>
            <a:ext cx="11116228" cy="0"/>
          </a:xfrm>
          <a:prstGeom prst="line">
            <a:avLst/>
          </a:prstGeom>
          <a:ln w="12700">
            <a:solidFill>
              <a:srgbClr val="C7C7C7"/>
            </a:solidFill>
          </a:ln>
        </p:spPr>
      </p:cxnSp>
      <p:pic>
        <p:nvPicPr>
          <p:cNvPr id="33" name="Picture">
            <a:extLst>
              <a:ext uri="{FF2B5EF4-FFF2-40B4-BE49-F238E27FC236}">
                <a16:creationId xmlns:a16="http://schemas.microsoft.com/office/drawing/2014/main" id="{E463D781-C72A-70F3-08F4-670A8C277DA3}"/>
              </a:ext>
            </a:extLst>
          </p:cNvPr>
          <p:cNvPicPr/>
          <p:nvPr/>
        </p:nvPicPr>
        <p:blipFill>
          <a:blip r:embed="rId7"/>
          <a:srcRect/>
          <a:stretch/>
        </p:blipFill>
        <p:spPr>
          <a:xfrm>
            <a:off x="546549" y="2961449"/>
            <a:ext cx="438150" cy="438150"/>
          </a:xfrm>
          <a:prstGeom prst="rect">
            <a:avLst/>
          </a:prstGeom>
        </p:spPr>
      </p:pic>
      <p:sp>
        <p:nvSpPr>
          <p:cNvPr id="34" name="Shape">
            <a:extLst>
              <a:ext uri="{FF2B5EF4-FFF2-40B4-BE49-F238E27FC236}">
                <a16:creationId xmlns:a16="http://schemas.microsoft.com/office/drawing/2014/main" id="{620A5A2F-8513-04BF-00EA-5AB2D342782D}"/>
              </a:ext>
            </a:extLst>
          </p:cNvPr>
          <p:cNvSpPr/>
          <p:nvPr/>
        </p:nvSpPr>
        <p:spPr>
          <a:xfrm>
            <a:off x="1121343" y="2998742"/>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25H AI</a:t>
            </a:r>
            <a:endParaRPr/>
          </a:p>
        </p:txBody>
      </p:sp>
      <p:sp>
        <p:nvSpPr>
          <p:cNvPr id="35" name="Shape">
            <a:extLst>
              <a:ext uri="{FF2B5EF4-FFF2-40B4-BE49-F238E27FC236}">
                <a16:creationId xmlns:a16="http://schemas.microsoft.com/office/drawing/2014/main" id="{82A2B491-A170-7373-6802-9DF5394FCD8A}"/>
              </a:ext>
            </a:extLst>
          </p:cNvPr>
          <p:cNvSpPr/>
          <p:nvPr/>
        </p:nvSpPr>
        <p:spPr>
          <a:xfrm>
            <a:off x="1121343" y="327898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2"/>
              </a:rPr>
              <a:t>25h.app</a:t>
            </a:r>
            <a:endParaRPr/>
          </a:p>
        </p:txBody>
      </p:sp>
      <p:sp>
        <p:nvSpPr>
          <p:cNvPr id="36" name="Shape">
            <a:extLst>
              <a:ext uri="{FF2B5EF4-FFF2-40B4-BE49-F238E27FC236}">
                <a16:creationId xmlns:a16="http://schemas.microsoft.com/office/drawing/2014/main" id="{D097E4C9-D0EF-34DB-EDFA-033742B29BDC}"/>
              </a:ext>
            </a:extLst>
          </p:cNvPr>
          <p:cNvSpPr/>
          <p:nvPr/>
        </p:nvSpPr>
        <p:spPr>
          <a:xfrm>
            <a:off x="598880" y="3513790"/>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3"/>
              </a:rPr>
              <a:t>30/03/26 13:33</a:t>
            </a:r>
            <a:r>
              <a:t> | </a:t>
            </a:r>
            <a:r>
              <a:rPr lang="ar" b="0" i="0"/>
              <a:t>Saudi Arabia</a:t>
            </a:r>
            <a:endParaRPr/>
          </a:p>
        </p:txBody>
      </p:sp>
      <p:sp>
        <p:nvSpPr>
          <p:cNvPr id="37" name="Shape">
            <a:extLst>
              <a:ext uri="{FF2B5EF4-FFF2-40B4-BE49-F238E27FC236}">
                <a16:creationId xmlns:a16="http://schemas.microsoft.com/office/drawing/2014/main" id="{9905E0DA-7130-3B34-59CD-A13BEFFA56E1}"/>
              </a:ext>
            </a:extLst>
          </p:cNvPr>
          <p:cNvSpPr/>
          <p:nvPr/>
        </p:nvSpPr>
        <p:spPr>
          <a:xfrm>
            <a:off x="3912905" y="2938905"/>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13"/>
              </a:rPr>
              <a:t>مراكز التسوق التابعة لـ "الفطيم"...</a:t>
            </a:r>
            <a:endParaRPr/>
          </a:p>
        </p:txBody>
      </p:sp>
      <p:sp>
        <p:nvSpPr>
          <p:cNvPr id="38" name="Shape">
            <a:extLst>
              <a:ext uri="{FF2B5EF4-FFF2-40B4-BE49-F238E27FC236}">
                <a16:creationId xmlns:a16="http://schemas.microsoft.com/office/drawing/2014/main" id="{AE68AA31-3D2E-180A-725F-356EA6F5D411}"/>
              </a:ext>
            </a:extLst>
          </p:cNvPr>
          <p:cNvSpPr/>
          <p:nvPr/>
        </p:nvSpPr>
        <p:spPr>
          <a:xfrm>
            <a:off x="3933748" y="3184310"/>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...الإقبال على ورش العمل خلال شهر رمضان والفعاليات التي أُقيمت خلال فترة العيد. أرابيان سنتر أكد “أرابيان سنتر” مرونته كوجهة مجتمعية تركز على القيمة، حيث حقق نمو ملحوظ في حجم الإنفاق رغم التحديات العامة في السوق. وارتفعت مبيعات شهر رمضان بنحو 5%، مع...</a:t>
            </a:r>
            <a:endParaRPr/>
          </a:p>
        </p:txBody>
      </p:sp>
      <p:pic>
        <p:nvPicPr>
          <p:cNvPr id="39" name="Picture">
            <a:hlinkClick r:id="rId13"/>
            <a:extLst>
              <a:ext uri="{FF2B5EF4-FFF2-40B4-BE49-F238E27FC236}">
                <a16:creationId xmlns:a16="http://schemas.microsoft.com/office/drawing/2014/main" id="{833D9A58-FD3A-B773-BC6E-0DC10C618266}"/>
              </a:ext>
            </a:extLst>
          </p:cNvPr>
          <p:cNvPicPr/>
          <p:nvPr/>
        </p:nvPicPr>
        <p:blipFill>
          <a:blip r:embed="rId11"/>
          <a:srcRect/>
          <a:stretch/>
        </p:blipFill>
        <p:spPr>
          <a:xfrm>
            <a:off x="7545065" y="2941484"/>
            <a:ext cx="781050" cy="781050"/>
          </a:xfrm>
          <a:prstGeom prst="rect">
            <a:avLst/>
          </a:prstGeom>
        </p:spPr>
      </p:pic>
      <p:sp>
        <p:nvSpPr>
          <p:cNvPr id="40" name="Shape">
            <a:extLst>
              <a:ext uri="{FF2B5EF4-FFF2-40B4-BE49-F238E27FC236}">
                <a16:creationId xmlns:a16="http://schemas.microsoft.com/office/drawing/2014/main" id="{B1D65042-8FDB-9640-96FA-66E7B58231F7}"/>
              </a:ext>
            </a:extLst>
          </p:cNvPr>
          <p:cNvSpPr/>
          <p:nvPr/>
        </p:nvSpPr>
        <p:spPr>
          <a:xfrm>
            <a:off x="8769307" y="3150226"/>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41" name="Shape">
            <a:extLst>
              <a:ext uri="{FF2B5EF4-FFF2-40B4-BE49-F238E27FC236}">
                <a16:creationId xmlns:a16="http://schemas.microsoft.com/office/drawing/2014/main" id="{792FAF77-70F6-E908-D982-D7CB44B78FD9}"/>
              </a:ext>
            </a:extLst>
          </p:cNvPr>
          <p:cNvSpPr/>
          <p:nvPr/>
        </p:nvSpPr>
        <p:spPr>
          <a:xfrm>
            <a:off x="8769307" y="3150226"/>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42" name="Shape">
            <a:extLst>
              <a:ext uri="{FF2B5EF4-FFF2-40B4-BE49-F238E27FC236}">
                <a16:creationId xmlns:a16="http://schemas.microsoft.com/office/drawing/2014/main" id="{7823F5DC-8A28-E513-4824-AA7E1513CCFB}"/>
              </a:ext>
            </a:extLst>
          </p:cNvPr>
          <p:cNvSpPr/>
          <p:nvPr/>
        </p:nvSpPr>
        <p:spPr>
          <a:xfrm>
            <a:off x="10047672" y="289270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43" name="Line 200: (537882, 4498733) - (11654110, 4498733)">
            <a:extLst>
              <a:ext uri="{FF2B5EF4-FFF2-40B4-BE49-F238E27FC236}">
                <a16:creationId xmlns:a16="http://schemas.microsoft.com/office/drawing/2014/main" id="{5E1E4EBE-BFFE-1B46-1B68-C54C51264975}"/>
              </a:ext>
            </a:extLst>
          </p:cNvPr>
          <p:cNvCxnSpPr/>
          <p:nvPr/>
        </p:nvCxnSpPr>
        <p:spPr>
          <a:xfrm>
            <a:off x="432137" y="3786464"/>
            <a:ext cx="11116228" cy="0"/>
          </a:xfrm>
          <a:prstGeom prst="line">
            <a:avLst/>
          </a:prstGeom>
          <a:ln w="12700">
            <a:solidFill>
              <a:srgbClr val="C7C7C7"/>
            </a:solidFill>
          </a:ln>
        </p:spPr>
      </p:cxnSp>
      <p:pic>
        <p:nvPicPr>
          <p:cNvPr id="44" name="Picture">
            <a:extLst>
              <a:ext uri="{FF2B5EF4-FFF2-40B4-BE49-F238E27FC236}">
                <a16:creationId xmlns:a16="http://schemas.microsoft.com/office/drawing/2014/main" id="{151E80DD-58A7-2D7F-010B-642B77EBCECD}"/>
              </a:ext>
            </a:extLst>
          </p:cNvPr>
          <p:cNvPicPr/>
          <p:nvPr/>
        </p:nvPicPr>
        <p:blipFill>
          <a:blip r:embed="rId7"/>
          <a:srcRect/>
          <a:stretch/>
        </p:blipFill>
        <p:spPr>
          <a:xfrm>
            <a:off x="546549" y="3870359"/>
            <a:ext cx="438150" cy="438150"/>
          </a:xfrm>
          <a:prstGeom prst="rect">
            <a:avLst/>
          </a:prstGeom>
        </p:spPr>
      </p:pic>
      <p:sp>
        <p:nvSpPr>
          <p:cNvPr id="45" name="Shape">
            <a:extLst>
              <a:ext uri="{FF2B5EF4-FFF2-40B4-BE49-F238E27FC236}">
                <a16:creationId xmlns:a16="http://schemas.microsoft.com/office/drawing/2014/main" id="{7FC33C1C-80C5-C984-1204-3253FF8B895F}"/>
              </a:ext>
            </a:extLst>
          </p:cNvPr>
          <p:cNvSpPr/>
          <p:nvPr/>
        </p:nvSpPr>
        <p:spPr>
          <a:xfrm>
            <a:off x="1121343" y="3907652"/>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ميرفت سليمان</a:t>
            </a:r>
            <a:endParaRPr/>
          </a:p>
        </p:txBody>
      </p:sp>
      <p:sp>
        <p:nvSpPr>
          <p:cNvPr id="46" name="Shape">
            <a:extLst>
              <a:ext uri="{FF2B5EF4-FFF2-40B4-BE49-F238E27FC236}">
                <a16:creationId xmlns:a16="http://schemas.microsoft.com/office/drawing/2014/main" id="{D64E63F0-51E9-E081-6D0D-8F9E1DFE5CE9}"/>
              </a:ext>
            </a:extLst>
          </p:cNvPr>
          <p:cNvSpPr/>
          <p:nvPr/>
        </p:nvSpPr>
        <p:spPr>
          <a:xfrm>
            <a:off x="1121343" y="4187898"/>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Online News Other</a:t>
            </a:r>
            <a:r>
              <a:t> | </a:t>
            </a:r>
            <a:r>
              <a:rPr lang="ar" b="0" i="0">
                <a:hlinkClick r:id="rId14"/>
              </a:rPr>
              <a:t>mwlana.com</a:t>
            </a:r>
            <a:endParaRPr/>
          </a:p>
        </p:txBody>
      </p:sp>
      <p:sp>
        <p:nvSpPr>
          <p:cNvPr id="47" name="Shape">
            <a:extLst>
              <a:ext uri="{FF2B5EF4-FFF2-40B4-BE49-F238E27FC236}">
                <a16:creationId xmlns:a16="http://schemas.microsoft.com/office/drawing/2014/main" id="{403E8CD3-68CB-04C1-DDC7-06F158ABF806}"/>
              </a:ext>
            </a:extLst>
          </p:cNvPr>
          <p:cNvSpPr/>
          <p:nvPr/>
        </p:nvSpPr>
        <p:spPr>
          <a:xfrm>
            <a:off x="598880" y="4422700"/>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5"/>
              </a:rPr>
              <a:t>30/03/26 13:51</a:t>
            </a:r>
            <a:r>
              <a:t> | </a:t>
            </a:r>
            <a:r>
              <a:rPr lang="ar" b="0" i="0"/>
              <a:t>Saudi Arabia</a:t>
            </a:r>
            <a:endParaRPr/>
          </a:p>
        </p:txBody>
      </p:sp>
      <p:sp>
        <p:nvSpPr>
          <p:cNvPr id="48" name="Shape">
            <a:extLst>
              <a:ext uri="{FF2B5EF4-FFF2-40B4-BE49-F238E27FC236}">
                <a16:creationId xmlns:a16="http://schemas.microsoft.com/office/drawing/2014/main" id="{3D649581-2F38-59E3-CB3A-62B4BD091F4B}"/>
              </a:ext>
            </a:extLst>
          </p:cNvPr>
          <p:cNvSpPr/>
          <p:nvPr/>
        </p:nvSpPr>
        <p:spPr>
          <a:xfrm>
            <a:off x="3912905" y="3847815"/>
            <a:ext cx="2772108" cy="81801"/>
          </a:xfrm>
          <a:prstGeom prst="rect">
            <a:avLst/>
          </a:prstGeom>
        </p:spPr>
        <p:txBody>
          <a:bodyPr wrap="square" lIns="0" tIns="0" rIns="0">
            <a:noAutofit/>
          </a:bodyPr>
          <a:lstStyle/>
          <a:p>
            <a:pPr algn="r" fontAlgn="t">
              <a:defRPr sz="1100" b="1" i="0">
                <a:solidFill>
                  <a:srgbClr val="000000"/>
                </a:solidFill>
                <a:latin typeface="Arial"/>
              </a:defRPr>
            </a:pPr>
            <a:r>
              <a:rPr lang="ar" b="1" i="0">
                <a:hlinkClick r:id="rId15"/>
              </a:rPr>
              <a:t>مراكز التسوق التابعة لـ "الفطيم"...</a:t>
            </a:r>
            <a:endParaRPr/>
          </a:p>
        </p:txBody>
      </p:sp>
      <p:sp>
        <p:nvSpPr>
          <p:cNvPr id="49" name="Shape">
            <a:extLst>
              <a:ext uri="{FF2B5EF4-FFF2-40B4-BE49-F238E27FC236}">
                <a16:creationId xmlns:a16="http://schemas.microsoft.com/office/drawing/2014/main" id="{DD94604D-08BF-37A0-DFC4-52D36312E978}"/>
              </a:ext>
            </a:extLst>
          </p:cNvPr>
          <p:cNvSpPr/>
          <p:nvPr/>
        </p:nvSpPr>
        <p:spPr>
          <a:xfrm>
            <a:off x="3933748" y="4093220"/>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...فستيفال سيتي مول” و”فستيفال بلازا” و”أرابيان سنتر”، مما يعزز من مكانة الدولة كمركز رئيسي لهذا القطاع الحيوي. في هذا ... الفعاليات وورش العمل خلال رمضان والعيد. أما أرابيان سنتر فقد أثبت مرونته كوجهة تركز على القيمة، حيث حقق نموًا بنسبة 5% في...</a:t>
            </a:r>
            <a:endParaRPr/>
          </a:p>
        </p:txBody>
      </p:sp>
      <p:pic>
        <p:nvPicPr>
          <p:cNvPr id="50" name="Picture">
            <a:hlinkClick r:id="rId15"/>
            <a:extLst>
              <a:ext uri="{FF2B5EF4-FFF2-40B4-BE49-F238E27FC236}">
                <a16:creationId xmlns:a16="http://schemas.microsoft.com/office/drawing/2014/main" id="{B5B3CE36-BC59-C6EF-E2DF-DAD0FAD82DDA}"/>
              </a:ext>
            </a:extLst>
          </p:cNvPr>
          <p:cNvPicPr/>
          <p:nvPr/>
        </p:nvPicPr>
        <p:blipFill>
          <a:blip r:embed="rId11"/>
          <a:srcRect/>
          <a:stretch/>
        </p:blipFill>
        <p:spPr>
          <a:xfrm>
            <a:off x="7545065" y="3850394"/>
            <a:ext cx="781050" cy="781050"/>
          </a:xfrm>
          <a:prstGeom prst="rect">
            <a:avLst/>
          </a:prstGeom>
        </p:spPr>
      </p:pic>
      <p:sp>
        <p:nvSpPr>
          <p:cNvPr id="51" name="Shape">
            <a:extLst>
              <a:ext uri="{FF2B5EF4-FFF2-40B4-BE49-F238E27FC236}">
                <a16:creationId xmlns:a16="http://schemas.microsoft.com/office/drawing/2014/main" id="{3754735B-64FF-6398-2D72-4490C6AD068A}"/>
              </a:ext>
            </a:extLst>
          </p:cNvPr>
          <p:cNvSpPr/>
          <p:nvPr/>
        </p:nvSpPr>
        <p:spPr>
          <a:xfrm>
            <a:off x="8769307" y="405913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2" name="Shape">
            <a:extLst>
              <a:ext uri="{FF2B5EF4-FFF2-40B4-BE49-F238E27FC236}">
                <a16:creationId xmlns:a16="http://schemas.microsoft.com/office/drawing/2014/main" id="{C32467D5-23EE-E340-C46B-9BF7C53F0E97}"/>
              </a:ext>
            </a:extLst>
          </p:cNvPr>
          <p:cNvSpPr/>
          <p:nvPr/>
        </p:nvSpPr>
        <p:spPr>
          <a:xfrm>
            <a:off x="8769307" y="4059136"/>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53" name="Shape">
            <a:extLst>
              <a:ext uri="{FF2B5EF4-FFF2-40B4-BE49-F238E27FC236}">
                <a16:creationId xmlns:a16="http://schemas.microsoft.com/office/drawing/2014/main" id="{F72A19E5-FE45-88C6-782E-8C6933AECFDC}"/>
              </a:ext>
            </a:extLst>
          </p:cNvPr>
          <p:cNvSpPr/>
          <p:nvPr/>
        </p:nvSpPr>
        <p:spPr>
          <a:xfrm>
            <a:off x="10047672" y="3801612"/>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cxnSp>
        <p:nvCxnSpPr>
          <p:cNvPr id="54" name="Line 200: (537882, 5407643) - (11654110, 5407643)">
            <a:extLst>
              <a:ext uri="{FF2B5EF4-FFF2-40B4-BE49-F238E27FC236}">
                <a16:creationId xmlns:a16="http://schemas.microsoft.com/office/drawing/2014/main" id="{93CE9696-D82E-FAB5-339B-159ABFD45833}"/>
              </a:ext>
            </a:extLst>
          </p:cNvPr>
          <p:cNvCxnSpPr/>
          <p:nvPr/>
        </p:nvCxnSpPr>
        <p:spPr>
          <a:xfrm>
            <a:off x="432137" y="4695374"/>
            <a:ext cx="11116228" cy="0"/>
          </a:xfrm>
          <a:prstGeom prst="line">
            <a:avLst/>
          </a:prstGeom>
          <a:ln w="12700">
            <a:solidFill>
              <a:srgbClr val="C7C7C7"/>
            </a:solidFill>
          </a:ln>
        </p:spPr>
      </p:cxnSp>
    </p:spTree>
    <p:extLst>
      <p:ext uri="{BB962C8B-B14F-4D97-AF65-F5344CB8AC3E}">
        <p14:creationId xmlns:p14="http://schemas.microsoft.com/office/powerpoint/2010/main" val="2263365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35382" y="2286000"/>
            <a:ext cx="7329054" cy="830997"/>
          </a:xfrm>
          <a:prstGeom prst="rect">
            <a:avLst/>
          </a:prstGeom>
          <a:noFill/>
        </p:spPr>
        <p:txBody>
          <a:bodyPr wrap="square" rtlCol="0">
            <a:spAutoFit/>
          </a:bodyPr>
          <a:lstStyle/>
          <a:p>
            <a:pPr algn="ctr"/>
            <a:r>
              <a:rPr lang="en-US" sz="4800" dirty="0"/>
              <a:t>Social Media Coverage</a:t>
            </a:r>
          </a:p>
        </p:txBody>
      </p:sp>
    </p:spTree>
    <p:extLst>
      <p:ext uri="{BB962C8B-B14F-4D97-AF65-F5344CB8AC3E}">
        <p14:creationId xmlns:p14="http://schemas.microsoft.com/office/powerpoint/2010/main" val="1884278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B443B-C4C7-C7DC-8F02-0429EEF89B85}"/>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1F0495C8-7787-DC5E-9119-D258B6D41354}"/>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3A2BA8FF-45BE-61DA-436F-4397D968EB33}"/>
              </a:ext>
            </a:extLst>
          </p:cNvPr>
          <p:cNvCxnSpPr/>
          <p:nvPr/>
        </p:nvCxnSpPr>
        <p:spPr>
          <a:xfrm>
            <a:off x="432137" y="847978"/>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C9A82260-8D02-AAAA-5D29-A9AC6481F2AA}"/>
              </a:ext>
            </a:extLst>
          </p:cNvPr>
          <p:cNvSpPr/>
          <p:nvPr/>
        </p:nvSpPr>
        <p:spPr>
          <a:xfrm>
            <a:off x="765623" y="632710"/>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D2D55006-EEB6-BBAF-676B-B205166DFFB5}"/>
              </a:ext>
            </a:extLst>
          </p:cNvPr>
          <p:cNvCxnSpPr/>
          <p:nvPr/>
        </p:nvCxnSpPr>
        <p:spPr>
          <a:xfrm>
            <a:off x="3767005" y="608792"/>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4AF0FB4C-13B8-8E4A-0870-297AF5F4CEE4}"/>
              </a:ext>
            </a:extLst>
          </p:cNvPr>
          <p:cNvSpPr/>
          <p:nvPr/>
        </p:nvSpPr>
        <p:spPr>
          <a:xfrm>
            <a:off x="4100491" y="632710"/>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A651510B-58DD-43DC-B0F5-4C33CAA1E041}"/>
              </a:ext>
            </a:extLst>
          </p:cNvPr>
          <p:cNvCxnSpPr/>
          <p:nvPr/>
        </p:nvCxnSpPr>
        <p:spPr>
          <a:xfrm>
            <a:off x="8769307" y="608792"/>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59912ADB-8EBE-F717-A1B1-D606EE56E9E9}"/>
              </a:ext>
            </a:extLst>
          </p:cNvPr>
          <p:cNvSpPr/>
          <p:nvPr/>
        </p:nvSpPr>
        <p:spPr>
          <a:xfrm>
            <a:off x="8880469" y="632710"/>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F42459C8-90F4-9D5E-7E55-DAB79E9A8E38}"/>
              </a:ext>
            </a:extLst>
          </p:cNvPr>
          <p:cNvCxnSpPr/>
          <p:nvPr/>
        </p:nvCxnSpPr>
        <p:spPr>
          <a:xfrm>
            <a:off x="9880929" y="608792"/>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93B04F6C-96ED-F9CD-5D29-9F8FA08D0DC3}"/>
              </a:ext>
            </a:extLst>
          </p:cNvPr>
          <p:cNvSpPr/>
          <p:nvPr/>
        </p:nvSpPr>
        <p:spPr>
          <a:xfrm>
            <a:off x="10047672" y="632710"/>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F815AEE7-0251-41E3-727E-D907378A3E43}"/>
              </a:ext>
            </a:extLst>
          </p:cNvPr>
          <p:cNvPicPr/>
          <p:nvPr/>
        </p:nvPicPr>
        <p:blipFill>
          <a:blip r:embed="rId2"/>
          <a:srcRect/>
          <a:stretch/>
        </p:blipFill>
        <p:spPr>
          <a:xfrm>
            <a:off x="546549" y="931873"/>
            <a:ext cx="438150" cy="438150"/>
          </a:xfrm>
          <a:prstGeom prst="rect">
            <a:avLst/>
          </a:prstGeom>
        </p:spPr>
      </p:pic>
      <p:pic>
        <p:nvPicPr>
          <p:cNvPr id="12" name="Picture">
            <a:extLst>
              <a:ext uri="{FF2B5EF4-FFF2-40B4-BE49-F238E27FC236}">
                <a16:creationId xmlns:a16="http://schemas.microsoft.com/office/drawing/2014/main" id="{55C4AE7B-8B26-8DDA-7DF4-2EC4279BEA5E}"/>
              </a:ext>
            </a:extLst>
          </p:cNvPr>
          <p:cNvPicPr/>
          <p:nvPr/>
        </p:nvPicPr>
        <p:blipFill>
          <a:blip r:embed="rId3"/>
          <a:srcRect/>
          <a:stretch/>
        </p:blipFill>
        <p:spPr>
          <a:xfrm>
            <a:off x="854576" y="914609"/>
            <a:ext cx="133350" cy="133350"/>
          </a:xfrm>
          <a:prstGeom prst="rect">
            <a:avLst/>
          </a:prstGeom>
        </p:spPr>
      </p:pic>
      <p:sp>
        <p:nvSpPr>
          <p:cNvPr id="13" name="Shape">
            <a:extLst>
              <a:ext uri="{FF2B5EF4-FFF2-40B4-BE49-F238E27FC236}">
                <a16:creationId xmlns:a16="http://schemas.microsoft.com/office/drawing/2014/main" id="{2FF005EC-E638-1925-4D3C-FDB88B7C4396}"/>
              </a:ext>
            </a:extLst>
          </p:cNvPr>
          <p:cNvSpPr/>
          <p:nvPr/>
        </p:nvSpPr>
        <p:spPr>
          <a:xfrm>
            <a:off x="1121343" y="96916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Someone</a:t>
            </a:r>
            <a:endParaRPr/>
          </a:p>
        </p:txBody>
      </p:sp>
      <p:sp>
        <p:nvSpPr>
          <p:cNvPr id="14" name="Shape">
            <a:extLst>
              <a:ext uri="{FF2B5EF4-FFF2-40B4-BE49-F238E27FC236}">
                <a16:creationId xmlns:a16="http://schemas.microsoft.com/office/drawing/2014/main" id="{65D381A5-08FA-B3A7-3B97-E74005AE212C}"/>
              </a:ext>
            </a:extLst>
          </p:cNvPr>
          <p:cNvSpPr/>
          <p:nvPr/>
        </p:nvSpPr>
        <p:spPr>
          <a:xfrm>
            <a:off x="1121343" y="124941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4"/>
              </a:rPr>
              <a:t>instagram.com</a:t>
            </a:r>
            <a:endParaRPr/>
          </a:p>
        </p:txBody>
      </p:sp>
      <p:sp>
        <p:nvSpPr>
          <p:cNvPr id="15" name="Shape">
            <a:extLst>
              <a:ext uri="{FF2B5EF4-FFF2-40B4-BE49-F238E27FC236}">
                <a16:creationId xmlns:a16="http://schemas.microsoft.com/office/drawing/2014/main" id="{E2843D30-80A4-00D5-162D-9FA5A2DE926A}"/>
              </a:ext>
            </a:extLst>
          </p:cNvPr>
          <p:cNvSpPr/>
          <p:nvPr/>
        </p:nvSpPr>
        <p:spPr>
          <a:xfrm>
            <a:off x="598880" y="148421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5"/>
              </a:rPr>
              <a:t>01/03/26 17:10</a:t>
            </a:r>
            <a:r>
              <a:t> | </a:t>
            </a:r>
            <a:r>
              <a:rPr lang="en" b="0" i="0"/>
              <a:t>United States</a:t>
            </a:r>
            <a:endParaRPr/>
          </a:p>
        </p:txBody>
      </p:sp>
      <p:sp>
        <p:nvSpPr>
          <p:cNvPr id="16" name="Shape">
            <a:extLst>
              <a:ext uri="{FF2B5EF4-FFF2-40B4-BE49-F238E27FC236}">
                <a16:creationId xmlns:a16="http://schemas.microsoft.com/office/drawing/2014/main" id="{E070A74E-AC2D-CAF5-17F5-A793D66329F8}"/>
              </a:ext>
            </a:extLst>
          </p:cNvPr>
          <p:cNvSpPr/>
          <p:nvPr/>
        </p:nvSpPr>
        <p:spPr>
          <a:xfrm>
            <a:off x="3933748" y="115473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We’re still OPEN and bouncing as usual! 🎉🔥 Join us at **Air Maniax** during our regular timings for non-stop fun, jumps, and smiles. See you in the arena! 💥🤸‍♂️ #airmaniaxdxb #airmaniaxabudhabi #marinamall...</a:t>
            </a:r>
            <a:endParaRPr/>
          </a:p>
        </p:txBody>
      </p:sp>
      <p:pic>
        <p:nvPicPr>
          <p:cNvPr id="17" name="Picture">
            <a:hlinkClick r:id="rId6"/>
            <a:extLst>
              <a:ext uri="{FF2B5EF4-FFF2-40B4-BE49-F238E27FC236}">
                <a16:creationId xmlns:a16="http://schemas.microsoft.com/office/drawing/2014/main" id="{9F5BCB26-7B62-FC8B-5ED0-9DC22B57D60B}"/>
              </a:ext>
            </a:extLst>
          </p:cNvPr>
          <p:cNvPicPr/>
          <p:nvPr/>
        </p:nvPicPr>
        <p:blipFill>
          <a:blip r:embed="rId7"/>
          <a:srcRect/>
          <a:stretch/>
        </p:blipFill>
        <p:spPr>
          <a:xfrm>
            <a:off x="7545065" y="911908"/>
            <a:ext cx="781050" cy="781050"/>
          </a:xfrm>
          <a:prstGeom prst="rect">
            <a:avLst/>
          </a:prstGeom>
        </p:spPr>
      </p:pic>
      <p:sp>
        <p:nvSpPr>
          <p:cNvPr id="18" name="Shape">
            <a:extLst>
              <a:ext uri="{FF2B5EF4-FFF2-40B4-BE49-F238E27FC236}">
                <a16:creationId xmlns:a16="http://schemas.microsoft.com/office/drawing/2014/main" id="{A51BBB3E-8206-64C9-827F-2A9D1C569685}"/>
              </a:ext>
            </a:extLst>
          </p:cNvPr>
          <p:cNvSpPr/>
          <p:nvPr/>
        </p:nvSpPr>
        <p:spPr>
          <a:xfrm>
            <a:off x="8769307" y="1120650"/>
            <a:ext cx="1111622" cy="363564"/>
          </a:xfrm>
          <a:prstGeom prst="rect">
            <a:avLst/>
          </a:prstGeom>
        </p:spPr>
        <p:txBody>
          <a:bodyPr wrap="square" lIns="0" tIns="0" rIns="0">
            <a:noAutofit/>
          </a:bodyPr>
          <a:lstStyle/>
          <a:p>
            <a:pPr algn="ctr" fontAlgn="t">
              <a:defRPr sz="1200" b="1" i="0">
                <a:solidFill>
                  <a:srgbClr val="808080"/>
                </a:solidFill>
                <a:latin typeface="Arial"/>
              </a:defRPr>
            </a:pPr>
            <a:r>
              <a:t>4</a:t>
            </a:r>
          </a:p>
        </p:txBody>
      </p:sp>
      <p:sp>
        <p:nvSpPr>
          <p:cNvPr id="19" name="Shape">
            <a:extLst>
              <a:ext uri="{FF2B5EF4-FFF2-40B4-BE49-F238E27FC236}">
                <a16:creationId xmlns:a16="http://schemas.microsoft.com/office/drawing/2014/main" id="{A63AD475-EBC5-D1BA-31F7-BC9F2AAEBE29}"/>
              </a:ext>
            </a:extLst>
          </p:cNvPr>
          <p:cNvSpPr/>
          <p:nvPr/>
        </p:nvSpPr>
        <p:spPr>
          <a:xfrm>
            <a:off x="8769307" y="1120650"/>
            <a:ext cx="1111622" cy="363564"/>
          </a:xfrm>
          <a:prstGeom prst="rect">
            <a:avLst/>
          </a:prstGeom>
        </p:spPr>
        <p:txBody>
          <a:bodyPr wrap="square" lIns="0" tIns="0" rIns="0">
            <a:noAutofit/>
          </a:bodyPr>
          <a:lstStyle/>
          <a:p>
            <a:pPr algn="ctr" fontAlgn="t">
              <a:defRPr sz="1200" b="1" i="0">
                <a:solidFill>
                  <a:srgbClr val="808080"/>
                </a:solidFill>
                <a:latin typeface="Arial"/>
              </a:defRPr>
            </a:pPr>
            <a:r>
              <a:t>4</a:t>
            </a:r>
          </a:p>
        </p:txBody>
      </p:sp>
      <p:sp>
        <p:nvSpPr>
          <p:cNvPr id="20" name="Shape">
            <a:extLst>
              <a:ext uri="{FF2B5EF4-FFF2-40B4-BE49-F238E27FC236}">
                <a16:creationId xmlns:a16="http://schemas.microsoft.com/office/drawing/2014/main" id="{F59027A8-C6FF-A7C6-8381-129184E8AAD2}"/>
              </a:ext>
            </a:extLst>
          </p:cNvPr>
          <p:cNvSpPr/>
          <p:nvPr/>
        </p:nvSpPr>
        <p:spPr>
          <a:xfrm>
            <a:off x="10047672" y="86312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21" name="Shape">
            <a:extLst>
              <a:ext uri="{FF2B5EF4-FFF2-40B4-BE49-F238E27FC236}">
                <a16:creationId xmlns:a16="http://schemas.microsoft.com/office/drawing/2014/main" id="{DBE1F8D1-19E9-93B4-3556-DA336DA0FCFC}"/>
              </a:ext>
            </a:extLst>
          </p:cNvPr>
          <p:cNvSpPr/>
          <p:nvPr/>
        </p:nvSpPr>
        <p:spPr>
          <a:xfrm>
            <a:off x="10047672" y="101461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22" name="Shape">
            <a:extLst>
              <a:ext uri="{FF2B5EF4-FFF2-40B4-BE49-F238E27FC236}">
                <a16:creationId xmlns:a16="http://schemas.microsoft.com/office/drawing/2014/main" id="{C3F14B7D-6A94-8E77-74EB-5482D5F57383}"/>
              </a:ext>
            </a:extLst>
          </p:cNvPr>
          <p:cNvSpPr/>
          <p:nvPr/>
        </p:nvSpPr>
        <p:spPr>
          <a:xfrm>
            <a:off x="10047672" y="101461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23" name="Shape">
            <a:extLst>
              <a:ext uri="{FF2B5EF4-FFF2-40B4-BE49-F238E27FC236}">
                <a16:creationId xmlns:a16="http://schemas.microsoft.com/office/drawing/2014/main" id="{AEA9EB24-DD73-58A3-5365-0D061501AA32}"/>
              </a:ext>
            </a:extLst>
          </p:cNvPr>
          <p:cNvSpPr/>
          <p:nvPr/>
        </p:nvSpPr>
        <p:spPr>
          <a:xfrm>
            <a:off x="10047672" y="116609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a:t>
            </a:r>
          </a:p>
        </p:txBody>
      </p:sp>
      <p:sp>
        <p:nvSpPr>
          <p:cNvPr id="24" name="Shape">
            <a:extLst>
              <a:ext uri="{FF2B5EF4-FFF2-40B4-BE49-F238E27FC236}">
                <a16:creationId xmlns:a16="http://schemas.microsoft.com/office/drawing/2014/main" id="{2124DC58-6F94-7F2F-F303-998B75F55AB3}"/>
              </a:ext>
            </a:extLst>
          </p:cNvPr>
          <p:cNvSpPr/>
          <p:nvPr/>
        </p:nvSpPr>
        <p:spPr>
          <a:xfrm>
            <a:off x="10047672" y="116609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a:t>
            </a:r>
          </a:p>
        </p:txBody>
      </p:sp>
      <p:cxnSp>
        <p:nvCxnSpPr>
          <p:cNvPr id="25" name="Line 200: (537882, 2680913) - (11654110, 2680913)">
            <a:extLst>
              <a:ext uri="{FF2B5EF4-FFF2-40B4-BE49-F238E27FC236}">
                <a16:creationId xmlns:a16="http://schemas.microsoft.com/office/drawing/2014/main" id="{2CAE3023-7E3D-A6E2-53B8-E2588C04270C}"/>
              </a:ext>
            </a:extLst>
          </p:cNvPr>
          <p:cNvCxnSpPr/>
          <p:nvPr/>
        </p:nvCxnSpPr>
        <p:spPr>
          <a:xfrm>
            <a:off x="432137" y="1756888"/>
            <a:ext cx="11116228" cy="0"/>
          </a:xfrm>
          <a:prstGeom prst="line">
            <a:avLst/>
          </a:prstGeom>
          <a:ln w="12700">
            <a:solidFill>
              <a:srgbClr val="C7C7C7"/>
            </a:solidFill>
          </a:ln>
        </p:spPr>
      </p:cxnSp>
      <p:pic>
        <p:nvPicPr>
          <p:cNvPr id="26" name="Picture">
            <a:extLst>
              <a:ext uri="{FF2B5EF4-FFF2-40B4-BE49-F238E27FC236}">
                <a16:creationId xmlns:a16="http://schemas.microsoft.com/office/drawing/2014/main" id="{E4372096-F75A-867E-241A-3BE659F2957A}"/>
              </a:ext>
            </a:extLst>
          </p:cNvPr>
          <p:cNvPicPr/>
          <p:nvPr/>
        </p:nvPicPr>
        <p:blipFill>
          <a:blip r:embed="rId2"/>
          <a:srcRect/>
          <a:stretch/>
        </p:blipFill>
        <p:spPr>
          <a:xfrm>
            <a:off x="546549" y="1840783"/>
            <a:ext cx="438150" cy="438150"/>
          </a:xfrm>
          <a:prstGeom prst="rect">
            <a:avLst/>
          </a:prstGeom>
        </p:spPr>
      </p:pic>
      <p:pic>
        <p:nvPicPr>
          <p:cNvPr id="27" name="Picture">
            <a:extLst>
              <a:ext uri="{FF2B5EF4-FFF2-40B4-BE49-F238E27FC236}">
                <a16:creationId xmlns:a16="http://schemas.microsoft.com/office/drawing/2014/main" id="{13040713-2F5F-92BF-8445-1119640DADD5}"/>
              </a:ext>
            </a:extLst>
          </p:cNvPr>
          <p:cNvPicPr/>
          <p:nvPr/>
        </p:nvPicPr>
        <p:blipFill>
          <a:blip r:embed="rId3"/>
          <a:srcRect/>
          <a:stretch/>
        </p:blipFill>
        <p:spPr>
          <a:xfrm>
            <a:off x="854576" y="1823519"/>
            <a:ext cx="133350" cy="133350"/>
          </a:xfrm>
          <a:prstGeom prst="rect">
            <a:avLst/>
          </a:prstGeom>
        </p:spPr>
      </p:pic>
      <p:sp>
        <p:nvSpPr>
          <p:cNvPr id="28" name="Shape">
            <a:extLst>
              <a:ext uri="{FF2B5EF4-FFF2-40B4-BE49-F238E27FC236}">
                <a16:creationId xmlns:a16="http://schemas.microsoft.com/office/drawing/2014/main" id="{F1BC1DA9-D357-21D0-FBF4-DE97EAF734E3}"/>
              </a:ext>
            </a:extLst>
          </p:cNvPr>
          <p:cNvSpPr/>
          <p:nvPr/>
        </p:nvSpPr>
        <p:spPr>
          <a:xfrm>
            <a:off x="1121343" y="187807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t>Someone</a:t>
            </a:r>
            <a:endParaRPr/>
          </a:p>
        </p:txBody>
      </p:sp>
      <p:sp>
        <p:nvSpPr>
          <p:cNvPr id="29" name="Shape">
            <a:extLst>
              <a:ext uri="{FF2B5EF4-FFF2-40B4-BE49-F238E27FC236}">
                <a16:creationId xmlns:a16="http://schemas.microsoft.com/office/drawing/2014/main" id="{14D24E00-261D-6289-87DF-6CAFD9CB404B}"/>
              </a:ext>
            </a:extLst>
          </p:cNvPr>
          <p:cNvSpPr/>
          <p:nvPr/>
        </p:nvSpPr>
        <p:spPr>
          <a:xfrm>
            <a:off x="1121343" y="215832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4"/>
              </a:rPr>
              <a:t>instagram.com</a:t>
            </a:r>
            <a:endParaRPr/>
          </a:p>
        </p:txBody>
      </p:sp>
      <p:sp>
        <p:nvSpPr>
          <p:cNvPr id="30" name="Shape">
            <a:extLst>
              <a:ext uri="{FF2B5EF4-FFF2-40B4-BE49-F238E27FC236}">
                <a16:creationId xmlns:a16="http://schemas.microsoft.com/office/drawing/2014/main" id="{9AAC9599-158E-B575-C0CE-4A78168CFCD9}"/>
              </a:ext>
            </a:extLst>
          </p:cNvPr>
          <p:cNvSpPr/>
          <p:nvPr/>
        </p:nvSpPr>
        <p:spPr>
          <a:xfrm>
            <a:off x="598880" y="239312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8"/>
              </a:rPr>
              <a:t>09/03/26 09:30</a:t>
            </a:r>
            <a:r>
              <a:t> | </a:t>
            </a:r>
            <a:r>
              <a:rPr lang="en" b="0" i="0"/>
              <a:t>United Arab Emirates</a:t>
            </a:r>
            <a:endParaRPr/>
          </a:p>
        </p:txBody>
      </p:sp>
      <p:sp>
        <p:nvSpPr>
          <p:cNvPr id="31" name="Shape">
            <a:extLst>
              <a:ext uri="{FF2B5EF4-FFF2-40B4-BE49-F238E27FC236}">
                <a16:creationId xmlns:a16="http://schemas.microsoft.com/office/drawing/2014/main" id="{6B186CA2-03B8-6FD1-3C09-4A6A5FE066DC}"/>
              </a:ext>
            </a:extLst>
          </p:cNvPr>
          <p:cNvSpPr/>
          <p:nvPr/>
        </p:nvSpPr>
        <p:spPr>
          <a:xfrm>
            <a:off x="3933748" y="206364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 IT'S HERE! IT'S TODAY! Spring Camp at Street Maniax kicks off NOW! 🎯 📅 Camp Dates: 9–20 March ⏰ Time: 8:30 AM – 2:00 ... #AbuDhabiKids #MarinaMallAD #YasMall #ArabianCenter #DubaiKidsActivities ...</a:t>
            </a:r>
            <a:endParaRPr/>
          </a:p>
        </p:txBody>
      </p:sp>
      <p:pic>
        <p:nvPicPr>
          <p:cNvPr id="32" name="Picture">
            <a:hlinkClick r:id="rId9"/>
            <a:extLst>
              <a:ext uri="{FF2B5EF4-FFF2-40B4-BE49-F238E27FC236}">
                <a16:creationId xmlns:a16="http://schemas.microsoft.com/office/drawing/2014/main" id="{2878899D-A4F9-C032-09A1-9D45B5B0B9A2}"/>
              </a:ext>
            </a:extLst>
          </p:cNvPr>
          <p:cNvPicPr/>
          <p:nvPr/>
        </p:nvPicPr>
        <p:blipFill>
          <a:blip r:embed="rId7"/>
          <a:srcRect/>
          <a:stretch/>
        </p:blipFill>
        <p:spPr>
          <a:xfrm>
            <a:off x="7545065" y="1820818"/>
            <a:ext cx="781050" cy="781050"/>
          </a:xfrm>
          <a:prstGeom prst="rect">
            <a:avLst/>
          </a:prstGeom>
        </p:spPr>
      </p:pic>
      <p:sp>
        <p:nvSpPr>
          <p:cNvPr id="33" name="Shape">
            <a:extLst>
              <a:ext uri="{FF2B5EF4-FFF2-40B4-BE49-F238E27FC236}">
                <a16:creationId xmlns:a16="http://schemas.microsoft.com/office/drawing/2014/main" id="{B077A057-7BAE-156F-7B66-E6D412AD5D46}"/>
              </a:ext>
            </a:extLst>
          </p:cNvPr>
          <p:cNvSpPr/>
          <p:nvPr/>
        </p:nvSpPr>
        <p:spPr>
          <a:xfrm>
            <a:off x="8769307" y="202956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34" name="Shape">
            <a:extLst>
              <a:ext uri="{FF2B5EF4-FFF2-40B4-BE49-F238E27FC236}">
                <a16:creationId xmlns:a16="http://schemas.microsoft.com/office/drawing/2014/main" id="{F5F84A29-AA3F-1C9F-FF50-DE369D2F424D}"/>
              </a:ext>
            </a:extLst>
          </p:cNvPr>
          <p:cNvSpPr/>
          <p:nvPr/>
        </p:nvSpPr>
        <p:spPr>
          <a:xfrm>
            <a:off x="8769307" y="202956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35" name="Shape">
            <a:extLst>
              <a:ext uri="{FF2B5EF4-FFF2-40B4-BE49-F238E27FC236}">
                <a16:creationId xmlns:a16="http://schemas.microsoft.com/office/drawing/2014/main" id="{1760696E-6A41-26BC-84EE-FD2BFC4726CC}"/>
              </a:ext>
            </a:extLst>
          </p:cNvPr>
          <p:cNvSpPr/>
          <p:nvPr/>
        </p:nvSpPr>
        <p:spPr>
          <a:xfrm>
            <a:off x="10047672" y="177203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36" name="Shape">
            <a:extLst>
              <a:ext uri="{FF2B5EF4-FFF2-40B4-BE49-F238E27FC236}">
                <a16:creationId xmlns:a16="http://schemas.microsoft.com/office/drawing/2014/main" id="{7A7F0A56-40F7-6213-E586-3FC79EFBF629}"/>
              </a:ext>
            </a:extLst>
          </p:cNvPr>
          <p:cNvSpPr/>
          <p:nvPr/>
        </p:nvSpPr>
        <p:spPr>
          <a:xfrm>
            <a:off x="10047672" y="192352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37" name="Shape">
            <a:extLst>
              <a:ext uri="{FF2B5EF4-FFF2-40B4-BE49-F238E27FC236}">
                <a16:creationId xmlns:a16="http://schemas.microsoft.com/office/drawing/2014/main" id="{DD759CED-0034-BD5C-80CA-93C1A27C92CB}"/>
              </a:ext>
            </a:extLst>
          </p:cNvPr>
          <p:cNvSpPr/>
          <p:nvPr/>
        </p:nvSpPr>
        <p:spPr>
          <a:xfrm>
            <a:off x="10047672" y="192352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38" name="Shape">
            <a:extLst>
              <a:ext uri="{FF2B5EF4-FFF2-40B4-BE49-F238E27FC236}">
                <a16:creationId xmlns:a16="http://schemas.microsoft.com/office/drawing/2014/main" id="{B876CD0F-0EFD-3C4E-6B18-A0C5C6875811}"/>
              </a:ext>
            </a:extLst>
          </p:cNvPr>
          <p:cNvSpPr/>
          <p:nvPr/>
        </p:nvSpPr>
        <p:spPr>
          <a:xfrm>
            <a:off x="10047672" y="207500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1</a:t>
            </a:r>
          </a:p>
        </p:txBody>
      </p:sp>
      <p:sp>
        <p:nvSpPr>
          <p:cNvPr id="39" name="Shape">
            <a:extLst>
              <a:ext uri="{FF2B5EF4-FFF2-40B4-BE49-F238E27FC236}">
                <a16:creationId xmlns:a16="http://schemas.microsoft.com/office/drawing/2014/main" id="{B97B32D0-59B8-365D-CC8B-FFEDDC183A2B}"/>
              </a:ext>
            </a:extLst>
          </p:cNvPr>
          <p:cNvSpPr/>
          <p:nvPr/>
        </p:nvSpPr>
        <p:spPr>
          <a:xfrm>
            <a:off x="10047672" y="207500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1</a:t>
            </a:r>
          </a:p>
        </p:txBody>
      </p:sp>
      <p:cxnSp>
        <p:nvCxnSpPr>
          <p:cNvPr id="40" name="Line 200: (537882, 3589823) - (11654110, 3589823)">
            <a:extLst>
              <a:ext uri="{FF2B5EF4-FFF2-40B4-BE49-F238E27FC236}">
                <a16:creationId xmlns:a16="http://schemas.microsoft.com/office/drawing/2014/main" id="{D9C61A17-457C-CF5C-0A7E-03D95C83CF68}"/>
              </a:ext>
            </a:extLst>
          </p:cNvPr>
          <p:cNvCxnSpPr/>
          <p:nvPr/>
        </p:nvCxnSpPr>
        <p:spPr>
          <a:xfrm>
            <a:off x="432137" y="2665798"/>
            <a:ext cx="11116228" cy="0"/>
          </a:xfrm>
          <a:prstGeom prst="line">
            <a:avLst/>
          </a:prstGeom>
          <a:ln w="12700">
            <a:solidFill>
              <a:srgbClr val="C7C7C7"/>
            </a:solidFill>
          </a:ln>
        </p:spPr>
      </p:cxnSp>
      <p:pic>
        <p:nvPicPr>
          <p:cNvPr id="41" name="Picture">
            <a:extLst>
              <a:ext uri="{FF2B5EF4-FFF2-40B4-BE49-F238E27FC236}">
                <a16:creationId xmlns:a16="http://schemas.microsoft.com/office/drawing/2014/main" id="{9A3FE325-C370-F5ED-05F8-F9FACC92AA27}"/>
              </a:ext>
            </a:extLst>
          </p:cNvPr>
          <p:cNvPicPr/>
          <p:nvPr/>
        </p:nvPicPr>
        <p:blipFill>
          <a:blip r:embed="rId10"/>
          <a:srcRect/>
          <a:stretch/>
        </p:blipFill>
        <p:spPr>
          <a:xfrm>
            <a:off x="546549" y="2749693"/>
            <a:ext cx="438150" cy="438150"/>
          </a:xfrm>
          <a:prstGeom prst="rect">
            <a:avLst/>
          </a:prstGeom>
        </p:spPr>
      </p:pic>
      <p:pic>
        <p:nvPicPr>
          <p:cNvPr id="42" name="Picture">
            <a:extLst>
              <a:ext uri="{FF2B5EF4-FFF2-40B4-BE49-F238E27FC236}">
                <a16:creationId xmlns:a16="http://schemas.microsoft.com/office/drawing/2014/main" id="{FFD210B1-C84A-D35A-5684-C20D332BFFF2}"/>
              </a:ext>
            </a:extLst>
          </p:cNvPr>
          <p:cNvPicPr/>
          <p:nvPr/>
        </p:nvPicPr>
        <p:blipFill>
          <a:blip r:embed="rId3"/>
          <a:srcRect/>
          <a:stretch/>
        </p:blipFill>
        <p:spPr>
          <a:xfrm>
            <a:off x="854576" y="2732429"/>
            <a:ext cx="133350" cy="133350"/>
          </a:xfrm>
          <a:prstGeom prst="rect">
            <a:avLst/>
          </a:prstGeom>
        </p:spPr>
      </p:pic>
      <p:sp>
        <p:nvSpPr>
          <p:cNvPr id="43" name="Shape">
            <a:extLst>
              <a:ext uri="{FF2B5EF4-FFF2-40B4-BE49-F238E27FC236}">
                <a16:creationId xmlns:a16="http://schemas.microsoft.com/office/drawing/2014/main" id="{E1AC4198-F680-57D0-F1C5-CA852781B204}"/>
              </a:ext>
            </a:extLst>
          </p:cNvPr>
          <p:cNvSpPr/>
          <p:nvPr/>
        </p:nvSpPr>
        <p:spPr>
          <a:xfrm>
            <a:off x="1121343" y="2786986"/>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hlinkClick r:id="rId11"/>
              </a:rPr>
              <a:t>arabiancenter</a:t>
            </a:r>
            <a:endParaRPr/>
          </a:p>
        </p:txBody>
      </p:sp>
      <p:sp>
        <p:nvSpPr>
          <p:cNvPr id="44" name="Shape">
            <a:extLst>
              <a:ext uri="{FF2B5EF4-FFF2-40B4-BE49-F238E27FC236}">
                <a16:creationId xmlns:a16="http://schemas.microsoft.com/office/drawing/2014/main" id="{761A9F6A-B273-37D3-68FC-18555054C0C4}"/>
              </a:ext>
            </a:extLst>
          </p:cNvPr>
          <p:cNvSpPr/>
          <p:nvPr/>
        </p:nvSpPr>
        <p:spPr>
          <a:xfrm>
            <a:off x="1121343" y="306723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4"/>
              </a:rPr>
              <a:t>instagram.com</a:t>
            </a:r>
            <a:endParaRPr/>
          </a:p>
        </p:txBody>
      </p:sp>
      <p:sp>
        <p:nvSpPr>
          <p:cNvPr id="45" name="Shape">
            <a:extLst>
              <a:ext uri="{FF2B5EF4-FFF2-40B4-BE49-F238E27FC236}">
                <a16:creationId xmlns:a16="http://schemas.microsoft.com/office/drawing/2014/main" id="{8D062BAC-F898-44F4-CBC9-D9E3BC574AAD}"/>
              </a:ext>
            </a:extLst>
          </p:cNvPr>
          <p:cNvSpPr/>
          <p:nvPr/>
        </p:nvSpPr>
        <p:spPr>
          <a:xfrm>
            <a:off x="598880" y="3302034"/>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2"/>
              </a:rPr>
              <a:t>09/03/26 13:15</a:t>
            </a:r>
            <a:r>
              <a:t> | </a:t>
            </a:r>
            <a:r>
              <a:rPr lang="ar" b="0" i="0"/>
              <a:t>United Arab Emirates</a:t>
            </a:r>
            <a:endParaRPr/>
          </a:p>
        </p:txBody>
      </p:sp>
      <p:sp>
        <p:nvSpPr>
          <p:cNvPr id="46" name="Shape">
            <a:extLst>
              <a:ext uri="{FF2B5EF4-FFF2-40B4-BE49-F238E27FC236}">
                <a16:creationId xmlns:a16="http://schemas.microsoft.com/office/drawing/2014/main" id="{0EE02542-4662-1B5F-F786-A9A6D5072804}"/>
              </a:ext>
            </a:extLst>
          </p:cNvPr>
          <p:cNvSpPr/>
          <p:nvPr/>
        </p:nvSpPr>
        <p:spPr>
          <a:xfrm>
            <a:off x="3933748" y="2972554"/>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Shop, scan, and win your share of AED 200,000 in Eidiya. Spend AED 200, scan the in-store QR code, and enter the raffle for ... 📍 Shop at Arabian Center and scan to participate. تسوّق، امسح الكود.. وعيديتك علينا في ...</a:t>
            </a:r>
            <a:endParaRPr/>
          </a:p>
        </p:txBody>
      </p:sp>
      <p:pic>
        <p:nvPicPr>
          <p:cNvPr id="47" name="Picture">
            <a:hlinkClick r:id="rId13"/>
            <a:extLst>
              <a:ext uri="{FF2B5EF4-FFF2-40B4-BE49-F238E27FC236}">
                <a16:creationId xmlns:a16="http://schemas.microsoft.com/office/drawing/2014/main" id="{2D62552E-72B4-EE95-47CB-6419DB4A3602}"/>
              </a:ext>
            </a:extLst>
          </p:cNvPr>
          <p:cNvPicPr/>
          <p:nvPr/>
        </p:nvPicPr>
        <p:blipFill>
          <a:blip r:embed="rId7"/>
          <a:srcRect/>
          <a:stretch/>
        </p:blipFill>
        <p:spPr>
          <a:xfrm>
            <a:off x="7545065" y="2729728"/>
            <a:ext cx="781050" cy="781050"/>
          </a:xfrm>
          <a:prstGeom prst="rect">
            <a:avLst/>
          </a:prstGeom>
        </p:spPr>
      </p:pic>
      <p:sp>
        <p:nvSpPr>
          <p:cNvPr id="48" name="Shape">
            <a:extLst>
              <a:ext uri="{FF2B5EF4-FFF2-40B4-BE49-F238E27FC236}">
                <a16:creationId xmlns:a16="http://schemas.microsoft.com/office/drawing/2014/main" id="{2FE38D17-E60C-2608-7C43-E2D1E454D280}"/>
              </a:ext>
            </a:extLst>
          </p:cNvPr>
          <p:cNvSpPr/>
          <p:nvPr/>
        </p:nvSpPr>
        <p:spPr>
          <a:xfrm>
            <a:off x="8769307" y="2938470"/>
            <a:ext cx="1111622" cy="363564"/>
          </a:xfrm>
          <a:prstGeom prst="rect">
            <a:avLst/>
          </a:prstGeom>
        </p:spPr>
        <p:txBody>
          <a:bodyPr wrap="square" lIns="0" tIns="0" rIns="0">
            <a:noAutofit/>
          </a:bodyPr>
          <a:lstStyle/>
          <a:p>
            <a:pPr algn="ctr" fontAlgn="t">
              <a:defRPr sz="1200" b="1" i="0">
                <a:solidFill>
                  <a:srgbClr val="808080"/>
                </a:solidFill>
                <a:latin typeface="Arial"/>
              </a:defRPr>
            </a:pPr>
            <a:r>
              <a:t>22</a:t>
            </a:r>
          </a:p>
        </p:txBody>
      </p:sp>
      <p:sp>
        <p:nvSpPr>
          <p:cNvPr id="49" name="Shape">
            <a:extLst>
              <a:ext uri="{FF2B5EF4-FFF2-40B4-BE49-F238E27FC236}">
                <a16:creationId xmlns:a16="http://schemas.microsoft.com/office/drawing/2014/main" id="{C25E9503-CEA2-77F9-E82F-9159AEAE92F5}"/>
              </a:ext>
            </a:extLst>
          </p:cNvPr>
          <p:cNvSpPr/>
          <p:nvPr/>
        </p:nvSpPr>
        <p:spPr>
          <a:xfrm>
            <a:off x="8769307" y="2938470"/>
            <a:ext cx="1111622" cy="363564"/>
          </a:xfrm>
          <a:prstGeom prst="rect">
            <a:avLst/>
          </a:prstGeom>
        </p:spPr>
        <p:txBody>
          <a:bodyPr wrap="square" lIns="0" tIns="0" rIns="0">
            <a:noAutofit/>
          </a:bodyPr>
          <a:lstStyle/>
          <a:p>
            <a:pPr algn="ctr" fontAlgn="t">
              <a:defRPr sz="1200" b="1" i="0">
                <a:solidFill>
                  <a:srgbClr val="808080"/>
                </a:solidFill>
                <a:latin typeface="Arial"/>
              </a:defRPr>
            </a:pPr>
            <a:r>
              <a:t>22</a:t>
            </a:r>
          </a:p>
        </p:txBody>
      </p:sp>
      <p:sp>
        <p:nvSpPr>
          <p:cNvPr id="50" name="Shape">
            <a:extLst>
              <a:ext uri="{FF2B5EF4-FFF2-40B4-BE49-F238E27FC236}">
                <a16:creationId xmlns:a16="http://schemas.microsoft.com/office/drawing/2014/main" id="{CC53EE4C-1C7E-2AA1-3629-F2955FFE7108}"/>
              </a:ext>
            </a:extLst>
          </p:cNvPr>
          <p:cNvSpPr/>
          <p:nvPr/>
        </p:nvSpPr>
        <p:spPr>
          <a:xfrm>
            <a:off x="10047672" y="268094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51" name="Shape">
            <a:extLst>
              <a:ext uri="{FF2B5EF4-FFF2-40B4-BE49-F238E27FC236}">
                <a16:creationId xmlns:a16="http://schemas.microsoft.com/office/drawing/2014/main" id="{4A4B0992-AA75-54A0-800B-DAADB85253EA}"/>
              </a:ext>
            </a:extLst>
          </p:cNvPr>
          <p:cNvSpPr/>
          <p:nvPr/>
        </p:nvSpPr>
        <p:spPr>
          <a:xfrm>
            <a:off x="10047672" y="283243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33.2K</a:t>
            </a:r>
          </a:p>
        </p:txBody>
      </p:sp>
      <p:sp>
        <p:nvSpPr>
          <p:cNvPr id="52" name="Shape">
            <a:extLst>
              <a:ext uri="{FF2B5EF4-FFF2-40B4-BE49-F238E27FC236}">
                <a16:creationId xmlns:a16="http://schemas.microsoft.com/office/drawing/2014/main" id="{9EA574B8-4844-FBA9-B280-230E8CD09F24}"/>
              </a:ext>
            </a:extLst>
          </p:cNvPr>
          <p:cNvSpPr/>
          <p:nvPr/>
        </p:nvSpPr>
        <p:spPr>
          <a:xfrm>
            <a:off x="10047672" y="283243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33.2K</a:t>
            </a:r>
          </a:p>
        </p:txBody>
      </p:sp>
      <p:sp>
        <p:nvSpPr>
          <p:cNvPr id="53" name="Shape">
            <a:extLst>
              <a:ext uri="{FF2B5EF4-FFF2-40B4-BE49-F238E27FC236}">
                <a16:creationId xmlns:a16="http://schemas.microsoft.com/office/drawing/2014/main" id="{F04A3B71-83F1-F30B-EC9C-B8DDBC4599E3}"/>
              </a:ext>
            </a:extLst>
          </p:cNvPr>
          <p:cNvSpPr/>
          <p:nvPr/>
        </p:nvSpPr>
        <p:spPr>
          <a:xfrm>
            <a:off x="10047672" y="298391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18</a:t>
            </a:r>
          </a:p>
        </p:txBody>
      </p:sp>
      <p:sp>
        <p:nvSpPr>
          <p:cNvPr id="54" name="Shape">
            <a:extLst>
              <a:ext uri="{FF2B5EF4-FFF2-40B4-BE49-F238E27FC236}">
                <a16:creationId xmlns:a16="http://schemas.microsoft.com/office/drawing/2014/main" id="{EA9EACE0-F11A-A838-4B26-5EAED3E92CEF}"/>
              </a:ext>
            </a:extLst>
          </p:cNvPr>
          <p:cNvSpPr/>
          <p:nvPr/>
        </p:nvSpPr>
        <p:spPr>
          <a:xfrm>
            <a:off x="10047672" y="298391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18</a:t>
            </a:r>
          </a:p>
        </p:txBody>
      </p:sp>
      <p:cxnSp>
        <p:nvCxnSpPr>
          <p:cNvPr id="55" name="Line 200: (537882, 4498733) - (11654110, 4498733)">
            <a:extLst>
              <a:ext uri="{FF2B5EF4-FFF2-40B4-BE49-F238E27FC236}">
                <a16:creationId xmlns:a16="http://schemas.microsoft.com/office/drawing/2014/main" id="{09903857-7298-24CC-3623-646123EBFD58}"/>
              </a:ext>
            </a:extLst>
          </p:cNvPr>
          <p:cNvCxnSpPr/>
          <p:nvPr/>
        </p:nvCxnSpPr>
        <p:spPr>
          <a:xfrm>
            <a:off x="432137" y="3574708"/>
            <a:ext cx="11116228" cy="0"/>
          </a:xfrm>
          <a:prstGeom prst="line">
            <a:avLst/>
          </a:prstGeom>
          <a:ln w="12700">
            <a:solidFill>
              <a:srgbClr val="C7C7C7"/>
            </a:solidFill>
          </a:ln>
        </p:spPr>
      </p:cxnSp>
      <p:pic>
        <p:nvPicPr>
          <p:cNvPr id="56" name="Picture">
            <a:extLst>
              <a:ext uri="{FF2B5EF4-FFF2-40B4-BE49-F238E27FC236}">
                <a16:creationId xmlns:a16="http://schemas.microsoft.com/office/drawing/2014/main" id="{4BADF629-E95A-54C2-5C24-E07D6C33E6D3}"/>
              </a:ext>
            </a:extLst>
          </p:cNvPr>
          <p:cNvPicPr/>
          <p:nvPr/>
        </p:nvPicPr>
        <p:blipFill>
          <a:blip r:embed="rId10"/>
          <a:srcRect/>
          <a:stretch/>
        </p:blipFill>
        <p:spPr>
          <a:xfrm>
            <a:off x="546549" y="3658603"/>
            <a:ext cx="438150" cy="438150"/>
          </a:xfrm>
          <a:prstGeom prst="rect">
            <a:avLst/>
          </a:prstGeom>
        </p:spPr>
      </p:pic>
      <p:pic>
        <p:nvPicPr>
          <p:cNvPr id="57" name="Picture">
            <a:extLst>
              <a:ext uri="{FF2B5EF4-FFF2-40B4-BE49-F238E27FC236}">
                <a16:creationId xmlns:a16="http://schemas.microsoft.com/office/drawing/2014/main" id="{78427562-8286-FDFC-4365-92B2864E4C24}"/>
              </a:ext>
            </a:extLst>
          </p:cNvPr>
          <p:cNvPicPr/>
          <p:nvPr/>
        </p:nvPicPr>
        <p:blipFill>
          <a:blip r:embed="rId3"/>
          <a:srcRect/>
          <a:stretch/>
        </p:blipFill>
        <p:spPr>
          <a:xfrm>
            <a:off x="854576" y="3641339"/>
            <a:ext cx="133350" cy="133350"/>
          </a:xfrm>
          <a:prstGeom prst="rect">
            <a:avLst/>
          </a:prstGeom>
        </p:spPr>
      </p:pic>
      <p:sp>
        <p:nvSpPr>
          <p:cNvPr id="58" name="Shape">
            <a:extLst>
              <a:ext uri="{FF2B5EF4-FFF2-40B4-BE49-F238E27FC236}">
                <a16:creationId xmlns:a16="http://schemas.microsoft.com/office/drawing/2014/main" id="{1D6FF1A3-31D4-8AEB-FBDB-3E2328F08CC9}"/>
              </a:ext>
            </a:extLst>
          </p:cNvPr>
          <p:cNvSpPr/>
          <p:nvPr/>
        </p:nvSpPr>
        <p:spPr>
          <a:xfrm>
            <a:off x="1121343" y="369589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1"/>
              </a:rPr>
              <a:t>arabiancenter</a:t>
            </a:r>
            <a:endParaRPr/>
          </a:p>
        </p:txBody>
      </p:sp>
      <p:sp>
        <p:nvSpPr>
          <p:cNvPr id="59" name="Shape">
            <a:extLst>
              <a:ext uri="{FF2B5EF4-FFF2-40B4-BE49-F238E27FC236}">
                <a16:creationId xmlns:a16="http://schemas.microsoft.com/office/drawing/2014/main" id="{FEFDD560-4CEC-5CA4-2807-4260793CE2CF}"/>
              </a:ext>
            </a:extLst>
          </p:cNvPr>
          <p:cNvSpPr/>
          <p:nvPr/>
        </p:nvSpPr>
        <p:spPr>
          <a:xfrm>
            <a:off x="1121343" y="397614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4"/>
              </a:rPr>
              <a:t>instagram.com</a:t>
            </a:r>
            <a:endParaRPr/>
          </a:p>
        </p:txBody>
      </p:sp>
      <p:sp>
        <p:nvSpPr>
          <p:cNvPr id="60" name="Shape">
            <a:extLst>
              <a:ext uri="{FF2B5EF4-FFF2-40B4-BE49-F238E27FC236}">
                <a16:creationId xmlns:a16="http://schemas.microsoft.com/office/drawing/2014/main" id="{872AA909-4BED-92D4-F40E-97651A85CEF9}"/>
              </a:ext>
            </a:extLst>
          </p:cNvPr>
          <p:cNvSpPr/>
          <p:nvPr/>
        </p:nvSpPr>
        <p:spPr>
          <a:xfrm>
            <a:off x="598880" y="421094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4"/>
              </a:rPr>
              <a:t>11/03/26 11:37</a:t>
            </a:r>
            <a:r>
              <a:t> | </a:t>
            </a:r>
            <a:r>
              <a:rPr lang="en" b="0" i="0"/>
              <a:t>United Arab Emirates</a:t>
            </a:r>
            <a:endParaRPr/>
          </a:p>
        </p:txBody>
      </p:sp>
      <p:sp>
        <p:nvSpPr>
          <p:cNvPr id="61" name="Shape">
            <a:extLst>
              <a:ext uri="{FF2B5EF4-FFF2-40B4-BE49-F238E27FC236}">
                <a16:creationId xmlns:a16="http://schemas.microsoft.com/office/drawing/2014/main" id="{09F2FA94-7679-650E-56F2-44082EBB691D}"/>
              </a:ext>
            </a:extLst>
          </p:cNvPr>
          <p:cNvSpPr/>
          <p:nvPr/>
        </p:nvSpPr>
        <p:spPr>
          <a:xfrm>
            <a:off x="3933748" y="388146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Style, comfort, and value, all in one place at Max Fashion. Visit them on the Ground Floor at Arabian Center and explore the latest fashion collections. #ArabianCenter #MaxFashion</a:t>
            </a:r>
            <a:endParaRPr/>
          </a:p>
        </p:txBody>
      </p:sp>
      <p:pic>
        <p:nvPicPr>
          <p:cNvPr id="62" name="Picture">
            <a:hlinkClick r:id="rId15"/>
            <a:extLst>
              <a:ext uri="{FF2B5EF4-FFF2-40B4-BE49-F238E27FC236}">
                <a16:creationId xmlns:a16="http://schemas.microsoft.com/office/drawing/2014/main" id="{83D0C5AB-C44E-234C-C749-5ACC2965F473}"/>
              </a:ext>
            </a:extLst>
          </p:cNvPr>
          <p:cNvPicPr/>
          <p:nvPr/>
        </p:nvPicPr>
        <p:blipFill>
          <a:blip r:embed="rId16"/>
          <a:srcRect/>
          <a:stretch/>
        </p:blipFill>
        <p:spPr>
          <a:xfrm>
            <a:off x="7716515" y="3638638"/>
            <a:ext cx="438150" cy="781050"/>
          </a:xfrm>
          <a:prstGeom prst="rect">
            <a:avLst/>
          </a:prstGeom>
        </p:spPr>
      </p:pic>
      <p:sp>
        <p:nvSpPr>
          <p:cNvPr id="63" name="Shape">
            <a:extLst>
              <a:ext uri="{FF2B5EF4-FFF2-40B4-BE49-F238E27FC236}">
                <a16:creationId xmlns:a16="http://schemas.microsoft.com/office/drawing/2014/main" id="{C23F545A-D640-EBAC-5987-C8E604E6C504}"/>
              </a:ext>
            </a:extLst>
          </p:cNvPr>
          <p:cNvSpPr/>
          <p:nvPr/>
        </p:nvSpPr>
        <p:spPr>
          <a:xfrm>
            <a:off x="8769307" y="3847380"/>
            <a:ext cx="1111622" cy="363564"/>
          </a:xfrm>
          <a:prstGeom prst="rect">
            <a:avLst/>
          </a:prstGeom>
        </p:spPr>
        <p:txBody>
          <a:bodyPr wrap="square" lIns="0" tIns="0" rIns="0">
            <a:noAutofit/>
          </a:bodyPr>
          <a:lstStyle/>
          <a:p>
            <a:pPr algn="ctr" fontAlgn="t">
              <a:defRPr sz="1200" b="1" i="0">
                <a:solidFill>
                  <a:srgbClr val="808080"/>
                </a:solidFill>
                <a:latin typeface="Arial"/>
              </a:defRPr>
            </a:pPr>
            <a:r>
              <a:t>43</a:t>
            </a:r>
          </a:p>
        </p:txBody>
      </p:sp>
      <p:sp>
        <p:nvSpPr>
          <p:cNvPr id="64" name="Shape">
            <a:extLst>
              <a:ext uri="{FF2B5EF4-FFF2-40B4-BE49-F238E27FC236}">
                <a16:creationId xmlns:a16="http://schemas.microsoft.com/office/drawing/2014/main" id="{DF0259F7-28A4-8355-C633-8006A53FD63B}"/>
              </a:ext>
            </a:extLst>
          </p:cNvPr>
          <p:cNvSpPr/>
          <p:nvPr/>
        </p:nvSpPr>
        <p:spPr>
          <a:xfrm>
            <a:off x="8769307" y="3847380"/>
            <a:ext cx="1111622" cy="363564"/>
          </a:xfrm>
          <a:prstGeom prst="rect">
            <a:avLst/>
          </a:prstGeom>
        </p:spPr>
        <p:txBody>
          <a:bodyPr wrap="square" lIns="0" tIns="0" rIns="0">
            <a:noAutofit/>
          </a:bodyPr>
          <a:lstStyle/>
          <a:p>
            <a:pPr algn="ctr" fontAlgn="t">
              <a:defRPr sz="1200" b="1" i="0">
                <a:solidFill>
                  <a:srgbClr val="808080"/>
                </a:solidFill>
                <a:latin typeface="Arial"/>
              </a:defRPr>
            </a:pPr>
            <a:r>
              <a:t>43</a:t>
            </a:r>
          </a:p>
        </p:txBody>
      </p:sp>
      <p:sp>
        <p:nvSpPr>
          <p:cNvPr id="65" name="Shape">
            <a:extLst>
              <a:ext uri="{FF2B5EF4-FFF2-40B4-BE49-F238E27FC236}">
                <a16:creationId xmlns:a16="http://schemas.microsoft.com/office/drawing/2014/main" id="{DE6BDF1E-DF69-5E66-EF33-332812B6C7E3}"/>
              </a:ext>
            </a:extLst>
          </p:cNvPr>
          <p:cNvSpPr/>
          <p:nvPr/>
        </p:nvSpPr>
        <p:spPr>
          <a:xfrm>
            <a:off x="10047672" y="358985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66" name="Shape">
            <a:extLst>
              <a:ext uri="{FF2B5EF4-FFF2-40B4-BE49-F238E27FC236}">
                <a16:creationId xmlns:a16="http://schemas.microsoft.com/office/drawing/2014/main" id="{F52C81A2-150D-CAC2-7ED8-285A725D5891}"/>
              </a:ext>
            </a:extLst>
          </p:cNvPr>
          <p:cNvSpPr/>
          <p:nvPr/>
        </p:nvSpPr>
        <p:spPr>
          <a:xfrm>
            <a:off x="10047672" y="374134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33.2K</a:t>
            </a:r>
          </a:p>
        </p:txBody>
      </p:sp>
      <p:sp>
        <p:nvSpPr>
          <p:cNvPr id="67" name="Shape">
            <a:extLst>
              <a:ext uri="{FF2B5EF4-FFF2-40B4-BE49-F238E27FC236}">
                <a16:creationId xmlns:a16="http://schemas.microsoft.com/office/drawing/2014/main" id="{56B345AF-79C2-247E-78B3-BEE9FE702902}"/>
              </a:ext>
            </a:extLst>
          </p:cNvPr>
          <p:cNvSpPr/>
          <p:nvPr/>
        </p:nvSpPr>
        <p:spPr>
          <a:xfrm>
            <a:off x="10047672" y="3741341"/>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33.2K</a:t>
            </a:r>
          </a:p>
        </p:txBody>
      </p:sp>
      <p:sp>
        <p:nvSpPr>
          <p:cNvPr id="68" name="Shape">
            <a:extLst>
              <a:ext uri="{FF2B5EF4-FFF2-40B4-BE49-F238E27FC236}">
                <a16:creationId xmlns:a16="http://schemas.microsoft.com/office/drawing/2014/main" id="{5BBF51B2-C12F-1123-D53D-9161C4C5B855}"/>
              </a:ext>
            </a:extLst>
          </p:cNvPr>
          <p:cNvSpPr/>
          <p:nvPr/>
        </p:nvSpPr>
        <p:spPr>
          <a:xfrm>
            <a:off x="10047672" y="389282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40</a:t>
            </a:r>
          </a:p>
        </p:txBody>
      </p:sp>
      <p:sp>
        <p:nvSpPr>
          <p:cNvPr id="69" name="Shape">
            <a:extLst>
              <a:ext uri="{FF2B5EF4-FFF2-40B4-BE49-F238E27FC236}">
                <a16:creationId xmlns:a16="http://schemas.microsoft.com/office/drawing/2014/main" id="{84BFB2A3-B6B8-0AAA-295C-424AB3ECDA28}"/>
              </a:ext>
            </a:extLst>
          </p:cNvPr>
          <p:cNvSpPr/>
          <p:nvPr/>
        </p:nvSpPr>
        <p:spPr>
          <a:xfrm>
            <a:off x="10047672" y="3892826"/>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40</a:t>
            </a:r>
          </a:p>
        </p:txBody>
      </p:sp>
      <p:cxnSp>
        <p:nvCxnSpPr>
          <p:cNvPr id="70" name="Line 200: (537882, 5407643) - (11654110, 5407643)">
            <a:extLst>
              <a:ext uri="{FF2B5EF4-FFF2-40B4-BE49-F238E27FC236}">
                <a16:creationId xmlns:a16="http://schemas.microsoft.com/office/drawing/2014/main" id="{9DF29B03-56B3-2965-5CF7-191C3EA8AB1F}"/>
              </a:ext>
            </a:extLst>
          </p:cNvPr>
          <p:cNvCxnSpPr/>
          <p:nvPr/>
        </p:nvCxnSpPr>
        <p:spPr>
          <a:xfrm>
            <a:off x="432137" y="4483618"/>
            <a:ext cx="11116228" cy="0"/>
          </a:xfrm>
          <a:prstGeom prst="line">
            <a:avLst/>
          </a:prstGeom>
          <a:ln w="12700">
            <a:solidFill>
              <a:srgbClr val="C7C7C7"/>
            </a:solidFill>
          </a:ln>
        </p:spPr>
      </p:cxnSp>
      <p:pic>
        <p:nvPicPr>
          <p:cNvPr id="71" name="Picture">
            <a:extLst>
              <a:ext uri="{FF2B5EF4-FFF2-40B4-BE49-F238E27FC236}">
                <a16:creationId xmlns:a16="http://schemas.microsoft.com/office/drawing/2014/main" id="{A2E95C06-13FA-2557-3751-C0EAB803827E}"/>
              </a:ext>
            </a:extLst>
          </p:cNvPr>
          <p:cNvPicPr/>
          <p:nvPr/>
        </p:nvPicPr>
        <p:blipFill>
          <a:blip r:embed="rId17"/>
          <a:srcRect/>
          <a:stretch/>
        </p:blipFill>
        <p:spPr>
          <a:xfrm>
            <a:off x="546549" y="4567513"/>
            <a:ext cx="438150" cy="438150"/>
          </a:xfrm>
          <a:prstGeom prst="rect">
            <a:avLst/>
          </a:prstGeom>
        </p:spPr>
      </p:pic>
      <p:pic>
        <p:nvPicPr>
          <p:cNvPr id="72" name="Picture">
            <a:extLst>
              <a:ext uri="{FF2B5EF4-FFF2-40B4-BE49-F238E27FC236}">
                <a16:creationId xmlns:a16="http://schemas.microsoft.com/office/drawing/2014/main" id="{E238B073-E459-C891-9655-29A011022FFF}"/>
              </a:ext>
            </a:extLst>
          </p:cNvPr>
          <p:cNvPicPr/>
          <p:nvPr/>
        </p:nvPicPr>
        <p:blipFill>
          <a:blip r:embed="rId3"/>
          <a:srcRect/>
          <a:stretch/>
        </p:blipFill>
        <p:spPr>
          <a:xfrm>
            <a:off x="854576" y="4550249"/>
            <a:ext cx="133350" cy="133350"/>
          </a:xfrm>
          <a:prstGeom prst="rect">
            <a:avLst/>
          </a:prstGeom>
        </p:spPr>
      </p:pic>
      <p:sp>
        <p:nvSpPr>
          <p:cNvPr id="73" name="Shape">
            <a:extLst>
              <a:ext uri="{FF2B5EF4-FFF2-40B4-BE49-F238E27FC236}">
                <a16:creationId xmlns:a16="http://schemas.microsoft.com/office/drawing/2014/main" id="{6E505726-908A-0AD1-E60C-2FD3D185B1C2}"/>
              </a:ext>
            </a:extLst>
          </p:cNvPr>
          <p:cNvSpPr/>
          <p:nvPr/>
        </p:nvSpPr>
        <p:spPr>
          <a:xfrm>
            <a:off x="1121343" y="4604806"/>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8"/>
              </a:rPr>
              <a:t>arabian center (arabiancenter)</a:t>
            </a:r>
            <a:endParaRPr/>
          </a:p>
        </p:txBody>
      </p:sp>
      <p:sp>
        <p:nvSpPr>
          <p:cNvPr id="74" name="Shape">
            <a:extLst>
              <a:ext uri="{FF2B5EF4-FFF2-40B4-BE49-F238E27FC236}">
                <a16:creationId xmlns:a16="http://schemas.microsoft.com/office/drawing/2014/main" id="{96C8D23B-B9C7-41E1-FABE-9B56728AD2AE}"/>
              </a:ext>
            </a:extLst>
          </p:cNvPr>
          <p:cNvSpPr/>
          <p:nvPr/>
        </p:nvSpPr>
        <p:spPr>
          <a:xfrm>
            <a:off x="1121343" y="4885052"/>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19"/>
              </a:rPr>
              <a:t>twitter.com</a:t>
            </a:r>
            <a:endParaRPr/>
          </a:p>
        </p:txBody>
      </p:sp>
      <p:sp>
        <p:nvSpPr>
          <p:cNvPr id="75" name="Shape">
            <a:extLst>
              <a:ext uri="{FF2B5EF4-FFF2-40B4-BE49-F238E27FC236}">
                <a16:creationId xmlns:a16="http://schemas.microsoft.com/office/drawing/2014/main" id="{285332CF-30C5-6A39-4F6D-DCFBF5FB8DA0}"/>
              </a:ext>
            </a:extLst>
          </p:cNvPr>
          <p:cNvSpPr/>
          <p:nvPr/>
        </p:nvSpPr>
        <p:spPr>
          <a:xfrm>
            <a:off x="598880" y="5119854"/>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0"/>
              </a:rPr>
              <a:t>12/03/26 11:09</a:t>
            </a:r>
            <a:r>
              <a:t> | </a:t>
            </a:r>
            <a:r>
              <a:rPr lang="en" b="0" i="0"/>
              <a:t>United Arab Emirates</a:t>
            </a:r>
            <a:endParaRPr/>
          </a:p>
        </p:txBody>
      </p:sp>
      <p:sp>
        <p:nvSpPr>
          <p:cNvPr id="76" name="Shape">
            <a:extLst>
              <a:ext uri="{FF2B5EF4-FFF2-40B4-BE49-F238E27FC236}">
                <a16:creationId xmlns:a16="http://schemas.microsoft.com/office/drawing/2014/main" id="{E1DA60BC-11A5-E838-C39A-5D36E9BE68FF}"/>
              </a:ext>
            </a:extLst>
          </p:cNvPr>
          <p:cNvSpPr/>
          <p:nvPr/>
        </p:nvSpPr>
        <p:spPr>
          <a:xfrm>
            <a:off x="3933748" y="4790374"/>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Shop, scan, and win your share of AED 200,000 in Eidiya. Spend AED 200, scan the in-store QR code, and enter the raffle for a chance to be one of 25 lucky winners. 📍 Shop at Arabian Center and scan to partic...</a:t>
            </a:r>
            <a:endParaRPr/>
          </a:p>
        </p:txBody>
      </p:sp>
      <p:pic>
        <p:nvPicPr>
          <p:cNvPr id="77" name="Picture">
            <a:hlinkClick r:id="rId21"/>
            <a:extLst>
              <a:ext uri="{FF2B5EF4-FFF2-40B4-BE49-F238E27FC236}">
                <a16:creationId xmlns:a16="http://schemas.microsoft.com/office/drawing/2014/main" id="{84B9F4C9-2738-33CF-3C15-24D02A819F2B}"/>
              </a:ext>
            </a:extLst>
          </p:cNvPr>
          <p:cNvPicPr/>
          <p:nvPr/>
        </p:nvPicPr>
        <p:blipFill>
          <a:blip r:embed="rId22"/>
          <a:srcRect/>
          <a:stretch/>
        </p:blipFill>
        <p:spPr>
          <a:xfrm>
            <a:off x="7626027" y="4547548"/>
            <a:ext cx="619125" cy="781050"/>
          </a:xfrm>
          <a:prstGeom prst="rect">
            <a:avLst/>
          </a:prstGeom>
        </p:spPr>
      </p:pic>
      <p:sp>
        <p:nvSpPr>
          <p:cNvPr id="78" name="Shape">
            <a:extLst>
              <a:ext uri="{FF2B5EF4-FFF2-40B4-BE49-F238E27FC236}">
                <a16:creationId xmlns:a16="http://schemas.microsoft.com/office/drawing/2014/main" id="{BE905B76-1BCE-55F9-FC3E-1648CFB5E5CF}"/>
              </a:ext>
            </a:extLst>
          </p:cNvPr>
          <p:cNvSpPr/>
          <p:nvPr/>
        </p:nvSpPr>
        <p:spPr>
          <a:xfrm>
            <a:off x="8769307" y="475629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79" name="Shape">
            <a:extLst>
              <a:ext uri="{FF2B5EF4-FFF2-40B4-BE49-F238E27FC236}">
                <a16:creationId xmlns:a16="http://schemas.microsoft.com/office/drawing/2014/main" id="{E1DB5A49-C0A0-2FCF-11C2-FB24B7376AFB}"/>
              </a:ext>
            </a:extLst>
          </p:cNvPr>
          <p:cNvSpPr/>
          <p:nvPr/>
        </p:nvSpPr>
        <p:spPr>
          <a:xfrm>
            <a:off x="8769307" y="4756290"/>
            <a:ext cx="1111622" cy="363564"/>
          </a:xfrm>
          <a:prstGeom prst="rect">
            <a:avLst/>
          </a:prstGeom>
        </p:spPr>
        <p:txBody>
          <a:bodyPr wrap="square" lIns="0" tIns="0" rIns="0">
            <a:noAutofit/>
          </a:bodyPr>
          <a:lstStyle/>
          <a:p>
            <a:pPr algn="ctr" fontAlgn="t">
              <a:defRPr sz="1200" b="1" i="0">
                <a:solidFill>
                  <a:srgbClr val="808080"/>
                </a:solidFill>
                <a:latin typeface="Arial"/>
              </a:defRPr>
            </a:pPr>
            <a:r>
              <a:t>1</a:t>
            </a:r>
          </a:p>
        </p:txBody>
      </p:sp>
      <p:sp>
        <p:nvSpPr>
          <p:cNvPr id="80" name="Shape">
            <a:extLst>
              <a:ext uri="{FF2B5EF4-FFF2-40B4-BE49-F238E27FC236}">
                <a16:creationId xmlns:a16="http://schemas.microsoft.com/office/drawing/2014/main" id="{7234FC84-00B0-54F0-7859-237740EB319C}"/>
              </a:ext>
            </a:extLst>
          </p:cNvPr>
          <p:cNvSpPr/>
          <p:nvPr/>
        </p:nvSpPr>
        <p:spPr>
          <a:xfrm>
            <a:off x="10047672" y="4498766"/>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FDCA00"/>
                </a:solidFill>
              </a:rPr>
              <a:t>Neutral</a:t>
            </a:r>
            <a:r>
              <a:t> </a:t>
            </a:r>
          </a:p>
        </p:txBody>
      </p:sp>
      <p:sp>
        <p:nvSpPr>
          <p:cNvPr id="81" name="Shape">
            <a:extLst>
              <a:ext uri="{FF2B5EF4-FFF2-40B4-BE49-F238E27FC236}">
                <a16:creationId xmlns:a16="http://schemas.microsoft.com/office/drawing/2014/main" id="{D39A09F1-5B0D-85D7-AE4C-60BAF6D61ACE}"/>
              </a:ext>
            </a:extLst>
          </p:cNvPr>
          <p:cNvSpPr/>
          <p:nvPr/>
        </p:nvSpPr>
        <p:spPr>
          <a:xfrm>
            <a:off x="10047672" y="4650251"/>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82" name="Shape">
            <a:extLst>
              <a:ext uri="{FF2B5EF4-FFF2-40B4-BE49-F238E27FC236}">
                <a16:creationId xmlns:a16="http://schemas.microsoft.com/office/drawing/2014/main" id="{F8442BE3-3372-8B5D-23EF-24D13E8B0A5A}"/>
              </a:ext>
            </a:extLst>
          </p:cNvPr>
          <p:cNvSpPr/>
          <p:nvPr/>
        </p:nvSpPr>
        <p:spPr>
          <a:xfrm>
            <a:off x="10047672" y="4650251"/>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83" name="Shape">
            <a:extLst>
              <a:ext uri="{FF2B5EF4-FFF2-40B4-BE49-F238E27FC236}">
                <a16:creationId xmlns:a16="http://schemas.microsoft.com/office/drawing/2014/main" id="{48015789-169C-BD98-1415-1EE1F9C80491}"/>
              </a:ext>
            </a:extLst>
          </p:cNvPr>
          <p:cNvSpPr/>
          <p:nvPr/>
        </p:nvSpPr>
        <p:spPr>
          <a:xfrm>
            <a:off x="10047672" y="4801736"/>
            <a:ext cx="1500690" cy="121188"/>
          </a:xfrm>
          <a:prstGeom prst="rect">
            <a:avLst/>
          </a:prstGeom>
        </p:spPr>
        <p:txBody>
          <a:bodyPr wrap="square" lIns="0" tIns="0" rIns="0">
            <a:noAutofit/>
          </a:bodyPr>
          <a:lstStyle/>
          <a:p>
            <a:pPr algn="l" fontAlgn="t">
              <a:defRPr sz="800" b="0" i="0">
                <a:solidFill>
                  <a:srgbClr val="808080"/>
                </a:solidFill>
                <a:latin typeface="Arial"/>
              </a:defRPr>
            </a:pPr>
            <a:r>
              <a:t>X Likes 1</a:t>
            </a:r>
          </a:p>
        </p:txBody>
      </p:sp>
      <p:sp>
        <p:nvSpPr>
          <p:cNvPr id="84" name="Shape">
            <a:extLst>
              <a:ext uri="{FF2B5EF4-FFF2-40B4-BE49-F238E27FC236}">
                <a16:creationId xmlns:a16="http://schemas.microsoft.com/office/drawing/2014/main" id="{6783B78F-7ABD-D591-7B19-F96AE4BB970E}"/>
              </a:ext>
            </a:extLst>
          </p:cNvPr>
          <p:cNvSpPr/>
          <p:nvPr/>
        </p:nvSpPr>
        <p:spPr>
          <a:xfrm>
            <a:off x="10047672" y="4801736"/>
            <a:ext cx="1500690" cy="121188"/>
          </a:xfrm>
          <a:prstGeom prst="rect">
            <a:avLst/>
          </a:prstGeom>
        </p:spPr>
        <p:txBody>
          <a:bodyPr wrap="square" lIns="0" tIns="0" rIns="0">
            <a:noAutofit/>
          </a:bodyPr>
          <a:lstStyle/>
          <a:p>
            <a:pPr algn="l" fontAlgn="t">
              <a:defRPr sz="800" b="0" i="0">
                <a:solidFill>
                  <a:srgbClr val="808080"/>
                </a:solidFill>
                <a:latin typeface="Arial"/>
              </a:defRPr>
            </a:pPr>
            <a:r>
              <a:t>X Likes 1</a:t>
            </a:r>
          </a:p>
        </p:txBody>
      </p:sp>
      <p:sp>
        <p:nvSpPr>
          <p:cNvPr id="85" name="Shape">
            <a:extLst>
              <a:ext uri="{FF2B5EF4-FFF2-40B4-BE49-F238E27FC236}">
                <a16:creationId xmlns:a16="http://schemas.microsoft.com/office/drawing/2014/main" id="{8CB55808-7EB0-B13D-F6D4-0F573C9BDA65}"/>
              </a:ext>
            </a:extLst>
          </p:cNvPr>
          <p:cNvSpPr/>
          <p:nvPr/>
        </p:nvSpPr>
        <p:spPr>
          <a:xfrm>
            <a:off x="10047672" y="4953221"/>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86" name="Shape">
            <a:extLst>
              <a:ext uri="{FF2B5EF4-FFF2-40B4-BE49-F238E27FC236}">
                <a16:creationId xmlns:a16="http://schemas.microsoft.com/office/drawing/2014/main" id="{20D9BB89-BA58-7FFE-2F1F-959CF5B91D43}"/>
              </a:ext>
            </a:extLst>
          </p:cNvPr>
          <p:cNvSpPr/>
          <p:nvPr/>
        </p:nvSpPr>
        <p:spPr>
          <a:xfrm>
            <a:off x="10047672" y="4953221"/>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87" name="Shape">
            <a:extLst>
              <a:ext uri="{FF2B5EF4-FFF2-40B4-BE49-F238E27FC236}">
                <a16:creationId xmlns:a16="http://schemas.microsoft.com/office/drawing/2014/main" id="{18182487-AB38-9E5C-7F29-54B160E8ACCF}"/>
              </a:ext>
            </a:extLst>
          </p:cNvPr>
          <p:cNvSpPr/>
          <p:nvPr/>
        </p:nvSpPr>
        <p:spPr>
          <a:xfrm>
            <a:off x="10047672" y="5104706"/>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10</a:t>
            </a:r>
          </a:p>
        </p:txBody>
      </p:sp>
      <p:sp>
        <p:nvSpPr>
          <p:cNvPr id="88" name="Shape">
            <a:extLst>
              <a:ext uri="{FF2B5EF4-FFF2-40B4-BE49-F238E27FC236}">
                <a16:creationId xmlns:a16="http://schemas.microsoft.com/office/drawing/2014/main" id="{CC26FF4C-6E89-1F7B-62A9-676A28168B03}"/>
              </a:ext>
            </a:extLst>
          </p:cNvPr>
          <p:cNvSpPr/>
          <p:nvPr/>
        </p:nvSpPr>
        <p:spPr>
          <a:xfrm>
            <a:off x="10047672" y="5104706"/>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10</a:t>
            </a:r>
          </a:p>
        </p:txBody>
      </p:sp>
      <p:cxnSp>
        <p:nvCxnSpPr>
          <p:cNvPr id="89" name="Line 200: (537882, 6316553) - (11654110, 6316553)">
            <a:extLst>
              <a:ext uri="{FF2B5EF4-FFF2-40B4-BE49-F238E27FC236}">
                <a16:creationId xmlns:a16="http://schemas.microsoft.com/office/drawing/2014/main" id="{6C43EBDF-B7E9-3C13-DC6B-94CCBC7C65F9}"/>
              </a:ext>
            </a:extLst>
          </p:cNvPr>
          <p:cNvCxnSpPr/>
          <p:nvPr/>
        </p:nvCxnSpPr>
        <p:spPr>
          <a:xfrm>
            <a:off x="432137" y="5392528"/>
            <a:ext cx="11116228" cy="0"/>
          </a:xfrm>
          <a:prstGeom prst="line">
            <a:avLst/>
          </a:prstGeom>
          <a:ln w="12700">
            <a:solidFill>
              <a:srgbClr val="C7C7C7"/>
            </a:solidFill>
          </a:ln>
        </p:spPr>
      </p:cxnSp>
    </p:spTree>
    <p:extLst>
      <p:ext uri="{BB962C8B-B14F-4D97-AF65-F5344CB8AC3E}">
        <p14:creationId xmlns:p14="http://schemas.microsoft.com/office/powerpoint/2010/main" val="2948200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4E1B2-7B15-95FF-78A7-8BB64F125959}"/>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8115BB4F-C990-7E80-63D8-486A7A28C611}"/>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B98D9CAF-7F49-6694-44C2-BFA56156DD9C}"/>
              </a:ext>
            </a:extLst>
          </p:cNvPr>
          <p:cNvCxnSpPr/>
          <p:nvPr/>
        </p:nvCxnSpPr>
        <p:spPr>
          <a:xfrm>
            <a:off x="432137" y="915355"/>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97E83136-F457-B310-CBA2-25C2E6D434F8}"/>
              </a:ext>
            </a:extLst>
          </p:cNvPr>
          <p:cNvSpPr/>
          <p:nvPr/>
        </p:nvSpPr>
        <p:spPr>
          <a:xfrm>
            <a:off x="765623" y="700087"/>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2C2C11A5-842E-C243-AE3E-0CF00B61E621}"/>
              </a:ext>
            </a:extLst>
          </p:cNvPr>
          <p:cNvCxnSpPr/>
          <p:nvPr/>
        </p:nvCxnSpPr>
        <p:spPr>
          <a:xfrm>
            <a:off x="3767005" y="676169"/>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58EBFC19-F849-D6F2-74A3-F1955593FB5D}"/>
              </a:ext>
            </a:extLst>
          </p:cNvPr>
          <p:cNvSpPr/>
          <p:nvPr/>
        </p:nvSpPr>
        <p:spPr>
          <a:xfrm>
            <a:off x="4100491" y="700087"/>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5C4B66B5-2948-EB0D-7815-7AC5034F00D2}"/>
              </a:ext>
            </a:extLst>
          </p:cNvPr>
          <p:cNvCxnSpPr/>
          <p:nvPr/>
        </p:nvCxnSpPr>
        <p:spPr>
          <a:xfrm>
            <a:off x="8769307" y="676169"/>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AA69C2AC-5A63-65AA-5B58-24E8C0E77814}"/>
              </a:ext>
            </a:extLst>
          </p:cNvPr>
          <p:cNvSpPr/>
          <p:nvPr/>
        </p:nvSpPr>
        <p:spPr>
          <a:xfrm>
            <a:off x="8880469" y="700087"/>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692ED47F-F450-6483-0B26-8B72F7EC95D3}"/>
              </a:ext>
            </a:extLst>
          </p:cNvPr>
          <p:cNvCxnSpPr/>
          <p:nvPr/>
        </p:nvCxnSpPr>
        <p:spPr>
          <a:xfrm>
            <a:off x="9880929" y="676169"/>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81DCEEEC-86EA-CC7E-996E-9B6E96F9F73E}"/>
              </a:ext>
            </a:extLst>
          </p:cNvPr>
          <p:cNvSpPr/>
          <p:nvPr/>
        </p:nvSpPr>
        <p:spPr>
          <a:xfrm>
            <a:off x="10047672" y="700087"/>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8149C9F9-C1B3-B6A8-016A-8CA1FA2E151F}"/>
              </a:ext>
            </a:extLst>
          </p:cNvPr>
          <p:cNvPicPr/>
          <p:nvPr/>
        </p:nvPicPr>
        <p:blipFill>
          <a:blip r:embed="rId2"/>
          <a:srcRect/>
          <a:stretch/>
        </p:blipFill>
        <p:spPr>
          <a:xfrm>
            <a:off x="546549" y="999250"/>
            <a:ext cx="438150" cy="438150"/>
          </a:xfrm>
          <a:prstGeom prst="rect">
            <a:avLst/>
          </a:prstGeom>
        </p:spPr>
      </p:pic>
      <p:pic>
        <p:nvPicPr>
          <p:cNvPr id="12" name="Picture">
            <a:extLst>
              <a:ext uri="{FF2B5EF4-FFF2-40B4-BE49-F238E27FC236}">
                <a16:creationId xmlns:a16="http://schemas.microsoft.com/office/drawing/2014/main" id="{74343CA9-DD32-EAAA-32D4-F3ED66EE5E58}"/>
              </a:ext>
            </a:extLst>
          </p:cNvPr>
          <p:cNvPicPr/>
          <p:nvPr/>
        </p:nvPicPr>
        <p:blipFill>
          <a:blip r:embed="rId3"/>
          <a:srcRect/>
          <a:stretch/>
        </p:blipFill>
        <p:spPr>
          <a:xfrm>
            <a:off x="854576" y="981986"/>
            <a:ext cx="133350" cy="133350"/>
          </a:xfrm>
          <a:prstGeom prst="rect">
            <a:avLst/>
          </a:prstGeom>
        </p:spPr>
      </p:pic>
      <p:sp>
        <p:nvSpPr>
          <p:cNvPr id="13" name="Shape">
            <a:extLst>
              <a:ext uri="{FF2B5EF4-FFF2-40B4-BE49-F238E27FC236}">
                <a16:creationId xmlns:a16="http://schemas.microsoft.com/office/drawing/2014/main" id="{6E523AEE-FC6A-55E5-38B6-4AC70D3E51FF}"/>
              </a:ext>
            </a:extLst>
          </p:cNvPr>
          <p:cNvSpPr/>
          <p:nvPr/>
        </p:nvSpPr>
        <p:spPr>
          <a:xfrm>
            <a:off x="1121343" y="1036543"/>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hlinkClick r:id="rId4"/>
              </a:rPr>
              <a:t>arabiancenter</a:t>
            </a:r>
            <a:endParaRPr/>
          </a:p>
        </p:txBody>
      </p:sp>
      <p:sp>
        <p:nvSpPr>
          <p:cNvPr id="14" name="Shape">
            <a:extLst>
              <a:ext uri="{FF2B5EF4-FFF2-40B4-BE49-F238E27FC236}">
                <a16:creationId xmlns:a16="http://schemas.microsoft.com/office/drawing/2014/main" id="{2D5D2435-876A-BF51-6BE3-E08B60C59EE1}"/>
              </a:ext>
            </a:extLst>
          </p:cNvPr>
          <p:cNvSpPr/>
          <p:nvPr/>
        </p:nvSpPr>
        <p:spPr>
          <a:xfrm>
            <a:off x="1121343" y="131678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5"/>
              </a:rPr>
              <a:t>instagram.com</a:t>
            </a:r>
            <a:endParaRPr/>
          </a:p>
        </p:txBody>
      </p:sp>
      <p:sp>
        <p:nvSpPr>
          <p:cNvPr id="15" name="Shape">
            <a:extLst>
              <a:ext uri="{FF2B5EF4-FFF2-40B4-BE49-F238E27FC236}">
                <a16:creationId xmlns:a16="http://schemas.microsoft.com/office/drawing/2014/main" id="{8D4155FE-F44C-B2C5-3FFE-03B802430AF8}"/>
              </a:ext>
            </a:extLst>
          </p:cNvPr>
          <p:cNvSpPr/>
          <p:nvPr/>
        </p:nvSpPr>
        <p:spPr>
          <a:xfrm>
            <a:off x="598880" y="1551591"/>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6"/>
              </a:rPr>
              <a:t>12/03/26 11:09</a:t>
            </a:r>
            <a:r>
              <a:t> | </a:t>
            </a:r>
            <a:r>
              <a:rPr lang="ar" b="0" i="0"/>
              <a:t>United Arab Emirates</a:t>
            </a:r>
            <a:endParaRPr/>
          </a:p>
        </p:txBody>
      </p:sp>
      <p:sp>
        <p:nvSpPr>
          <p:cNvPr id="16" name="Shape">
            <a:extLst>
              <a:ext uri="{FF2B5EF4-FFF2-40B4-BE49-F238E27FC236}">
                <a16:creationId xmlns:a16="http://schemas.microsoft.com/office/drawing/2014/main" id="{8BEEDDC5-CB7D-35CE-3828-F8F7E73A3CA9}"/>
              </a:ext>
            </a:extLst>
          </p:cNvPr>
          <p:cNvSpPr/>
          <p:nvPr/>
        </p:nvSpPr>
        <p:spPr>
          <a:xfrm>
            <a:off x="3933748" y="1222111"/>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Shop, scan, and win your share of AED 200,000 in Eidiya. Spend AED 200, scan the in-store QR code, and enter the raffle for ... 📍 Shop at Arabian Center and scan to participate. تسوّق، امسح الكود.. وعيديتك علينا في ...</a:t>
            </a:r>
            <a:endParaRPr/>
          </a:p>
        </p:txBody>
      </p:sp>
      <p:pic>
        <p:nvPicPr>
          <p:cNvPr id="17" name="Picture">
            <a:hlinkClick r:id="rId7"/>
            <a:extLst>
              <a:ext uri="{FF2B5EF4-FFF2-40B4-BE49-F238E27FC236}">
                <a16:creationId xmlns:a16="http://schemas.microsoft.com/office/drawing/2014/main" id="{0FDF076E-1F5B-B6DF-F06C-6E2DC0A0EB1B}"/>
              </a:ext>
            </a:extLst>
          </p:cNvPr>
          <p:cNvPicPr/>
          <p:nvPr/>
        </p:nvPicPr>
        <p:blipFill>
          <a:blip r:embed="rId8"/>
          <a:srcRect/>
          <a:stretch/>
        </p:blipFill>
        <p:spPr>
          <a:xfrm>
            <a:off x="7626027" y="979285"/>
            <a:ext cx="619125" cy="781050"/>
          </a:xfrm>
          <a:prstGeom prst="rect">
            <a:avLst/>
          </a:prstGeom>
        </p:spPr>
      </p:pic>
      <p:sp>
        <p:nvSpPr>
          <p:cNvPr id="18" name="Shape">
            <a:extLst>
              <a:ext uri="{FF2B5EF4-FFF2-40B4-BE49-F238E27FC236}">
                <a16:creationId xmlns:a16="http://schemas.microsoft.com/office/drawing/2014/main" id="{A051B590-4A5F-6067-D22C-82BB3F44F950}"/>
              </a:ext>
            </a:extLst>
          </p:cNvPr>
          <p:cNvSpPr/>
          <p:nvPr/>
        </p:nvSpPr>
        <p:spPr>
          <a:xfrm>
            <a:off x="8769307" y="1188027"/>
            <a:ext cx="1111622" cy="363564"/>
          </a:xfrm>
          <a:prstGeom prst="rect">
            <a:avLst/>
          </a:prstGeom>
        </p:spPr>
        <p:txBody>
          <a:bodyPr wrap="square" lIns="0" tIns="0" rIns="0">
            <a:noAutofit/>
          </a:bodyPr>
          <a:lstStyle/>
          <a:p>
            <a:pPr algn="ctr" fontAlgn="t">
              <a:defRPr sz="1200" b="1" i="0">
                <a:solidFill>
                  <a:srgbClr val="808080"/>
                </a:solidFill>
                <a:latin typeface="Arial"/>
              </a:defRPr>
            </a:pPr>
            <a:r>
              <a:t>62</a:t>
            </a:r>
          </a:p>
        </p:txBody>
      </p:sp>
      <p:sp>
        <p:nvSpPr>
          <p:cNvPr id="19" name="Shape">
            <a:extLst>
              <a:ext uri="{FF2B5EF4-FFF2-40B4-BE49-F238E27FC236}">
                <a16:creationId xmlns:a16="http://schemas.microsoft.com/office/drawing/2014/main" id="{BB240D40-12F4-8451-94B8-3C897BDBD5A9}"/>
              </a:ext>
            </a:extLst>
          </p:cNvPr>
          <p:cNvSpPr/>
          <p:nvPr/>
        </p:nvSpPr>
        <p:spPr>
          <a:xfrm>
            <a:off x="8769307" y="1188027"/>
            <a:ext cx="1111622" cy="363564"/>
          </a:xfrm>
          <a:prstGeom prst="rect">
            <a:avLst/>
          </a:prstGeom>
        </p:spPr>
        <p:txBody>
          <a:bodyPr wrap="square" lIns="0" tIns="0" rIns="0">
            <a:noAutofit/>
          </a:bodyPr>
          <a:lstStyle/>
          <a:p>
            <a:pPr algn="ctr" fontAlgn="t">
              <a:defRPr sz="1200" b="1" i="0">
                <a:solidFill>
                  <a:srgbClr val="808080"/>
                </a:solidFill>
                <a:latin typeface="Arial"/>
              </a:defRPr>
            </a:pPr>
            <a:r>
              <a:t>62</a:t>
            </a:r>
          </a:p>
        </p:txBody>
      </p:sp>
      <p:sp>
        <p:nvSpPr>
          <p:cNvPr id="20" name="Shape">
            <a:extLst>
              <a:ext uri="{FF2B5EF4-FFF2-40B4-BE49-F238E27FC236}">
                <a16:creationId xmlns:a16="http://schemas.microsoft.com/office/drawing/2014/main" id="{30828A81-2D28-E2E1-9149-1EF4F59DBC09}"/>
              </a:ext>
            </a:extLst>
          </p:cNvPr>
          <p:cNvSpPr/>
          <p:nvPr/>
        </p:nvSpPr>
        <p:spPr>
          <a:xfrm>
            <a:off x="10047672" y="93050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21" name="Shape">
            <a:extLst>
              <a:ext uri="{FF2B5EF4-FFF2-40B4-BE49-F238E27FC236}">
                <a16:creationId xmlns:a16="http://schemas.microsoft.com/office/drawing/2014/main" id="{6EAF9DA4-87EA-0629-1B00-864EA21ACAA6}"/>
              </a:ext>
            </a:extLst>
          </p:cNvPr>
          <p:cNvSpPr/>
          <p:nvPr/>
        </p:nvSpPr>
        <p:spPr>
          <a:xfrm>
            <a:off x="10047672" y="108198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33.3K</a:t>
            </a:r>
          </a:p>
        </p:txBody>
      </p:sp>
      <p:sp>
        <p:nvSpPr>
          <p:cNvPr id="22" name="Shape">
            <a:extLst>
              <a:ext uri="{FF2B5EF4-FFF2-40B4-BE49-F238E27FC236}">
                <a16:creationId xmlns:a16="http://schemas.microsoft.com/office/drawing/2014/main" id="{D7C4F8BD-A1D2-2670-5E6A-778CAD68EF60}"/>
              </a:ext>
            </a:extLst>
          </p:cNvPr>
          <p:cNvSpPr/>
          <p:nvPr/>
        </p:nvSpPr>
        <p:spPr>
          <a:xfrm>
            <a:off x="10047672" y="108198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33.3K</a:t>
            </a:r>
          </a:p>
        </p:txBody>
      </p:sp>
      <p:sp>
        <p:nvSpPr>
          <p:cNvPr id="23" name="Shape">
            <a:extLst>
              <a:ext uri="{FF2B5EF4-FFF2-40B4-BE49-F238E27FC236}">
                <a16:creationId xmlns:a16="http://schemas.microsoft.com/office/drawing/2014/main" id="{855998EF-AEEE-A86C-240C-3D7A0211154A}"/>
              </a:ext>
            </a:extLst>
          </p:cNvPr>
          <p:cNvSpPr/>
          <p:nvPr/>
        </p:nvSpPr>
        <p:spPr>
          <a:xfrm>
            <a:off x="10047672" y="123347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59</a:t>
            </a:r>
          </a:p>
        </p:txBody>
      </p:sp>
      <p:sp>
        <p:nvSpPr>
          <p:cNvPr id="24" name="Shape">
            <a:extLst>
              <a:ext uri="{FF2B5EF4-FFF2-40B4-BE49-F238E27FC236}">
                <a16:creationId xmlns:a16="http://schemas.microsoft.com/office/drawing/2014/main" id="{F2C61C40-A1C5-5222-E039-ACF6E7FFA123}"/>
              </a:ext>
            </a:extLst>
          </p:cNvPr>
          <p:cNvSpPr/>
          <p:nvPr/>
        </p:nvSpPr>
        <p:spPr>
          <a:xfrm>
            <a:off x="10047672" y="123347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59</a:t>
            </a:r>
          </a:p>
        </p:txBody>
      </p:sp>
      <p:cxnSp>
        <p:nvCxnSpPr>
          <p:cNvPr id="25" name="Line 200: (537882, 2680913) - (11654110, 2680913)">
            <a:extLst>
              <a:ext uri="{FF2B5EF4-FFF2-40B4-BE49-F238E27FC236}">
                <a16:creationId xmlns:a16="http://schemas.microsoft.com/office/drawing/2014/main" id="{89E1E482-5C2A-43B7-C0E1-23AFB4D31F2F}"/>
              </a:ext>
            </a:extLst>
          </p:cNvPr>
          <p:cNvCxnSpPr/>
          <p:nvPr/>
        </p:nvCxnSpPr>
        <p:spPr>
          <a:xfrm>
            <a:off x="432137" y="1824265"/>
            <a:ext cx="11116228" cy="0"/>
          </a:xfrm>
          <a:prstGeom prst="line">
            <a:avLst/>
          </a:prstGeom>
          <a:ln w="12700">
            <a:solidFill>
              <a:srgbClr val="C7C7C7"/>
            </a:solidFill>
          </a:ln>
        </p:spPr>
      </p:cxnSp>
      <p:pic>
        <p:nvPicPr>
          <p:cNvPr id="26" name="Picture">
            <a:extLst>
              <a:ext uri="{FF2B5EF4-FFF2-40B4-BE49-F238E27FC236}">
                <a16:creationId xmlns:a16="http://schemas.microsoft.com/office/drawing/2014/main" id="{3FEB7559-FD41-44D3-5AB2-278DF60B3C83}"/>
              </a:ext>
            </a:extLst>
          </p:cNvPr>
          <p:cNvPicPr/>
          <p:nvPr/>
        </p:nvPicPr>
        <p:blipFill>
          <a:blip r:embed="rId2"/>
          <a:srcRect/>
          <a:stretch/>
        </p:blipFill>
        <p:spPr>
          <a:xfrm>
            <a:off x="546549" y="1908160"/>
            <a:ext cx="438150" cy="438150"/>
          </a:xfrm>
          <a:prstGeom prst="rect">
            <a:avLst/>
          </a:prstGeom>
        </p:spPr>
      </p:pic>
      <p:pic>
        <p:nvPicPr>
          <p:cNvPr id="27" name="Picture">
            <a:extLst>
              <a:ext uri="{FF2B5EF4-FFF2-40B4-BE49-F238E27FC236}">
                <a16:creationId xmlns:a16="http://schemas.microsoft.com/office/drawing/2014/main" id="{2412AE92-BDF0-8B82-8058-CCDC181998FC}"/>
              </a:ext>
            </a:extLst>
          </p:cNvPr>
          <p:cNvPicPr/>
          <p:nvPr/>
        </p:nvPicPr>
        <p:blipFill>
          <a:blip r:embed="rId3"/>
          <a:srcRect/>
          <a:stretch/>
        </p:blipFill>
        <p:spPr>
          <a:xfrm>
            <a:off x="854576" y="1890896"/>
            <a:ext cx="133350" cy="133350"/>
          </a:xfrm>
          <a:prstGeom prst="rect">
            <a:avLst/>
          </a:prstGeom>
        </p:spPr>
      </p:pic>
      <p:sp>
        <p:nvSpPr>
          <p:cNvPr id="28" name="Shape">
            <a:extLst>
              <a:ext uri="{FF2B5EF4-FFF2-40B4-BE49-F238E27FC236}">
                <a16:creationId xmlns:a16="http://schemas.microsoft.com/office/drawing/2014/main" id="{793914AB-C25B-992B-B89D-0BF987BC1596}"/>
              </a:ext>
            </a:extLst>
          </p:cNvPr>
          <p:cNvSpPr/>
          <p:nvPr/>
        </p:nvSpPr>
        <p:spPr>
          <a:xfrm>
            <a:off x="1121343" y="194545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9"/>
              </a:rPr>
              <a:t>gulfnews</a:t>
            </a:r>
            <a:endParaRPr/>
          </a:p>
        </p:txBody>
      </p:sp>
      <p:sp>
        <p:nvSpPr>
          <p:cNvPr id="29" name="Shape">
            <a:extLst>
              <a:ext uri="{FF2B5EF4-FFF2-40B4-BE49-F238E27FC236}">
                <a16:creationId xmlns:a16="http://schemas.microsoft.com/office/drawing/2014/main" id="{97DB5EFE-F4D2-3AEA-3E1C-ABFA28DE8D88}"/>
              </a:ext>
            </a:extLst>
          </p:cNvPr>
          <p:cNvSpPr/>
          <p:nvPr/>
        </p:nvSpPr>
        <p:spPr>
          <a:xfrm>
            <a:off x="1121343" y="222569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30" name="Shape">
            <a:extLst>
              <a:ext uri="{FF2B5EF4-FFF2-40B4-BE49-F238E27FC236}">
                <a16:creationId xmlns:a16="http://schemas.microsoft.com/office/drawing/2014/main" id="{30019719-C3BB-9218-FDD3-4B74AD3A385C}"/>
              </a:ext>
            </a:extLst>
          </p:cNvPr>
          <p:cNvSpPr/>
          <p:nvPr/>
        </p:nvSpPr>
        <p:spPr>
          <a:xfrm>
            <a:off x="598880" y="246050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0"/>
              </a:rPr>
              <a:t>13/03/26 10:26</a:t>
            </a:r>
            <a:r>
              <a:t> | </a:t>
            </a:r>
            <a:r>
              <a:rPr lang="en" b="0" i="0"/>
              <a:t>United Arab Emirates</a:t>
            </a:r>
            <a:endParaRPr/>
          </a:p>
        </p:txBody>
      </p:sp>
      <p:sp>
        <p:nvSpPr>
          <p:cNvPr id="31" name="Shape">
            <a:extLst>
              <a:ext uri="{FF2B5EF4-FFF2-40B4-BE49-F238E27FC236}">
                <a16:creationId xmlns:a16="http://schemas.microsoft.com/office/drawing/2014/main" id="{44F54932-0D04-7182-525D-92AE69E3CF84}"/>
              </a:ext>
            </a:extLst>
          </p:cNvPr>
          <p:cNvSpPr/>
          <p:nvPr/>
        </p:nvSpPr>
        <p:spPr>
          <a:xfrm>
            <a:off x="3933748" y="213102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IT'S HERE! Spring Camp at Air Maniax (airmaniax)! We're diving into NON-STOP action with epic challenges, mind-blowing... Let's make this week LEGENDARY! #Ad #Dubai #AirManiax #MidtermCamp #ArabianCenter</a:t>
            </a:r>
            <a:endParaRPr/>
          </a:p>
        </p:txBody>
      </p:sp>
      <p:pic>
        <p:nvPicPr>
          <p:cNvPr id="32" name="Picture">
            <a:hlinkClick r:id="rId11"/>
            <a:extLst>
              <a:ext uri="{FF2B5EF4-FFF2-40B4-BE49-F238E27FC236}">
                <a16:creationId xmlns:a16="http://schemas.microsoft.com/office/drawing/2014/main" id="{99AAC8FF-79E4-DEEC-B973-AB8416A17BD2}"/>
              </a:ext>
            </a:extLst>
          </p:cNvPr>
          <p:cNvPicPr/>
          <p:nvPr/>
        </p:nvPicPr>
        <p:blipFill>
          <a:blip r:embed="rId12"/>
          <a:srcRect/>
          <a:stretch/>
        </p:blipFill>
        <p:spPr>
          <a:xfrm>
            <a:off x="7545065" y="1888195"/>
            <a:ext cx="781050" cy="781050"/>
          </a:xfrm>
          <a:prstGeom prst="rect">
            <a:avLst/>
          </a:prstGeom>
        </p:spPr>
      </p:pic>
      <p:sp>
        <p:nvSpPr>
          <p:cNvPr id="33" name="Shape">
            <a:extLst>
              <a:ext uri="{FF2B5EF4-FFF2-40B4-BE49-F238E27FC236}">
                <a16:creationId xmlns:a16="http://schemas.microsoft.com/office/drawing/2014/main" id="{348E95EC-6A8D-4307-F315-08BCCAD7FEF0}"/>
              </a:ext>
            </a:extLst>
          </p:cNvPr>
          <p:cNvSpPr/>
          <p:nvPr/>
        </p:nvSpPr>
        <p:spPr>
          <a:xfrm>
            <a:off x="8769307" y="2096937"/>
            <a:ext cx="1111622" cy="363564"/>
          </a:xfrm>
          <a:prstGeom prst="rect">
            <a:avLst/>
          </a:prstGeom>
        </p:spPr>
        <p:txBody>
          <a:bodyPr wrap="square" lIns="0" tIns="0" rIns="0">
            <a:noAutofit/>
          </a:bodyPr>
          <a:lstStyle/>
          <a:p>
            <a:pPr algn="ctr" fontAlgn="t">
              <a:defRPr sz="1200" b="1" i="0">
                <a:solidFill>
                  <a:srgbClr val="808080"/>
                </a:solidFill>
                <a:latin typeface="Arial"/>
              </a:defRPr>
            </a:pPr>
            <a:r>
              <a:t>33</a:t>
            </a:r>
          </a:p>
        </p:txBody>
      </p:sp>
      <p:sp>
        <p:nvSpPr>
          <p:cNvPr id="34" name="Shape">
            <a:extLst>
              <a:ext uri="{FF2B5EF4-FFF2-40B4-BE49-F238E27FC236}">
                <a16:creationId xmlns:a16="http://schemas.microsoft.com/office/drawing/2014/main" id="{B5E2C254-0B75-A953-23A5-1FC2D9D7D9B2}"/>
              </a:ext>
            </a:extLst>
          </p:cNvPr>
          <p:cNvSpPr/>
          <p:nvPr/>
        </p:nvSpPr>
        <p:spPr>
          <a:xfrm>
            <a:off x="8769307" y="2096937"/>
            <a:ext cx="1111622" cy="363564"/>
          </a:xfrm>
          <a:prstGeom prst="rect">
            <a:avLst/>
          </a:prstGeom>
        </p:spPr>
        <p:txBody>
          <a:bodyPr wrap="square" lIns="0" tIns="0" rIns="0">
            <a:noAutofit/>
          </a:bodyPr>
          <a:lstStyle/>
          <a:p>
            <a:pPr algn="ctr" fontAlgn="t">
              <a:defRPr sz="1200" b="1" i="0">
                <a:solidFill>
                  <a:srgbClr val="808080"/>
                </a:solidFill>
                <a:latin typeface="Arial"/>
              </a:defRPr>
            </a:pPr>
            <a:r>
              <a:t>33</a:t>
            </a:r>
          </a:p>
        </p:txBody>
      </p:sp>
      <p:sp>
        <p:nvSpPr>
          <p:cNvPr id="35" name="Shape">
            <a:extLst>
              <a:ext uri="{FF2B5EF4-FFF2-40B4-BE49-F238E27FC236}">
                <a16:creationId xmlns:a16="http://schemas.microsoft.com/office/drawing/2014/main" id="{09210DCC-DA9F-C859-7CBE-BC07CBF239D0}"/>
              </a:ext>
            </a:extLst>
          </p:cNvPr>
          <p:cNvSpPr/>
          <p:nvPr/>
        </p:nvSpPr>
        <p:spPr>
          <a:xfrm>
            <a:off x="10047672" y="183941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36" name="Shape">
            <a:extLst>
              <a:ext uri="{FF2B5EF4-FFF2-40B4-BE49-F238E27FC236}">
                <a16:creationId xmlns:a16="http://schemas.microsoft.com/office/drawing/2014/main" id="{E2BEE8BD-917F-A30F-73C0-8861DCF9BDB8}"/>
              </a:ext>
            </a:extLst>
          </p:cNvPr>
          <p:cNvSpPr/>
          <p:nvPr/>
        </p:nvSpPr>
        <p:spPr>
          <a:xfrm>
            <a:off x="10047672" y="199089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1.2M</a:t>
            </a:r>
          </a:p>
        </p:txBody>
      </p:sp>
      <p:sp>
        <p:nvSpPr>
          <p:cNvPr id="37" name="Shape">
            <a:extLst>
              <a:ext uri="{FF2B5EF4-FFF2-40B4-BE49-F238E27FC236}">
                <a16:creationId xmlns:a16="http://schemas.microsoft.com/office/drawing/2014/main" id="{7399522E-F34E-88CA-A824-3679D18559EB}"/>
              </a:ext>
            </a:extLst>
          </p:cNvPr>
          <p:cNvSpPr/>
          <p:nvPr/>
        </p:nvSpPr>
        <p:spPr>
          <a:xfrm>
            <a:off x="10047672" y="199089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1.2M</a:t>
            </a:r>
          </a:p>
        </p:txBody>
      </p:sp>
      <p:sp>
        <p:nvSpPr>
          <p:cNvPr id="38" name="Shape">
            <a:extLst>
              <a:ext uri="{FF2B5EF4-FFF2-40B4-BE49-F238E27FC236}">
                <a16:creationId xmlns:a16="http://schemas.microsoft.com/office/drawing/2014/main" id="{03161984-9397-E6E0-0B1C-6DA4D3A66B0C}"/>
              </a:ext>
            </a:extLst>
          </p:cNvPr>
          <p:cNvSpPr/>
          <p:nvPr/>
        </p:nvSpPr>
        <p:spPr>
          <a:xfrm>
            <a:off x="10047672" y="214238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32</a:t>
            </a:r>
          </a:p>
        </p:txBody>
      </p:sp>
      <p:sp>
        <p:nvSpPr>
          <p:cNvPr id="39" name="Shape">
            <a:extLst>
              <a:ext uri="{FF2B5EF4-FFF2-40B4-BE49-F238E27FC236}">
                <a16:creationId xmlns:a16="http://schemas.microsoft.com/office/drawing/2014/main" id="{C067D538-D178-D030-34B2-9C45982FE644}"/>
              </a:ext>
            </a:extLst>
          </p:cNvPr>
          <p:cNvSpPr/>
          <p:nvPr/>
        </p:nvSpPr>
        <p:spPr>
          <a:xfrm>
            <a:off x="10047672" y="214238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32</a:t>
            </a:r>
          </a:p>
        </p:txBody>
      </p:sp>
      <p:cxnSp>
        <p:nvCxnSpPr>
          <p:cNvPr id="40" name="Line 200: (537882, 3589823) - (11654110, 3589823)">
            <a:extLst>
              <a:ext uri="{FF2B5EF4-FFF2-40B4-BE49-F238E27FC236}">
                <a16:creationId xmlns:a16="http://schemas.microsoft.com/office/drawing/2014/main" id="{D0CCA14A-B3FF-5C6A-0D40-7DF2FC249B8F}"/>
              </a:ext>
            </a:extLst>
          </p:cNvPr>
          <p:cNvCxnSpPr/>
          <p:nvPr/>
        </p:nvCxnSpPr>
        <p:spPr>
          <a:xfrm>
            <a:off x="432137" y="2733175"/>
            <a:ext cx="11116228" cy="0"/>
          </a:xfrm>
          <a:prstGeom prst="line">
            <a:avLst/>
          </a:prstGeom>
          <a:ln w="12700">
            <a:solidFill>
              <a:srgbClr val="C7C7C7"/>
            </a:solidFill>
          </a:ln>
        </p:spPr>
      </p:cxnSp>
      <p:pic>
        <p:nvPicPr>
          <p:cNvPr id="41" name="Picture">
            <a:extLst>
              <a:ext uri="{FF2B5EF4-FFF2-40B4-BE49-F238E27FC236}">
                <a16:creationId xmlns:a16="http://schemas.microsoft.com/office/drawing/2014/main" id="{87621D18-5F91-E2E8-CFE8-30EBA7306049}"/>
              </a:ext>
            </a:extLst>
          </p:cNvPr>
          <p:cNvPicPr/>
          <p:nvPr/>
        </p:nvPicPr>
        <p:blipFill>
          <a:blip r:embed="rId2"/>
          <a:srcRect/>
          <a:stretch/>
        </p:blipFill>
        <p:spPr>
          <a:xfrm>
            <a:off x="546549" y="2817070"/>
            <a:ext cx="438150" cy="438150"/>
          </a:xfrm>
          <a:prstGeom prst="rect">
            <a:avLst/>
          </a:prstGeom>
        </p:spPr>
      </p:pic>
      <p:pic>
        <p:nvPicPr>
          <p:cNvPr id="42" name="Picture">
            <a:extLst>
              <a:ext uri="{FF2B5EF4-FFF2-40B4-BE49-F238E27FC236}">
                <a16:creationId xmlns:a16="http://schemas.microsoft.com/office/drawing/2014/main" id="{058575CA-3EED-7AD3-10DC-D27133FDFF01}"/>
              </a:ext>
            </a:extLst>
          </p:cNvPr>
          <p:cNvPicPr/>
          <p:nvPr/>
        </p:nvPicPr>
        <p:blipFill>
          <a:blip r:embed="rId3"/>
          <a:srcRect/>
          <a:stretch/>
        </p:blipFill>
        <p:spPr>
          <a:xfrm>
            <a:off x="854576" y="2799806"/>
            <a:ext cx="133350" cy="133350"/>
          </a:xfrm>
          <a:prstGeom prst="rect">
            <a:avLst/>
          </a:prstGeom>
        </p:spPr>
      </p:pic>
      <p:sp>
        <p:nvSpPr>
          <p:cNvPr id="43" name="Shape">
            <a:extLst>
              <a:ext uri="{FF2B5EF4-FFF2-40B4-BE49-F238E27FC236}">
                <a16:creationId xmlns:a16="http://schemas.microsoft.com/office/drawing/2014/main" id="{DDB5E9C1-D753-59A4-2729-DD5F7ED18224}"/>
              </a:ext>
            </a:extLst>
          </p:cNvPr>
          <p:cNvSpPr/>
          <p:nvPr/>
        </p:nvSpPr>
        <p:spPr>
          <a:xfrm>
            <a:off x="1121343" y="285436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arabiancenter</a:t>
            </a:r>
            <a:endParaRPr/>
          </a:p>
        </p:txBody>
      </p:sp>
      <p:sp>
        <p:nvSpPr>
          <p:cNvPr id="44" name="Shape">
            <a:extLst>
              <a:ext uri="{FF2B5EF4-FFF2-40B4-BE49-F238E27FC236}">
                <a16:creationId xmlns:a16="http://schemas.microsoft.com/office/drawing/2014/main" id="{1E347E39-0DBA-006B-CC39-7CFB10395F44}"/>
              </a:ext>
            </a:extLst>
          </p:cNvPr>
          <p:cNvSpPr/>
          <p:nvPr/>
        </p:nvSpPr>
        <p:spPr>
          <a:xfrm>
            <a:off x="1121343" y="313460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45" name="Shape">
            <a:extLst>
              <a:ext uri="{FF2B5EF4-FFF2-40B4-BE49-F238E27FC236}">
                <a16:creationId xmlns:a16="http://schemas.microsoft.com/office/drawing/2014/main" id="{2E6C197A-6322-2064-8B0C-E98D94551F32}"/>
              </a:ext>
            </a:extLst>
          </p:cNvPr>
          <p:cNvSpPr/>
          <p:nvPr/>
        </p:nvSpPr>
        <p:spPr>
          <a:xfrm>
            <a:off x="598880" y="336941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3"/>
              </a:rPr>
              <a:t>16/03/26 13:51</a:t>
            </a:r>
            <a:r>
              <a:t> | </a:t>
            </a:r>
            <a:r>
              <a:rPr lang="en" b="0" i="0"/>
              <a:t>United Arab Emirates</a:t>
            </a:r>
            <a:endParaRPr/>
          </a:p>
        </p:txBody>
      </p:sp>
      <p:sp>
        <p:nvSpPr>
          <p:cNvPr id="46" name="Shape">
            <a:extLst>
              <a:ext uri="{FF2B5EF4-FFF2-40B4-BE49-F238E27FC236}">
                <a16:creationId xmlns:a16="http://schemas.microsoft.com/office/drawing/2014/main" id="{0BE15214-90B1-2BCE-F283-16A11591386D}"/>
              </a:ext>
            </a:extLst>
          </p:cNvPr>
          <p:cNvSpPr/>
          <p:nvPr/>
        </p:nvSpPr>
        <p:spPr>
          <a:xfrm>
            <a:off x="3933748" y="303993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Discover the art of fragrance at Gissah Perfumes ✨ Explore a collection of luxurious scents crafted to leave a lasting impression, now at the Ground Floor, Arabian Center. #ArabianCenter #GissahPerfume #Lux...</a:t>
            </a:r>
            <a:endParaRPr/>
          </a:p>
        </p:txBody>
      </p:sp>
      <p:pic>
        <p:nvPicPr>
          <p:cNvPr id="47" name="Picture">
            <a:hlinkClick r:id="rId14"/>
            <a:extLst>
              <a:ext uri="{FF2B5EF4-FFF2-40B4-BE49-F238E27FC236}">
                <a16:creationId xmlns:a16="http://schemas.microsoft.com/office/drawing/2014/main" id="{D1BD9D59-7C76-3F58-5B80-80D78C66D0DD}"/>
              </a:ext>
            </a:extLst>
          </p:cNvPr>
          <p:cNvPicPr/>
          <p:nvPr/>
        </p:nvPicPr>
        <p:blipFill>
          <a:blip r:embed="rId15"/>
          <a:srcRect/>
          <a:stretch/>
        </p:blipFill>
        <p:spPr>
          <a:xfrm>
            <a:off x="7716515" y="2797105"/>
            <a:ext cx="438150" cy="781050"/>
          </a:xfrm>
          <a:prstGeom prst="rect">
            <a:avLst/>
          </a:prstGeom>
        </p:spPr>
      </p:pic>
      <p:sp>
        <p:nvSpPr>
          <p:cNvPr id="48" name="Shape">
            <a:extLst>
              <a:ext uri="{FF2B5EF4-FFF2-40B4-BE49-F238E27FC236}">
                <a16:creationId xmlns:a16="http://schemas.microsoft.com/office/drawing/2014/main" id="{3BE1BEC5-72EA-B51F-BEEB-7E14EFD408A7}"/>
              </a:ext>
            </a:extLst>
          </p:cNvPr>
          <p:cNvSpPr/>
          <p:nvPr/>
        </p:nvSpPr>
        <p:spPr>
          <a:xfrm>
            <a:off x="8769307" y="3005847"/>
            <a:ext cx="1111622" cy="363564"/>
          </a:xfrm>
          <a:prstGeom prst="rect">
            <a:avLst/>
          </a:prstGeom>
        </p:spPr>
        <p:txBody>
          <a:bodyPr wrap="square" lIns="0" tIns="0" rIns="0">
            <a:noAutofit/>
          </a:bodyPr>
          <a:lstStyle/>
          <a:p>
            <a:pPr algn="ctr" fontAlgn="t">
              <a:defRPr sz="1200" b="1" i="0">
                <a:solidFill>
                  <a:srgbClr val="808080"/>
                </a:solidFill>
                <a:latin typeface="Arial"/>
              </a:defRPr>
            </a:pPr>
            <a:r>
              <a:t>72</a:t>
            </a:r>
          </a:p>
        </p:txBody>
      </p:sp>
      <p:sp>
        <p:nvSpPr>
          <p:cNvPr id="49" name="Shape">
            <a:extLst>
              <a:ext uri="{FF2B5EF4-FFF2-40B4-BE49-F238E27FC236}">
                <a16:creationId xmlns:a16="http://schemas.microsoft.com/office/drawing/2014/main" id="{467630E3-DFB1-2A8C-30CA-11FFAB0A2223}"/>
              </a:ext>
            </a:extLst>
          </p:cNvPr>
          <p:cNvSpPr/>
          <p:nvPr/>
        </p:nvSpPr>
        <p:spPr>
          <a:xfrm>
            <a:off x="8769307" y="3005847"/>
            <a:ext cx="1111622" cy="363564"/>
          </a:xfrm>
          <a:prstGeom prst="rect">
            <a:avLst/>
          </a:prstGeom>
        </p:spPr>
        <p:txBody>
          <a:bodyPr wrap="square" lIns="0" tIns="0" rIns="0">
            <a:noAutofit/>
          </a:bodyPr>
          <a:lstStyle/>
          <a:p>
            <a:pPr algn="ctr" fontAlgn="t">
              <a:defRPr sz="1200" b="1" i="0">
                <a:solidFill>
                  <a:srgbClr val="808080"/>
                </a:solidFill>
                <a:latin typeface="Arial"/>
              </a:defRPr>
            </a:pPr>
            <a:r>
              <a:t>72</a:t>
            </a:r>
          </a:p>
        </p:txBody>
      </p:sp>
      <p:sp>
        <p:nvSpPr>
          <p:cNvPr id="50" name="Shape">
            <a:extLst>
              <a:ext uri="{FF2B5EF4-FFF2-40B4-BE49-F238E27FC236}">
                <a16:creationId xmlns:a16="http://schemas.microsoft.com/office/drawing/2014/main" id="{3ABEF66B-C680-9F87-EE8A-0DE42C52DB3E}"/>
              </a:ext>
            </a:extLst>
          </p:cNvPr>
          <p:cNvSpPr/>
          <p:nvPr/>
        </p:nvSpPr>
        <p:spPr>
          <a:xfrm>
            <a:off x="10047672" y="274832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51" name="Shape">
            <a:extLst>
              <a:ext uri="{FF2B5EF4-FFF2-40B4-BE49-F238E27FC236}">
                <a16:creationId xmlns:a16="http://schemas.microsoft.com/office/drawing/2014/main" id="{E266A385-C8D6-C60F-A50F-25D148DBECE4}"/>
              </a:ext>
            </a:extLst>
          </p:cNvPr>
          <p:cNvSpPr/>
          <p:nvPr/>
        </p:nvSpPr>
        <p:spPr>
          <a:xfrm>
            <a:off x="10047672" y="289980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33.4K</a:t>
            </a:r>
          </a:p>
        </p:txBody>
      </p:sp>
      <p:sp>
        <p:nvSpPr>
          <p:cNvPr id="52" name="Shape">
            <a:extLst>
              <a:ext uri="{FF2B5EF4-FFF2-40B4-BE49-F238E27FC236}">
                <a16:creationId xmlns:a16="http://schemas.microsoft.com/office/drawing/2014/main" id="{9D5CAA08-C62E-1C77-96DC-7D0D5B2F0A04}"/>
              </a:ext>
            </a:extLst>
          </p:cNvPr>
          <p:cNvSpPr/>
          <p:nvPr/>
        </p:nvSpPr>
        <p:spPr>
          <a:xfrm>
            <a:off x="10047672" y="289980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33.4K</a:t>
            </a:r>
          </a:p>
        </p:txBody>
      </p:sp>
      <p:sp>
        <p:nvSpPr>
          <p:cNvPr id="53" name="Shape">
            <a:extLst>
              <a:ext uri="{FF2B5EF4-FFF2-40B4-BE49-F238E27FC236}">
                <a16:creationId xmlns:a16="http://schemas.microsoft.com/office/drawing/2014/main" id="{7D16A708-5051-AF3B-CE85-10A63CCD2770}"/>
              </a:ext>
            </a:extLst>
          </p:cNvPr>
          <p:cNvSpPr/>
          <p:nvPr/>
        </p:nvSpPr>
        <p:spPr>
          <a:xfrm>
            <a:off x="10047672" y="305129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69</a:t>
            </a:r>
          </a:p>
        </p:txBody>
      </p:sp>
      <p:sp>
        <p:nvSpPr>
          <p:cNvPr id="54" name="Shape">
            <a:extLst>
              <a:ext uri="{FF2B5EF4-FFF2-40B4-BE49-F238E27FC236}">
                <a16:creationId xmlns:a16="http://schemas.microsoft.com/office/drawing/2014/main" id="{6E248DE4-614A-0E49-ADFE-51B759035764}"/>
              </a:ext>
            </a:extLst>
          </p:cNvPr>
          <p:cNvSpPr/>
          <p:nvPr/>
        </p:nvSpPr>
        <p:spPr>
          <a:xfrm>
            <a:off x="10047672" y="305129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69</a:t>
            </a:r>
          </a:p>
        </p:txBody>
      </p:sp>
      <p:cxnSp>
        <p:nvCxnSpPr>
          <p:cNvPr id="55" name="Line 200: (537882, 4498733) - (11654110, 4498733)">
            <a:extLst>
              <a:ext uri="{FF2B5EF4-FFF2-40B4-BE49-F238E27FC236}">
                <a16:creationId xmlns:a16="http://schemas.microsoft.com/office/drawing/2014/main" id="{E1B782E3-CC57-4F7E-8BDB-FB4E39569D30}"/>
              </a:ext>
            </a:extLst>
          </p:cNvPr>
          <p:cNvCxnSpPr/>
          <p:nvPr/>
        </p:nvCxnSpPr>
        <p:spPr>
          <a:xfrm>
            <a:off x="432137" y="3642085"/>
            <a:ext cx="11116228" cy="0"/>
          </a:xfrm>
          <a:prstGeom prst="line">
            <a:avLst/>
          </a:prstGeom>
          <a:ln w="12700">
            <a:solidFill>
              <a:srgbClr val="C7C7C7"/>
            </a:solidFill>
          </a:ln>
        </p:spPr>
      </p:cxnSp>
      <p:pic>
        <p:nvPicPr>
          <p:cNvPr id="56" name="Picture">
            <a:extLst>
              <a:ext uri="{FF2B5EF4-FFF2-40B4-BE49-F238E27FC236}">
                <a16:creationId xmlns:a16="http://schemas.microsoft.com/office/drawing/2014/main" id="{A983300F-15F2-8496-FA57-C185FCBD17A3}"/>
              </a:ext>
            </a:extLst>
          </p:cNvPr>
          <p:cNvPicPr/>
          <p:nvPr/>
        </p:nvPicPr>
        <p:blipFill>
          <a:blip r:embed="rId16"/>
          <a:srcRect/>
          <a:stretch/>
        </p:blipFill>
        <p:spPr>
          <a:xfrm>
            <a:off x="546549" y="3725980"/>
            <a:ext cx="438150" cy="438150"/>
          </a:xfrm>
          <a:prstGeom prst="rect">
            <a:avLst/>
          </a:prstGeom>
        </p:spPr>
      </p:pic>
      <p:pic>
        <p:nvPicPr>
          <p:cNvPr id="57" name="Picture">
            <a:extLst>
              <a:ext uri="{FF2B5EF4-FFF2-40B4-BE49-F238E27FC236}">
                <a16:creationId xmlns:a16="http://schemas.microsoft.com/office/drawing/2014/main" id="{DECC28BA-93C5-9B8C-E23F-F8AB558D83AF}"/>
              </a:ext>
            </a:extLst>
          </p:cNvPr>
          <p:cNvPicPr/>
          <p:nvPr/>
        </p:nvPicPr>
        <p:blipFill>
          <a:blip r:embed="rId3"/>
          <a:srcRect/>
          <a:stretch/>
        </p:blipFill>
        <p:spPr>
          <a:xfrm>
            <a:off x="854576" y="3708716"/>
            <a:ext cx="133350" cy="133350"/>
          </a:xfrm>
          <a:prstGeom prst="rect">
            <a:avLst/>
          </a:prstGeom>
        </p:spPr>
      </p:pic>
      <p:sp>
        <p:nvSpPr>
          <p:cNvPr id="58" name="Shape">
            <a:extLst>
              <a:ext uri="{FF2B5EF4-FFF2-40B4-BE49-F238E27FC236}">
                <a16:creationId xmlns:a16="http://schemas.microsoft.com/office/drawing/2014/main" id="{8B9BF770-479D-E24B-7FB9-4E7FA67A1BAE}"/>
              </a:ext>
            </a:extLst>
          </p:cNvPr>
          <p:cNvSpPr/>
          <p:nvPr/>
        </p:nvSpPr>
        <p:spPr>
          <a:xfrm>
            <a:off x="1121343" y="376327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7"/>
              </a:rPr>
              <a:t>arabian center (arabiancenter)</a:t>
            </a:r>
            <a:endParaRPr/>
          </a:p>
        </p:txBody>
      </p:sp>
      <p:sp>
        <p:nvSpPr>
          <p:cNvPr id="59" name="Shape">
            <a:extLst>
              <a:ext uri="{FF2B5EF4-FFF2-40B4-BE49-F238E27FC236}">
                <a16:creationId xmlns:a16="http://schemas.microsoft.com/office/drawing/2014/main" id="{5964B06B-DC99-1971-D3B0-0B1C4277D115}"/>
              </a:ext>
            </a:extLst>
          </p:cNvPr>
          <p:cNvSpPr/>
          <p:nvPr/>
        </p:nvSpPr>
        <p:spPr>
          <a:xfrm>
            <a:off x="1121343" y="404351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18"/>
              </a:rPr>
              <a:t>twitter.com</a:t>
            </a:r>
            <a:endParaRPr/>
          </a:p>
        </p:txBody>
      </p:sp>
      <p:sp>
        <p:nvSpPr>
          <p:cNvPr id="60" name="Shape">
            <a:extLst>
              <a:ext uri="{FF2B5EF4-FFF2-40B4-BE49-F238E27FC236}">
                <a16:creationId xmlns:a16="http://schemas.microsoft.com/office/drawing/2014/main" id="{54BA4493-01C6-2A40-26B8-5C845FDD29A7}"/>
              </a:ext>
            </a:extLst>
          </p:cNvPr>
          <p:cNvSpPr/>
          <p:nvPr/>
        </p:nvSpPr>
        <p:spPr>
          <a:xfrm>
            <a:off x="598880" y="427832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9"/>
              </a:rPr>
              <a:t>16/03/26 13:51</a:t>
            </a:r>
            <a:r>
              <a:t> | </a:t>
            </a:r>
            <a:r>
              <a:rPr lang="en" b="0" i="0"/>
              <a:t>United Arab Emirates</a:t>
            </a:r>
            <a:endParaRPr/>
          </a:p>
        </p:txBody>
      </p:sp>
      <p:sp>
        <p:nvSpPr>
          <p:cNvPr id="61" name="Shape">
            <a:extLst>
              <a:ext uri="{FF2B5EF4-FFF2-40B4-BE49-F238E27FC236}">
                <a16:creationId xmlns:a16="http://schemas.microsoft.com/office/drawing/2014/main" id="{A70EA0A7-242A-78AE-A8F3-177ADED53D2C}"/>
              </a:ext>
            </a:extLst>
          </p:cNvPr>
          <p:cNvSpPr/>
          <p:nvPr/>
        </p:nvSpPr>
        <p:spPr>
          <a:xfrm>
            <a:off x="3933748" y="394884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Discover the art of fragrance at Gissah Perfumes ✨ Explore a collection of luxurious scents crafted to leave a lasting impression, now at the Ground Floor, Arabian Center. #ArabianCenter #GissahPerfume #Lu...</a:t>
            </a:r>
            <a:endParaRPr/>
          </a:p>
        </p:txBody>
      </p:sp>
      <p:pic>
        <p:nvPicPr>
          <p:cNvPr id="62" name="Picture">
            <a:hlinkClick r:id="rId20"/>
            <a:extLst>
              <a:ext uri="{FF2B5EF4-FFF2-40B4-BE49-F238E27FC236}">
                <a16:creationId xmlns:a16="http://schemas.microsoft.com/office/drawing/2014/main" id="{FB09D6BB-845D-75A3-9C2E-A6DA3C99FF0C}"/>
              </a:ext>
            </a:extLst>
          </p:cNvPr>
          <p:cNvPicPr/>
          <p:nvPr/>
        </p:nvPicPr>
        <p:blipFill>
          <a:blip r:embed="rId21"/>
          <a:srcRect/>
          <a:stretch/>
        </p:blipFill>
        <p:spPr>
          <a:xfrm>
            <a:off x="7716515" y="3706015"/>
            <a:ext cx="438150" cy="781050"/>
          </a:xfrm>
          <a:prstGeom prst="rect">
            <a:avLst/>
          </a:prstGeom>
        </p:spPr>
      </p:pic>
      <p:sp>
        <p:nvSpPr>
          <p:cNvPr id="63" name="Shape">
            <a:extLst>
              <a:ext uri="{FF2B5EF4-FFF2-40B4-BE49-F238E27FC236}">
                <a16:creationId xmlns:a16="http://schemas.microsoft.com/office/drawing/2014/main" id="{32DD90EA-3432-3D67-F6E1-98667A7783B5}"/>
              </a:ext>
            </a:extLst>
          </p:cNvPr>
          <p:cNvSpPr/>
          <p:nvPr/>
        </p:nvSpPr>
        <p:spPr>
          <a:xfrm>
            <a:off x="8769307" y="3914757"/>
            <a:ext cx="1111622" cy="363564"/>
          </a:xfrm>
          <a:prstGeom prst="rect">
            <a:avLst/>
          </a:prstGeom>
        </p:spPr>
        <p:txBody>
          <a:bodyPr wrap="square" lIns="0" tIns="0" rIns="0">
            <a:noAutofit/>
          </a:bodyPr>
          <a:lstStyle/>
          <a:p>
            <a:pPr algn="ctr" fontAlgn="t">
              <a:defRPr sz="1200" b="1" i="0">
                <a:solidFill>
                  <a:srgbClr val="808080"/>
                </a:solidFill>
                <a:latin typeface="Arial"/>
              </a:defRPr>
            </a:pPr>
            <a:r>
              <a:t>4</a:t>
            </a:r>
          </a:p>
        </p:txBody>
      </p:sp>
      <p:sp>
        <p:nvSpPr>
          <p:cNvPr id="64" name="Shape">
            <a:extLst>
              <a:ext uri="{FF2B5EF4-FFF2-40B4-BE49-F238E27FC236}">
                <a16:creationId xmlns:a16="http://schemas.microsoft.com/office/drawing/2014/main" id="{4CE2D929-05B7-76CB-3AAD-FC82D49DFEDD}"/>
              </a:ext>
            </a:extLst>
          </p:cNvPr>
          <p:cNvSpPr/>
          <p:nvPr/>
        </p:nvSpPr>
        <p:spPr>
          <a:xfrm>
            <a:off x="8769307" y="3914757"/>
            <a:ext cx="1111622" cy="363564"/>
          </a:xfrm>
          <a:prstGeom prst="rect">
            <a:avLst/>
          </a:prstGeom>
        </p:spPr>
        <p:txBody>
          <a:bodyPr wrap="square" lIns="0" tIns="0" rIns="0">
            <a:noAutofit/>
          </a:bodyPr>
          <a:lstStyle/>
          <a:p>
            <a:pPr algn="ctr" fontAlgn="t">
              <a:defRPr sz="1200" b="1" i="0">
                <a:solidFill>
                  <a:srgbClr val="808080"/>
                </a:solidFill>
                <a:latin typeface="Arial"/>
              </a:defRPr>
            </a:pPr>
            <a:r>
              <a:t>4</a:t>
            </a:r>
          </a:p>
        </p:txBody>
      </p:sp>
      <p:sp>
        <p:nvSpPr>
          <p:cNvPr id="65" name="Shape">
            <a:extLst>
              <a:ext uri="{FF2B5EF4-FFF2-40B4-BE49-F238E27FC236}">
                <a16:creationId xmlns:a16="http://schemas.microsoft.com/office/drawing/2014/main" id="{6D793418-E8FE-D0FE-78F8-9C5E0FA90561}"/>
              </a:ext>
            </a:extLst>
          </p:cNvPr>
          <p:cNvSpPr/>
          <p:nvPr/>
        </p:nvSpPr>
        <p:spPr>
          <a:xfrm>
            <a:off x="10047672" y="365723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66" name="Shape">
            <a:extLst>
              <a:ext uri="{FF2B5EF4-FFF2-40B4-BE49-F238E27FC236}">
                <a16:creationId xmlns:a16="http://schemas.microsoft.com/office/drawing/2014/main" id="{87045A72-F696-F264-0F1B-FEF03432C62F}"/>
              </a:ext>
            </a:extLst>
          </p:cNvPr>
          <p:cNvSpPr/>
          <p:nvPr/>
        </p:nvSpPr>
        <p:spPr>
          <a:xfrm>
            <a:off x="10047672" y="3808718"/>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67" name="Shape">
            <a:extLst>
              <a:ext uri="{FF2B5EF4-FFF2-40B4-BE49-F238E27FC236}">
                <a16:creationId xmlns:a16="http://schemas.microsoft.com/office/drawing/2014/main" id="{8972BB1B-D8BB-9460-3167-F94683785F95}"/>
              </a:ext>
            </a:extLst>
          </p:cNvPr>
          <p:cNvSpPr/>
          <p:nvPr/>
        </p:nvSpPr>
        <p:spPr>
          <a:xfrm>
            <a:off x="10047672" y="3808718"/>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68" name="Shape">
            <a:extLst>
              <a:ext uri="{FF2B5EF4-FFF2-40B4-BE49-F238E27FC236}">
                <a16:creationId xmlns:a16="http://schemas.microsoft.com/office/drawing/2014/main" id="{65ED630A-6920-5366-D566-CDF431E2E0B9}"/>
              </a:ext>
            </a:extLst>
          </p:cNvPr>
          <p:cNvSpPr/>
          <p:nvPr/>
        </p:nvSpPr>
        <p:spPr>
          <a:xfrm>
            <a:off x="10047672" y="3960203"/>
            <a:ext cx="1500690" cy="121188"/>
          </a:xfrm>
          <a:prstGeom prst="rect">
            <a:avLst/>
          </a:prstGeom>
        </p:spPr>
        <p:txBody>
          <a:bodyPr wrap="square" lIns="0" tIns="0" rIns="0">
            <a:noAutofit/>
          </a:bodyPr>
          <a:lstStyle/>
          <a:p>
            <a:pPr algn="l" fontAlgn="t">
              <a:defRPr sz="800" b="0" i="0">
                <a:solidFill>
                  <a:srgbClr val="808080"/>
                </a:solidFill>
                <a:latin typeface="Arial"/>
              </a:defRPr>
            </a:pPr>
            <a:r>
              <a:t>X Likes 4</a:t>
            </a:r>
          </a:p>
        </p:txBody>
      </p:sp>
      <p:sp>
        <p:nvSpPr>
          <p:cNvPr id="69" name="Shape">
            <a:extLst>
              <a:ext uri="{FF2B5EF4-FFF2-40B4-BE49-F238E27FC236}">
                <a16:creationId xmlns:a16="http://schemas.microsoft.com/office/drawing/2014/main" id="{654EF88B-D9B0-976E-639B-0280479D0610}"/>
              </a:ext>
            </a:extLst>
          </p:cNvPr>
          <p:cNvSpPr/>
          <p:nvPr/>
        </p:nvSpPr>
        <p:spPr>
          <a:xfrm>
            <a:off x="10047672" y="3960203"/>
            <a:ext cx="1500690" cy="121188"/>
          </a:xfrm>
          <a:prstGeom prst="rect">
            <a:avLst/>
          </a:prstGeom>
        </p:spPr>
        <p:txBody>
          <a:bodyPr wrap="square" lIns="0" tIns="0" rIns="0">
            <a:noAutofit/>
          </a:bodyPr>
          <a:lstStyle/>
          <a:p>
            <a:pPr algn="l" fontAlgn="t">
              <a:defRPr sz="800" b="0" i="0">
                <a:solidFill>
                  <a:srgbClr val="808080"/>
                </a:solidFill>
                <a:latin typeface="Arial"/>
              </a:defRPr>
            </a:pPr>
            <a:r>
              <a:t>X Likes 4</a:t>
            </a:r>
          </a:p>
        </p:txBody>
      </p:sp>
      <p:sp>
        <p:nvSpPr>
          <p:cNvPr id="70" name="Shape">
            <a:extLst>
              <a:ext uri="{FF2B5EF4-FFF2-40B4-BE49-F238E27FC236}">
                <a16:creationId xmlns:a16="http://schemas.microsoft.com/office/drawing/2014/main" id="{51FBCE47-5DED-1F2E-465D-8BDD7A9E8118}"/>
              </a:ext>
            </a:extLst>
          </p:cNvPr>
          <p:cNvSpPr/>
          <p:nvPr/>
        </p:nvSpPr>
        <p:spPr>
          <a:xfrm>
            <a:off x="10047672" y="4111688"/>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71" name="Shape">
            <a:extLst>
              <a:ext uri="{FF2B5EF4-FFF2-40B4-BE49-F238E27FC236}">
                <a16:creationId xmlns:a16="http://schemas.microsoft.com/office/drawing/2014/main" id="{4CC6D401-D25A-DF54-E45E-69F3CD3A1565}"/>
              </a:ext>
            </a:extLst>
          </p:cNvPr>
          <p:cNvSpPr/>
          <p:nvPr/>
        </p:nvSpPr>
        <p:spPr>
          <a:xfrm>
            <a:off x="10047672" y="4111688"/>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72" name="Shape">
            <a:extLst>
              <a:ext uri="{FF2B5EF4-FFF2-40B4-BE49-F238E27FC236}">
                <a16:creationId xmlns:a16="http://schemas.microsoft.com/office/drawing/2014/main" id="{58092AE8-53A6-5CD1-52E4-9358A8197080}"/>
              </a:ext>
            </a:extLst>
          </p:cNvPr>
          <p:cNvSpPr/>
          <p:nvPr/>
        </p:nvSpPr>
        <p:spPr>
          <a:xfrm>
            <a:off x="10047672" y="4263173"/>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71</a:t>
            </a:r>
          </a:p>
        </p:txBody>
      </p:sp>
      <p:sp>
        <p:nvSpPr>
          <p:cNvPr id="73" name="Shape">
            <a:extLst>
              <a:ext uri="{FF2B5EF4-FFF2-40B4-BE49-F238E27FC236}">
                <a16:creationId xmlns:a16="http://schemas.microsoft.com/office/drawing/2014/main" id="{4DA22756-D1C8-3BB7-B1B3-887891EB9F42}"/>
              </a:ext>
            </a:extLst>
          </p:cNvPr>
          <p:cNvSpPr/>
          <p:nvPr/>
        </p:nvSpPr>
        <p:spPr>
          <a:xfrm>
            <a:off x="10047672" y="4263173"/>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71</a:t>
            </a:r>
          </a:p>
        </p:txBody>
      </p:sp>
      <p:cxnSp>
        <p:nvCxnSpPr>
          <p:cNvPr id="74" name="Line 200: (537882, 5407643) - (11654110, 5407643)">
            <a:extLst>
              <a:ext uri="{FF2B5EF4-FFF2-40B4-BE49-F238E27FC236}">
                <a16:creationId xmlns:a16="http://schemas.microsoft.com/office/drawing/2014/main" id="{E55F480E-D160-2411-D45C-6B3F62BC27C7}"/>
              </a:ext>
            </a:extLst>
          </p:cNvPr>
          <p:cNvCxnSpPr/>
          <p:nvPr/>
        </p:nvCxnSpPr>
        <p:spPr>
          <a:xfrm>
            <a:off x="432137" y="4550995"/>
            <a:ext cx="11116228" cy="0"/>
          </a:xfrm>
          <a:prstGeom prst="line">
            <a:avLst/>
          </a:prstGeom>
          <a:ln w="12700">
            <a:solidFill>
              <a:srgbClr val="C7C7C7"/>
            </a:solidFill>
          </a:ln>
        </p:spPr>
      </p:cxnSp>
      <p:pic>
        <p:nvPicPr>
          <p:cNvPr id="75" name="Picture">
            <a:extLst>
              <a:ext uri="{FF2B5EF4-FFF2-40B4-BE49-F238E27FC236}">
                <a16:creationId xmlns:a16="http://schemas.microsoft.com/office/drawing/2014/main" id="{AD491CE5-176A-E162-11DA-5A07F83172DD}"/>
              </a:ext>
            </a:extLst>
          </p:cNvPr>
          <p:cNvPicPr/>
          <p:nvPr/>
        </p:nvPicPr>
        <p:blipFill>
          <a:blip r:embed="rId2"/>
          <a:srcRect/>
          <a:stretch/>
        </p:blipFill>
        <p:spPr>
          <a:xfrm>
            <a:off x="546549" y="4634890"/>
            <a:ext cx="438150" cy="438150"/>
          </a:xfrm>
          <a:prstGeom prst="rect">
            <a:avLst/>
          </a:prstGeom>
        </p:spPr>
      </p:pic>
      <p:pic>
        <p:nvPicPr>
          <p:cNvPr id="76" name="Picture">
            <a:extLst>
              <a:ext uri="{FF2B5EF4-FFF2-40B4-BE49-F238E27FC236}">
                <a16:creationId xmlns:a16="http://schemas.microsoft.com/office/drawing/2014/main" id="{36E96002-2146-494B-567C-9718393472F7}"/>
              </a:ext>
            </a:extLst>
          </p:cNvPr>
          <p:cNvPicPr/>
          <p:nvPr/>
        </p:nvPicPr>
        <p:blipFill>
          <a:blip r:embed="rId3"/>
          <a:srcRect/>
          <a:stretch/>
        </p:blipFill>
        <p:spPr>
          <a:xfrm>
            <a:off x="854576" y="4617626"/>
            <a:ext cx="133350" cy="133350"/>
          </a:xfrm>
          <a:prstGeom prst="rect">
            <a:avLst/>
          </a:prstGeom>
        </p:spPr>
      </p:pic>
      <p:sp>
        <p:nvSpPr>
          <p:cNvPr id="77" name="Shape">
            <a:extLst>
              <a:ext uri="{FF2B5EF4-FFF2-40B4-BE49-F238E27FC236}">
                <a16:creationId xmlns:a16="http://schemas.microsoft.com/office/drawing/2014/main" id="{7E0485AA-F08C-EAF3-FD87-8ECE144B136A}"/>
              </a:ext>
            </a:extLst>
          </p:cNvPr>
          <p:cNvSpPr/>
          <p:nvPr/>
        </p:nvSpPr>
        <p:spPr>
          <a:xfrm>
            <a:off x="1121343" y="467218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arabiancenter</a:t>
            </a:r>
            <a:endParaRPr/>
          </a:p>
        </p:txBody>
      </p:sp>
      <p:sp>
        <p:nvSpPr>
          <p:cNvPr id="78" name="Shape">
            <a:extLst>
              <a:ext uri="{FF2B5EF4-FFF2-40B4-BE49-F238E27FC236}">
                <a16:creationId xmlns:a16="http://schemas.microsoft.com/office/drawing/2014/main" id="{EA4FEBDD-9E3A-02EA-6123-800567347C69}"/>
              </a:ext>
            </a:extLst>
          </p:cNvPr>
          <p:cNvSpPr/>
          <p:nvPr/>
        </p:nvSpPr>
        <p:spPr>
          <a:xfrm>
            <a:off x="1121343" y="495242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79" name="Shape">
            <a:extLst>
              <a:ext uri="{FF2B5EF4-FFF2-40B4-BE49-F238E27FC236}">
                <a16:creationId xmlns:a16="http://schemas.microsoft.com/office/drawing/2014/main" id="{932FE150-3EB2-47ED-F5D1-E24FD2EEA3A6}"/>
              </a:ext>
            </a:extLst>
          </p:cNvPr>
          <p:cNvSpPr/>
          <p:nvPr/>
        </p:nvSpPr>
        <p:spPr>
          <a:xfrm>
            <a:off x="598880" y="518723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2"/>
              </a:rPr>
              <a:t>17/03/26 11:56</a:t>
            </a:r>
            <a:r>
              <a:t> | </a:t>
            </a:r>
            <a:r>
              <a:rPr lang="en" b="0" i="0"/>
              <a:t>United Arab Emirates</a:t>
            </a:r>
            <a:endParaRPr/>
          </a:p>
        </p:txBody>
      </p:sp>
      <p:sp>
        <p:nvSpPr>
          <p:cNvPr id="80" name="Shape">
            <a:extLst>
              <a:ext uri="{FF2B5EF4-FFF2-40B4-BE49-F238E27FC236}">
                <a16:creationId xmlns:a16="http://schemas.microsoft.com/office/drawing/2014/main" id="{C96F72BC-C000-201B-7FAB-C43098D00040}"/>
              </a:ext>
            </a:extLst>
          </p:cNvPr>
          <p:cNvSpPr/>
          <p:nvPr/>
        </p:nvSpPr>
        <p:spPr>
          <a:xfrm>
            <a:off x="3933748" y="485775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Celebrate Mother’s Day &amp; Win 💖 Describe your mom in ONE line and stand a chance to win a luxurious beauty package this ... line that describes your mom 2️⃣ Follow arabiancenter &amp; senioritauae 3️⃣ Tag 3 fr...</a:t>
            </a:r>
            <a:endParaRPr/>
          </a:p>
        </p:txBody>
      </p:sp>
      <p:pic>
        <p:nvPicPr>
          <p:cNvPr id="81" name="Picture">
            <a:hlinkClick r:id="rId23"/>
            <a:extLst>
              <a:ext uri="{FF2B5EF4-FFF2-40B4-BE49-F238E27FC236}">
                <a16:creationId xmlns:a16="http://schemas.microsoft.com/office/drawing/2014/main" id="{A69A4A9D-022D-4B38-5C15-5AE0B5CF6F19}"/>
              </a:ext>
            </a:extLst>
          </p:cNvPr>
          <p:cNvPicPr/>
          <p:nvPr/>
        </p:nvPicPr>
        <p:blipFill>
          <a:blip r:embed="rId24"/>
          <a:srcRect/>
          <a:stretch/>
        </p:blipFill>
        <p:spPr>
          <a:xfrm>
            <a:off x="7716515" y="4614925"/>
            <a:ext cx="438150" cy="781050"/>
          </a:xfrm>
          <a:prstGeom prst="rect">
            <a:avLst/>
          </a:prstGeom>
        </p:spPr>
      </p:pic>
      <p:sp>
        <p:nvSpPr>
          <p:cNvPr id="82" name="Shape">
            <a:extLst>
              <a:ext uri="{FF2B5EF4-FFF2-40B4-BE49-F238E27FC236}">
                <a16:creationId xmlns:a16="http://schemas.microsoft.com/office/drawing/2014/main" id="{AAB3CF89-7355-16DD-8413-3B8EACA50CBB}"/>
              </a:ext>
            </a:extLst>
          </p:cNvPr>
          <p:cNvSpPr/>
          <p:nvPr/>
        </p:nvSpPr>
        <p:spPr>
          <a:xfrm>
            <a:off x="8769307" y="4823667"/>
            <a:ext cx="1111622" cy="363564"/>
          </a:xfrm>
          <a:prstGeom prst="rect">
            <a:avLst/>
          </a:prstGeom>
        </p:spPr>
        <p:txBody>
          <a:bodyPr wrap="square" lIns="0" tIns="0" rIns="0">
            <a:noAutofit/>
          </a:bodyPr>
          <a:lstStyle/>
          <a:p>
            <a:pPr algn="ctr" fontAlgn="t">
              <a:defRPr sz="1200" b="1" i="0">
                <a:solidFill>
                  <a:srgbClr val="808080"/>
                </a:solidFill>
                <a:latin typeface="Arial"/>
              </a:defRPr>
            </a:pPr>
            <a:r>
              <a:t>388</a:t>
            </a:r>
          </a:p>
        </p:txBody>
      </p:sp>
      <p:sp>
        <p:nvSpPr>
          <p:cNvPr id="83" name="Shape">
            <a:extLst>
              <a:ext uri="{FF2B5EF4-FFF2-40B4-BE49-F238E27FC236}">
                <a16:creationId xmlns:a16="http://schemas.microsoft.com/office/drawing/2014/main" id="{96DDC9F0-468F-0424-1E2F-F28323C0F9D4}"/>
              </a:ext>
            </a:extLst>
          </p:cNvPr>
          <p:cNvSpPr/>
          <p:nvPr/>
        </p:nvSpPr>
        <p:spPr>
          <a:xfrm>
            <a:off x="8769307" y="4823667"/>
            <a:ext cx="1111622" cy="363564"/>
          </a:xfrm>
          <a:prstGeom prst="rect">
            <a:avLst/>
          </a:prstGeom>
        </p:spPr>
        <p:txBody>
          <a:bodyPr wrap="square" lIns="0" tIns="0" rIns="0">
            <a:noAutofit/>
          </a:bodyPr>
          <a:lstStyle/>
          <a:p>
            <a:pPr algn="ctr" fontAlgn="t">
              <a:defRPr sz="1200" b="1" i="0">
                <a:solidFill>
                  <a:srgbClr val="808080"/>
                </a:solidFill>
                <a:latin typeface="Arial"/>
              </a:defRPr>
            </a:pPr>
            <a:r>
              <a:t>388</a:t>
            </a:r>
          </a:p>
        </p:txBody>
      </p:sp>
      <p:sp>
        <p:nvSpPr>
          <p:cNvPr id="84" name="Shape">
            <a:extLst>
              <a:ext uri="{FF2B5EF4-FFF2-40B4-BE49-F238E27FC236}">
                <a16:creationId xmlns:a16="http://schemas.microsoft.com/office/drawing/2014/main" id="{B5AA7058-CD2A-D48F-1E6A-424E65807B51}"/>
              </a:ext>
            </a:extLst>
          </p:cNvPr>
          <p:cNvSpPr/>
          <p:nvPr/>
        </p:nvSpPr>
        <p:spPr>
          <a:xfrm>
            <a:off x="10047672" y="456614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85" name="Shape">
            <a:extLst>
              <a:ext uri="{FF2B5EF4-FFF2-40B4-BE49-F238E27FC236}">
                <a16:creationId xmlns:a16="http://schemas.microsoft.com/office/drawing/2014/main" id="{41A32B88-9579-AAF8-4E40-B62F1B8C89A2}"/>
              </a:ext>
            </a:extLst>
          </p:cNvPr>
          <p:cNvSpPr/>
          <p:nvPr/>
        </p:nvSpPr>
        <p:spPr>
          <a:xfrm>
            <a:off x="10047672" y="471762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33.4K</a:t>
            </a:r>
          </a:p>
        </p:txBody>
      </p:sp>
      <p:sp>
        <p:nvSpPr>
          <p:cNvPr id="86" name="Shape">
            <a:extLst>
              <a:ext uri="{FF2B5EF4-FFF2-40B4-BE49-F238E27FC236}">
                <a16:creationId xmlns:a16="http://schemas.microsoft.com/office/drawing/2014/main" id="{04B5770D-1172-7E7F-7A7E-BF448B341F66}"/>
              </a:ext>
            </a:extLst>
          </p:cNvPr>
          <p:cNvSpPr/>
          <p:nvPr/>
        </p:nvSpPr>
        <p:spPr>
          <a:xfrm>
            <a:off x="10047672" y="471762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33.4K</a:t>
            </a:r>
          </a:p>
        </p:txBody>
      </p:sp>
      <p:sp>
        <p:nvSpPr>
          <p:cNvPr id="87" name="Shape">
            <a:extLst>
              <a:ext uri="{FF2B5EF4-FFF2-40B4-BE49-F238E27FC236}">
                <a16:creationId xmlns:a16="http://schemas.microsoft.com/office/drawing/2014/main" id="{9DE83515-493F-E99C-4E65-79F84DA3CA99}"/>
              </a:ext>
            </a:extLst>
          </p:cNvPr>
          <p:cNvSpPr/>
          <p:nvPr/>
        </p:nvSpPr>
        <p:spPr>
          <a:xfrm>
            <a:off x="10047672" y="486911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149</a:t>
            </a:r>
          </a:p>
        </p:txBody>
      </p:sp>
      <p:sp>
        <p:nvSpPr>
          <p:cNvPr id="88" name="Shape">
            <a:extLst>
              <a:ext uri="{FF2B5EF4-FFF2-40B4-BE49-F238E27FC236}">
                <a16:creationId xmlns:a16="http://schemas.microsoft.com/office/drawing/2014/main" id="{40559655-2BC3-C707-CBBA-0554BE22E38E}"/>
              </a:ext>
            </a:extLst>
          </p:cNvPr>
          <p:cNvSpPr/>
          <p:nvPr/>
        </p:nvSpPr>
        <p:spPr>
          <a:xfrm>
            <a:off x="10047672" y="486911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149</a:t>
            </a:r>
          </a:p>
        </p:txBody>
      </p:sp>
      <p:cxnSp>
        <p:nvCxnSpPr>
          <p:cNvPr id="89" name="Line 200: (537882, 6316553) - (11654110, 6316553)">
            <a:extLst>
              <a:ext uri="{FF2B5EF4-FFF2-40B4-BE49-F238E27FC236}">
                <a16:creationId xmlns:a16="http://schemas.microsoft.com/office/drawing/2014/main" id="{CBB9A8EC-6AFD-99CF-FA6B-0892B69260FF}"/>
              </a:ext>
            </a:extLst>
          </p:cNvPr>
          <p:cNvCxnSpPr/>
          <p:nvPr/>
        </p:nvCxnSpPr>
        <p:spPr>
          <a:xfrm>
            <a:off x="432137" y="5459905"/>
            <a:ext cx="11116228" cy="0"/>
          </a:xfrm>
          <a:prstGeom prst="line">
            <a:avLst/>
          </a:prstGeom>
          <a:ln w="12700">
            <a:solidFill>
              <a:srgbClr val="C7C7C7"/>
            </a:solidFill>
          </a:ln>
        </p:spPr>
      </p:cxnSp>
    </p:spTree>
    <p:extLst>
      <p:ext uri="{BB962C8B-B14F-4D97-AF65-F5344CB8AC3E}">
        <p14:creationId xmlns:p14="http://schemas.microsoft.com/office/powerpoint/2010/main" val="2249379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B1AF9-972D-C7B5-ABEE-A0EEE71CB0F0}"/>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9A066F05-7B5C-7440-C213-823D5F3620A8}"/>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27EE8307-EFE1-D20C-44A9-6959E6A9B4FA}"/>
              </a:ext>
            </a:extLst>
          </p:cNvPr>
          <p:cNvCxnSpPr/>
          <p:nvPr/>
        </p:nvCxnSpPr>
        <p:spPr>
          <a:xfrm>
            <a:off x="432137" y="1098235"/>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C2D0BE90-51E1-2EC8-D724-EC85989E337B}"/>
              </a:ext>
            </a:extLst>
          </p:cNvPr>
          <p:cNvSpPr/>
          <p:nvPr/>
        </p:nvSpPr>
        <p:spPr>
          <a:xfrm>
            <a:off x="765623" y="882967"/>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1F8C0B1C-AE9A-97A2-0AF0-C9978ADCFE4E}"/>
              </a:ext>
            </a:extLst>
          </p:cNvPr>
          <p:cNvCxnSpPr/>
          <p:nvPr/>
        </p:nvCxnSpPr>
        <p:spPr>
          <a:xfrm>
            <a:off x="3767005" y="859049"/>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05D07A3C-F987-F301-1F2F-B6C5C2C880D5}"/>
              </a:ext>
            </a:extLst>
          </p:cNvPr>
          <p:cNvSpPr/>
          <p:nvPr/>
        </p:nvSpPr>
        <p:spPr>
          <a:xfrm>
            <a:off x="4100491" y="882967"/>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9C29407D-093E-37F5-15E1-E941449ABF00}"/>
              </a:ext>
            </a:extLst>
          </p:cNvPr>
          <p:cNvCxnSpPr/>
          <p:nvPr/>
        </p:nvCxnSpPr>
        <p:spPr>
          <a:xfrm>
            <a:off x="8769307" y="859049"/>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121767B7-9203-9FC8-BBB5-780B7445CAB7}"/>
              </a:ext>
            </a:extLst>
          </p:cNvPr>
          <p:cNvSpPr/>
          <p:nvPr/>
        </p:nvSpPr>
        <p:spPr>
          <a:xfrm>
            <a:off x="8880469" y="882967"/>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3350D609-C1B5-A79F-785A-F30527DBEBA2}"/>
              </a:ext>
            </a:extLst>
          </p:cNvPr>
          <p:cNvCxnSpPr/>
          <p:nvPr/>
        </p:nvCxnSpPr>
        <p:spPr>
          <a:xfrm>
            <a:off x="9880929" y="859049"/>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D99B6DF7-EBCE-7FE0-A76A-7A6D305EC983}"/>
              </a:ext>
            </a:extLst>
          </p:cNvPr>
          <p:cNvSpPr/>
          <p:nvPr/>
        </p:nvSpPr>
        <p:spPr>
          <a:xfrm>
            <a:off x="10047672" y="882967"/>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282A3E1D-0F5E-2B54-6A34-98FB1B26D8FE}"/>
              </a:ext>
            </a:extLst>
          </p:cNvPr>
          <p:cNvPicPr/>
          <p:nvPr/>
        </p:nvPicPr>
        <p:blipFill>
          <a:blip r:embed="rId2"/>
          <a:srcRect/>
          <a:stretch/>
        </p:blipFill>
        <p:spPr>
          <a:xfrm>
            <a:off x="546549" y="1182130"/>
            <a:ext cx="438150" cy="438150"/>
          </a:xfrm>
          <a:prstGeom prst="rect">
            <a:avLst/>
          </a:prstGeom>
        </p:spPr>
      </p:pic>
      <p:pic>
        <p:nvPicPr>
          <p:cNvPr id="12" name="Picture">
            <a:extLst>
              <a:ext uri="{FF2B5EF4-FFF2-40B4-BE49-F238E27FC236}">
                <a16:creationId xmlns:a16="http://schemas.microsoft.com/office/drawing/2014/main" id="{DDF0A469-1589-D39A-2456-46245512DEC0}"/>
              </a:ext>
            </a:extLst>
          </p:cNvPr>
          <p:cNvPicPr/>
          <p:nvPr/>
        </p:nvPicPr>
        <p:blipFill>
          <a:blip r:embed="rId3"/>
          <a:srcRect/>
          <a:stretch/>
        </p:blipFill>
        <p:spPr>
          <a:xfrm>
            <a:off x="854576" y="1164866"/>
            <a:ext cx="133350" cy="133350"/>
          </a:xfrm>
          <a:prstGeom prst="rect">
            <a:avLst/>
          </a:prstGeom>
        </p:spPr>
      </p:pic>
      <p:sp>
        <p:nvSpPr>
          <p:cNvPr id="13" name="Shape">
            <a:extLst>
              <a:ext uri="{FF2B5EF4-FFF2-40B4-BE49-F238E27FC236}">
                <a16:creationId xmlns:a16="http://schemas.microsoft.com/office/drawing/2014/main" id="{FF272DD1-3A03-B3FD-48BD-2FA65EBF0BD6}"/>
              </a:ext>
            </a:extLst>
          </p:cNvPr>
          <p:cNvSpPr/>
          <p:nvPr/>
        </p:nvSpPr>
        <p:spPr>
          <a:xfrm>
            <a:off x="1121343" y="121942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 center (arabiancenter)</a:t>
            </a:r>
            <a:endParaRPr/>
          </a:p>
        </p:txBody>
      </p:sp>
      <p:sp>
        <p:nvSpPr>
          <p:cNvPr id="14" name="Shape">
            <a:extLst>
              <a:ext uri="{FF2B5EF4-FFF2-40B4-BE49-F238E27FC236}">
                <a16:creationId xmlns:a16="http://schemas.microsoft.com/office/drawing/2014/main" id="{7249F771-F10E-39A6-EA2E-5A582CF37622}"/>
              </a:ext>
            </a:extLst>
          </p:cNvPr>
          <p:cNvSpPr/>
          <p:nvPr/>
        </p:nvSpPr>
        <p:spPr>
          <a:xfrm>
            <a:off x="1121343" y="149966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5"/>
              </a:rPr>
              <a:t>twitter.com</a:t>
            </a:r>
            <a:endParaRPr/>
          </a:p>
        </p:txBody>
      </p:sp>
      <p:sp>
        <p:nvSpPr>
          <p:cNvPr id="15" name="Shape">
            <a:extLst>
              <a:ext uri="{FF2B5EF4-FFF2-40B4-BE49-F238E27FC236}">
                <a16:creationId xmlns:a16="http://schemas.microsoft.com/office/drawing/2014/main" id="{08D9A6DC-51EF-41D1-FC3E-2D7A10F83FFC}"/>
              </a:ext>
            </a:extLst>
          </p:cNvPr>
          <p:cNvSpPr/>
          <p:nvPr/>
        </p:nvSpPr>
        <p:spPr>
          <a:xfrm>
            <a:off x="598880" y="173447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6"/>
              </a:rPr>
              <a:t>17/03/26 13:08</a:t>
            </a:r>
            <a:r>
              <a:t> | </a:t>
            </a:r>
            <a:r>
              <a:rPr lang="en" b="0" i="0"/>
              <a:t>United Arab Emirates</a:t>
            </a:r>
            <a:endParaRPr/>
          </a:p>
        </p:txBody>
      </p:sp>
      <p:sp>
        <p:nvSpPr>
          <p:cNvPr id="16" name="Shape">
            <a:extLst>
              <a:ext uri="{FF2B5EF4-FFF2-40B4-BE49-F238E27FC236}">
                <a16:creationId xmlns:a16="http://schemas.microsoft.com/office/drawing/2014/main" id="{2220F82A-9E24-FEE2-CE79-234768F18889}"/>
              </a:ext>
            </a:extLst>
          </p:cNvPr>
          <p:cNvSpPr/>
          <p:nvPr/>
        </p:nvSpPr>
        <p:spPr>
          <a:xfrm>
            <a:off x="3933748" y="140499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Fun City’s Double Deal is now available every day! 🎉 Grab our AED 360 or AED 450 packages and enjoy DOUBLE the plays 🙌 That means more games, more rides, and more unforgettable fun for the whole family!...</a:t>
            </a:r>
            <a:endParaRPr/>
          </a:p>
        </p:txBody>
      </p:sp>
      <p:pic>
        <p:nvPicPr>
          <p:cNvPr id="17" name="Picture">
            <a:hlinkClick r:id="rId7"/>
            <a:extLst>
              <a:ext uri="{FF2B5EF4-FFF2-40B4-BE49-F238E27FC236}">
                <a16:creationId xmlns:a16="http://schemas.microsoft.com/office/drawing/2014/main" id="{451CA6FA-CC74-27E8-0839-30668BF2A157}"/>
              </a:ext>
            </a:extLst>
          </p:cNvPr>
          <p:cNvPicPr/>
          <p:nvPr/>
        </p:nvPicPr>
        <p:blipFill>
          <a:blip r:embed="rId8"/>
          <a:srcRect/>
          <a:stretch/>
        </p:blipFill>
        <p:spPr>
          <a:xfrm>
            <a:off x="7545065" y="1162165"/>
            <a:ext cx="781050" cy="781050"/>
          </a:xfrm>
          <a:prstGeom prst="rect">
            <a:avLst/>
          </a:prstGeom>
        </p:spPr>
      </p:pic>
      <p:sp>
        <p:nvSpPr>
          <p:cNvPr id="18" name="Shape">
            <a:extLst>
              <a:ext uri="{FF2B5EF4-FFF2-40B4-BE49-F238E27FC236}">
                <a16:creationId xmlns:a16="http://schemas.microsoft.com/office/drawing/2014/main" id="{D5E48127-0551-10FE-5887-C32596D9BA7C}"/>
              </a:ext>
            </a:extLst>
          </p:cNvPr>
          <p:cNvSpPr/>
          <p:nvPr/>
        </p:nvSpPr>
        <p:spPr>
          <a:xfrm>
            <a:off x="8769307" y="137090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19" name="Shape">
            <a:extLst>
              <a:ext uri="{FF2B5EF4-FFF2-40B4-BE49-F238E27FC236}">
                <a16:creationId xmlns:a16="http://schemas.microsoft.com/office/drawing/2014/main" id="{A69019B8-751F-D6F4-7FC9-5ABDE0319D34}"/>
              </a:ext>
            </a:extLst>
          </p:cNvPr>
          <p:cNvSpPr/>
          <p:nvPr/>
        </p:nvSpPr>
        <p:spPr>
          <a:xfrm>
            <a:off x="8769307" y="1370907"/>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20" name="Shape">
            <a:extLst>
              <a:ext uri="{FF2B5EF4-FFF2-40B4-BE49-F238E27FC236}">
                <a16:creationId xmlns:a16="http://schemas.microsoft.com/office/drawing/2014/main" id="{88958CC6-6CB4-27F1-5AAC-313591B7BEEE}"/>
              </a:ext>
            </a:extLst>
          </p:cNvPr>
          <p:cNvSpPr/>
          <p:nvPr/>
        </p:nvSpPr>
        <p:spPr>
          <a:xfrm>
            <a:off x="10047672" y="111338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21" name="Shape">
            <a:extLst>
              <a:ext uri="{FF2B5EF4-FFF2-40B4-BE49-F238E27FC236}">
                <a16:creationId xmlns:a16="http://schemas.microsoft.com/office/drawing/2014/main" id="{C9EF6088-4334-E40E-365F-9EFA34633041}"/>
              </a:ext>
            </a:extLst>
          </p:cNvPr>
          <p:cNvSpPr/>
          <p:nvPr/>
        </p:nvSpPr>
        <p:spPr>
          <a:xfrm>
            <a:off x="10047672" y="1264868"/>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22" name="Shape">
            <a:extLst>
              <a:ext uri="{FF2B5EF4-FFF2-40B4-BE49-F238E27FC236}">
                <a16:creationId xmlns:a16="http://schemas.microsoft.com/office/drawing/2014/main" id="{41BDF547-FC45-384B-B332-A877588D6D45}"/>
              </a:ext>
            </a:extLst>
          </p:cNvPr>
          <p:cNvSpPr/>
          <p:nvPr/>
        </p:nvSpPr>
        <p:spPr>
          <a:xfrm>
            <a:off x="10047672" y="1264868"/>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23" name="Shape">
            <a:extLst>
              <a:ext uri="{FF2B5EF4-FFF2-40B4-BE49-F238E27FC236}">
                <a16:creationId xmlns:a16="http://schemas.microsoft.com/office/drawing/2014/main" id="{4A49203C-BDB3-397F-1FC1-774EDDCAEA41}"/>
              </a:ext>
            </a:extLst>
          </p:cNvPr>
          <p:cNvSpPr/>
          <p:nvPr/>
        </p:nvSpPr>
        <p:spPr>
          <a:xfrm>
            <a:off x="10047672" y="1416353"/>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24" name="Shape">
            <a:extLst>
              <a:ext uri="{FF2B5EF4-FFF2-40B4-BE49-F238E27FC236}">
                <a16:creationId xmlns:a16="http://schemas.microsoft.com/office/drawing/2014/main" id="{723E5D96-2F1C-36CD-3178-94F2C0ED3E05}"/>
              </a:ext>
            </a:extLst>
          </p:cNvPr>
          <p:cNvSpPr/>
          <p:nvPr/>
        </p:nvSpPr>
        <p:spPr>
          <a:xfrm>
            <a:off x="10047672" y="1416353"/>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25" name="Shape">
            <a:extLst>
              <a:ext uri="{FF2B5EF4-FFF2-40B4-BE49-F238E27FC236}">
                <a16:creationId xmlns:a16="http://schemas.microsoft.com/office/drawing/2014/main" id="{E3793370-0925-2EB2-84AD-ED4A184538B4}"/>
              </a:ext>
            </a:extLst>
          </p:cNvPr>
          <p:cNvSpPr/>
          <p:nvPr/>
        </p:nvSpPr>
        <p:spPr>
          <a:xfrm>
            <a:off x="10047672" y="1567838"/>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N/A</a:t>
            </a:r>
          </a:p>
        </p:txBody>
      </p:sp>
      <p:sp>
        <p:nvSpPr>
          <p:cNvPr id="26" name="Shape">
            <a:extLst>
              <a:ext uri="{FF2B5EF4-FFF2-40B4-BE49-F238E27FC236}">
                <a16:creationId xmlns:a16="http://schemas.microsoft.com/office/drawing/2014/main" id="{BC2AA51D-8852-740E-9C16-3B7F00834122}"/>
              </a:ext>
            </a:extLst>
          </p:cNvPr>
          <p:cNvSpPr/>
          <p:nvPr/>
        </p:nvSpPr>
        <p:spPr>
          <a:xfrm>
            <a:off x="10047672" y="1567838"/>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N/A</a:t>
            </a:r>
          </a:p>
        </p:txBody>
      </p:sp>
      <p:sp>
        <p:nvSpPr>
          <p:cNvPr id="27" name="Shape">
            <a:extLst>
              <a:ext uri="{FF2B5EF4-FFF2-40B4-BE49-F238E27FC236}">
                <a16:creationId xmlns:a16="http://schemas.microsoft.com/office/drawing/2014/main" id="{BE0017AF-1C97-6B96-BF2F-BBBD81745BE6}"/>
              </a:ext>
            </a:extLst>
          </p:cNvPr>
          <p:cNvSpPr/>
          <p:nvPr/>
        </p:nvSpPr>
        <p:spPr>
          <a:xfrm>
            <a:off x="10047672" y="1719323"/>
            <a:ext cx="1500690" cy="121188"/>
          </a:xfrm>
          <a:prstGeom prst="rect">
            <a:avLst/>
          </a:prstGeom>
        </p:spPr>
        <p:txBody>
          <a:bodyPr wrap="square" lIns="0" tIns="0" rIns="0">
            <a:noAutofit/>
          </a:bodyPr>
          <a:lstStyle/>
          <a:p>
            <a:pPr algn="l" fontAlgn="t">
              <a:defRPr sz="800" b="0" i="0">
                <a:solidFill>
                  <a:srgbClr val="808080"/>
                </a:solidFill>
                <a:latin typeface="Arial"/>
              </a:defRPr>
            </a:pPr>
            <a:r>
              <a:t>X Video Views N/A</a:t>
            </a:r>
          </a:p>
        </p:txBody>
      </p:sp>
      <p:sp>
        <p:nvSpPr>
          <p:cNvPr id="28" name="Shape">
            <a:extLst>
              <a:ext uri="{FF2B5EF4-FFF2-40B4-BE49-F238E27FC236}">
                <a16:creationId xmlns:a16="http://schemas.microsoft.com/office/drawing/2014/main" id="{60815944-DB34-9272-DB33-069BA7ADCAEA}"/>
              </a:ext>
            </a:extLst>
          </p:cNvPr>
          <p:cNvSpPr/>
          <p:nvPr/>
        </p:nvSpPr>
        <p:spPr>
          <a:xfrm>
            <a:off x="10047672" y="1719323"/>
            <a:ext cx="1500690" cy="121188"/>
          </a:xfrm>
          <a:prstGeom prst="rect">
            <a:avLst/>
          </a:prstGeom>
        </p:spPr>
        <p:txBody>
          <a:bodyPr wrap="square" lIns="0" tIns="0" rIns="0">
            <a:noAutofit/>
          </a:bodyPr>
          <a:lstStyle/>
          <a:p>
            <a:pPr algn="l" fontAlgn="t">
              <a:defRPr sz="800" b="0" i="0">
                <a:solidFill>
                  <a:srgbClr val="808080"/>
                </a:solidFill>
                <a:latin typeface="Arial"/>
              </a:defRPr>
            </a:pPr>
            <a:r>
              <a:t>X Video Views N/A</a:t>
            </a:r>
          </a:p>
        </p:txBody>
      </p:sp>
      <p:cxnSp>
        <p:nvCxnSpPr>
          <p:cNvPr id="29" name="Line 200: (537882, 2680913) - (11654110, 2680913)">
            <a:extLst>
              <a:ext uri="{FF2B5EF4-FFF2-40B4-BE49-F238E27FC236}">
                <a16:creationId xmlns:a16="http://schemas.microsoft.com/office/drawing/2014/main" id="{1E862E53-BC02-C81D-40C0-8B6E287DEA04}"/>
              </a:ext>
            </a:extLst>
          </p:cNvPr>
          <p:cNvCxnSpPr/>
          <p:nvPr/>
        </p:nvCxnSpPr>
        <p:spPr>
          <a:xfrm>
            <a:off x="432137" y="2007145"/>
            <a:ext cx="11116228" cy="0"/>
          </a:xfrm>
          <a:prstGeom prst="line">
            <a:avLst/>
          </a:prstGeom>
          <a:ln w="12700">
            <a:solidFill>
              <a:srgbClr val="C7C7C7"/>
            </a:solidFill>
          </a:ln>
        </p:spPr>
      </p:cxnSp>
      <p:pic>
        <p:nvPicPr>
          <p:cNvPr id="30" name="Picture">
            <a:extLst>
              <a:ext uri="{FF2B5EF4-FFF2-40B4-BE49-F238E27FC236}">
                <a16:creationId xmlns:a16="http://schemas.microsoft.com/office/drawing/2014/main" id="{5977C4F3-8FB1-DF83-E221-244C2AFC9B28}"/>
              </a:ext>
            </a:extLst>
          </p:cNvPr>
          <p:cNvPicPr/>
          <p:nvPr/>
        </p:nvPicPr>
        <p:blipFill>
          <a:blip r:embed="rId9"/>
          <a:srcRect/>
          <a:stretch/>
        </p:blipFill>
        <p:spPr>
          <a:xfrm>
            <a:off x="546549" y="2091040"/>
            <a:ext cx="438150" cy="438150"/>
          </a:xfrm>
          <a:prstGeom prst="rect">
            <a:avLst/>
          </a:prstGeom>
        </p:spPr>
      </p:pic>
      <p:pic>
        <p:nvPicPr>
          <p:cNvPr id="31" name="Picture">
            <a:extLst>
              <a:ext uri="{FF2B5EF4-FFF2-40B4-BE49-F238E27FC236}">
                <a16:creationId xmlns:a16="http://schemas.microsoft.com/office/drawing/2014/main" id="{919221C6-2306-2C62-5786-07624A1D46ED}"/>
              </a:ext>
            </a:extLst>
          </p:cNvPr>
          <p:cNvPicPr/>
          <p:nvPr/>
        </p:nvPicPr>
        <p:blipFill>
          <a:blip r:embed="rId3"/>
          <a:srcRect/>
          <a:stretch/>
        </p:blipFill>
        <p:spPr>
          <a:xfrm>
            <a:off x="854576" y="2073776"/>
            <a:ext cx="133350" cy="133350"/>
          </a:xfrm>
          <a:prstGeom prst="rect">
            <a:avLst/>
          </a:prstGeom>
        </p:spPr>
      </p:pic>
      <p:sp>
        <p:nvSpPr>
          <p:cNvPr id="32" name="Shape">
            <a:extLst>
              <a:ext uri="{FF2B5EF4-FFF2-40B4-BE49-F238E27FC236}">
                <a16:creationId xmlns:a16="http://schemas.microsoft.com/office/drawing/2014/main" id="{E95C8D9E-C42B-2FE2-8582-BBEE18580CB5}"/>
              </a:ext>
            </a:extLst>
          </p:cNvPr>
          <p:cNvSpPr/>
          <p:nvPr/>
        </p:nvSpPr>
        <p:spPr>
          <a:xfrm>
            <a:off x="1121343" y="2128333"/>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0"/>
              </a:rPr>
              <a:t>arabiancenter</a:t>
            </a:r>
            <a:endParaRPr/>
          </a:p>
        </p:txBody>
      </p:sp>
      <p:sp>
        <p:nvSpPr>
          <p:cNvPr id="33" name="Shape">
            <a:extLst>
              <a:ext uri="{FF2B5EF4-FFF2-40B4-BE49-F238E27FC236}">
                <a16:creationId xmlns:a16="http://schemas.microsoft.com/office/drawing/2014/main" id="{980309FC-30C9-49E5-3630-42BF4DD93F5C}"/>
              </a:ext>
            </a:extLst>
          </p:cNvPr>
          <p:cNvSpPr/>
          <p:nvPr/>
        </p:nvSpPr>
        <p:spPr>
          <a:xfrm>
            <a:off x="1121343" y="240857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11"/>
              </a:rPr>
              <a:t>instagram.com</a:t>
            </a:r>
            <a:endParaRPr/>
          </a:p>
        </p:txBody>
      </p:sp>
      <p:sp>
        <p:nvSpPr>
          <p:cNvPr id="34" name="Shape">
            <a:extLst>
              <a:ext uri="{FF2B5EF4-FFF2-40B4-BE49-F238E27FC236}">
                <a16:creationId xmlns:a16="http://schemas.microsoft.com/office/drawing/2014/main" id="{FF049A0E-4AC9-AC24-695A-3D8F83CAC961}"/>
              </a:ext>
            </a:extLst>
          </p:cNvPr>
          <p:cNvSpPr/>
          <p:nvPr/>
        </p:nvSpPr>
        <p:spPr>
          <a:xfrm>
            <a:off x="598880" y="2643381"/>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2"/>
              </a:rPr>
              <a:t>17/03/26 13:10</a:t>
            </a:r>
            <a:r>
              <a:t> | </a:t>
            </a:r>
            <a:r>
              <a:rPr lang="en" b="0" i="0"/>
              <a:t>United Arab Emirates</a:t>
            </a:r>
            <a:endParaRPr/>
          </a:p>
        </p:txBody>
      </p:sp>
      <p:sp>
        <p:nvSpPr>
          <p:cNvPr id="35" name="Shape">
            <a:extLst>
              <a:ext uri="{FF2B5EF4-FFF2-40B4-BE49-F238E27FC236}">
                <a16:creationId xmlns:a16="http://schemas.microsoft.com/office/drawing/2014/main" id="{48E7FEFF-5FDC-19D1-5759-B04D1971835F}"/>
              </a:ext>
            </a:extLst>
          </p:cNvPr>
          <p:cNvSpPr/>
          <p:nvPr/>
        </p:nvSpPr>
        <p:spPr>
          <a:xfrm>
            <a:off x="3933748" y="2313901"/>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Fun City’s Double Deal is now available every day! 🎉 Grab our AED 360 or AED 450 packages and enjoy DOUBLE the plays 🙌 ... Valid from 10th March to 31st March at Arabian Center. *Plays are not valid on...</a:t>
            </a:r>
            <a:endParaRPr/>
          </a:p>
        </p:txBody>
      </p:sp>
      <p:pic>
        <p:nvPicPr>
          <p:cNvPr id="36" name="Picture">
            <a:hlinkClick r:id="rId13"/>
            <a:extLst>
              <a:ext uri="{FF2B5EF4-FFF2-40B4-BE49-F238E27FC236}">
                <a16:creationId xmlns:a16="http://schemas.microsoft.com/office/drawing/2014/main" id="{34A10CDD-A623-1A13-60DD-E74F3878DF0E}"/>
              </a:ext>
            </a:extLst>
          </p:cNvPr>
          <p:cNvPicPr/>
          <p:nvPr/>
        </p:nvPicPr>
        <p:blipFill>
          <a:blip r:embed="rId14"/>
          <a:srcRect/>
          <a:stretch/>
        </p:blipFill>
        <p:spPr>
          <a:xfrm>
            <a:off x="7716515" y="2071075"/>
            <a:ext cx="438150" cy="781050"/>
          </a:xfrm>
          <a:prstGeom prst="rect">
            <a:avLst/>
          </a:prstGeom>
        </p:spPr>
      </p:pic>
      <p:sp>
        <p:nvSpPr>
          <p:cNvPr id="37" name="Shape">
            <a:extLst>
              <a:ext uri="{FF2B5EF4-FFF2-40B4-BE49-F238E27FC236}">
                <a16:creationId xmlns:a16="http://schemas.microsoft.com/office/drawing/2014/main" id="{1DECDBE5-7ADE-E38B-9768-0450E6CDA4D1}"/>
              </a:ext>
            </a:extLst>
          </p:cNvPr>
          <p:cNvSpPr/>
          <p:nvPr/>
        </p:nvSpPr>
        <p:spPr>
          <a:xfrm>
            <a:off x="8769307" y="2279817"/>
            <a:ext cx="1111622" cy="363564"/>
          </a:xfrm>
          <a:prstGeom prst="rect">
            <a:avLst/>
          </a:prstGeom>
        </p:spPr>
        <p:txBody>
          <a:bodyPr wrap="square" lIns="0" tIns="0" rIns="0">
            <a:noAutofit/>
          </a:bodyPr>
          <a:lstStyle/>
          <a:p>
            <a:pPr algn="ctr" fontAlgn="t">
              <a:defRPr sz="1200" b="1" i="0">
                <a:solidFill>
                  <a:srgbClr val="808080"/>
                </a:solidFill>
                <a:latin typeface="Arial"/>
              </a:defRPr>
            </a:pPr>
            <a:r>
              <a:t>46</a:t>
            </a:r>
          </a:p>
        </p:txBody>
      </p:sp>
      <p:sp>
        <p:nvSpPr>
          <p:cNvPr id="38" name="Shape">
            <a:extLst>
              <a:ext uri="{FF2B5EF4-FFF2-40B4-BE49-F238E27FC236}">
                <a16:creationId xmlns:a16="http://schemas.microsoft.com/office/drawing/2014/main" id="{890CEDE1-01D9-EC51-7DBC-E846C384012C}"/>
              </a:ext>
            </a:extLst>
          </p:cNvPr>
          <p:cNvSpPr/>
          <p:nvPr/>
        </p:nvSpPr>
        <p:spPr>
          <a:xfrm>
            <a:off x="8769307" y="2279817"/>
            <a:ext cx="1111622" cy="363564"/>
          </a:xfrm>
          <a:prstGeom prst="rect">
            <a:avLst/>
          </a:prstGeom>
        </p:spPr>
        <p:txBody>
          <a:bodyPr wrap="square" lIns="0" tIns="0" rIns="0">
            <a:noAutofit/>
          </a:bodyPr>
          <a:lstStyle/>
          <a:p>
            <a:pPr algn="ctr" fontAlgn="t">
              <a:defRPr sz="1200" b="1" i="0">
                <a:solidFill>
                  <a:srgbClr val="808080"/>
                </a:solidFill>
                <a:latin typeface="Arial"/>
              </a:defRPr>
            </a:pPr>
            <a:r>
              <a:t>46</a:t>
            </a:r>
          </a:p>
        </p:txBody>
      </p:sp>
      <p:sp>
        <p:nvSpPr>
          <p:cNvPr id="39" name="Shape">
            <a:extLst>
              <a:ext uri="{FF2B5EF4-FFF2-40B4-BE49-F238E27FC236}">
                <a16:creationId xmlns:a16="http://schemas.microsoft.com/office/drawing/2014/main" id="{1C57BA40-8E3E-8026-00A9-4CD85FA70395}"/>
              </a:ext>
            </a:extLst>
          </p:cNvPr>
          <p:cNvSpPr/>
          <p:nvPr/>
        </p:nvSpPr>
        <p:spPr>
          <a:xfrm>
            <a:off x="10047672" y="202229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40" name="Shape">
            <a:extLst>
              <a:ext uri="{FF2B5EF4-FFF2-40B4-BE49-F238E27FC236}">
                <a16:creationId xmlns:a16="http://schemas.microsoft.com/office/drawing/2014/main" id="{EFD02ACA-5282-E3AF-0743-85A88AF411B7}"/>
              </a:ext>
            </a:extLst>
          </p:cNvPr>
          <p:cNvSpPr/>
          <p:nvPr/>
        </p:nvSpPr>
        <p:spPr>
          <a:xfrm>
            <a:off x="10047672" y="217377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33.4K</a:t>
            </a:r>
          </a:p>
        </p:txBody>
      </p:sp>
      <p:sp>
        <p:nvSpPr>
          <p:cNvPr id="41" name="Shape">
            <a:extLst>
              <a:ext uri="{FF2B5EF4-FFF2-40B4-BE49-F238E27FC236}">
                <a16:creationId xmlns:a16="http://schemas.microsoft.com/office/drawing/2014/main" id="{6C7D656D-7DC6-35EB-D5B6-7B472AF04F81}"/>
              </a:ext>
            </a:extLst>
          </p:cNvPr>
          <p:cNvSpPr/>
          <p:nvPr/>
        </p:nvSpPr>
        <p:spPr>
          <a:xfrm>
            <a:off x="10047672" y="217377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33.4K</a:t>
            </a:r>
          </a:p>
        </p:txBody>
      </p:sp>
      <p:sp>
        <p:nvSpPr>
          <p:cNvPr id="42" name="Shape">
            <a:extLst>
              <a:ext uri="{FF2B5EF4-FFF2-40B4-BE49-F238E27FC236}">
                <a16:creationId xmlns:a16="http://schemas.microsoft.com/office/drawing/2014/main" id="{726905B1-9C93-BA8F-5C92-16A1508981D3}"/>
              </a:ext>
            </a:extLst>
          </p:cNvPr>
          <p:cNvSpPr/>
          <p:nvPr/>
        </p:nvSpPr>
        <p:spPr>
          <a:xfrm>
            <a:off x="10047672" y="232526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46</a:t>
            </a:r>
          </a:p>
        </p:txBody>
      </p:sp>
      <p:sp>
        <p:nvSpPr>
          <p:cNvPr id="43" name="Shape">
            <a:extLst>
              <a:ext uri="{FF2B5EF4-FFF2-40B4-BE49-F238E27FC236}">
                <a16:creationId xmlns:a16="http://schemas.microsoft.com/office/drawing/2014/main" id="{9BB13286-6F11-7F45-60EC-D1144B3058FB}"/>
              </a:ext>
            </a:extLst>
          </p:cNvPr>
          <p:cNvSpPr/>
          <p:nvPr/>
        </p:nvSpPr>
        <p:spPr>
          <a:xfrm>
            <a:off x="10047672" y="232526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46</a:t>
            </a:r>
          </a:p>
        </p:txBody>
      </p:sp>
      <p:cxnSp>
        <p:nvCxnSpPr>
          <p:cNvPr id="44" name="Line 200: (537882, 3589823) - (11654110, 3589823)">
            <a:extLst>
              <a:ext uri="{FF2B5EF4-FFF2-40B4-BE49-F238E27FC236}">
                <a16:creationId xmlns:a16="http://schemas.microsoft.com/office/drawing/2014/main" id="{63534FC0-2193-79A6-E222-9E630A0A5BBB}"/>
              </a:ext>
            </a:extLst>
          </p:cNvPr>
          <p:cNvCxnSpPr/>
          <p:nvPr/>
        </p:nvCxnSpPr>
        <p:spPr>
          <a:xfrm>
            <a:off x="432137" y="2916055"/>
            <a:ext cx="11116228" cy="0"/>
          </a:xfrm>
          <a:prstGeom prst="line">
            <a:avLst/>
          </a:prstGeom>
          <a:ln w="12700">
            <a:solidFill>
              <a:srgbClr val="C7C7C7"/>
            </a:solidFill>
          </a:ln>
        </p:spPr>
      </p:cxnSp>
      <p:pic>
        <p:nvPicPr>
          <p:cNvPr id="45" name="Picture">
            <a:extLst>
              <a:ext uri="{FF2B5EF4-FFF2-40B4-BE49-F238E27FC236}">
                <a16:creationId xmlns:a16="http://schemas.microsoft.com/office/drawing/2014/main" id="{4E2A6C8C-FB8D-342F-15FB-90ED55535FCF}"/>
              </a:ext>
            </a:extLst>
          </p:cNvPr>
          <p:cNvPicPr/>
          <p:nvPr/>
        </p:nvPicPr>
        <p:blipFill>
          <a:blip r:embed="rId15"/>
          <a:srcRect/>
          <a:stretch/>
        </p:blipFill>
        <p:spPr>
          <a:xfrm>
            <a:off x="546549" y="2999950"/>
            <a:ext cx="438150" cy="438150"/>
          </a:xfrm>
          <a:prstGeom prst="rect">
            <a:avLst/>
          </a:prstGeom>
        </p:spPr>
      </p:pic>
      <p:pic>
        <p:nvPicPr>
          <p:cNvPr id="46" name="Picture">
            <a:extLst>
              <a:ext uri="{FF2B5EF4-FFF2-40B4-BE49-F238E27FC236}">
                <a16:creationId xmlns:a16="http://schemas.microsoft.com/office/drawing/2014/main" id="{85990EE8-BAA8-6E95-F833-2B332180DB24}"/>
              </a:ext>
            </a:extLst>
          </p:cNvPr>
          <p:cNvPicPr/>
          <p:nvPr/>
        </p:nvPicPr>
        <p:blipFill>
          <a:blip r:embed="rId3"/>
          <a:srcRect/>
          <a:stretch/>
        </p:blipFill>
        <p:spPr>
          <a:xfrm>
            <a:off x="854576" y="2982686"/>
            <a:ext cx="133350" cy="133350"/>
          </a:xfrm>
          <a:prstGeom prst="rect">
            <a:avLst/>
          </a:prstGeom>
        </p:spPr>
      </p:pic>
      <p:sp>
        <p:nvSpPr>
          <p:cNvPr id="47" name="Shape">
            <a:extLst>
              <a:ext uri="{FF2B5EF4-FFF2-40B4-BE49-F238E27FC236}">
                <a16:creationId xmlns:a16="http://schemas.microsoft.com/office/drawing/2014/main" id="{C81395A9-62F7-EB85-83FA-AEE7BB1AC71F}"/>
              </a:ext>
            </a:extLst>
          </p:cNvPr>
          <p:cNvSpPr/>
          <p:nvPr/>
        </p:nvSpPr>
        <p:spPr>
          <a:xfrm>
            <a:off x="1121343" y="3037243"/>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Someone</a:t>
            </a:r>
            <a:endParaRPr/>
          </a:p>
        </p:txBody>
      </p:sp>
      <p:sp>
        <p:nvSpPr>
          <p:cNvPr id="48" name="Shape">
            <a:extLst>
              <a:ext uri="{FF2B5EF4-FFF2-40B4-BE49-F238E27FC236}">
                <a16:creationId xmlns:a16="http://schemas.microsoft.com/office/drawing/2014/main" id="{1694A9B6-5E9F-5C10-C619-6F482ED64114}"/>
              </a:ext>
            </a:extLst>
          </p:cNvPr>
          <p:cNvSpPr/>
          <p:nvPr/>
        </p:nvSpPr>
        <p:spPr>
          <a:xfrm>
            <a:off x="1121343" y="331748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11"/>
              </a:rPr>
              <a:t>instagram.com</a:t>
            </a:r>
            <a:endParaRPr/>
          </a:p>
        </p:txBody>
      </p:sp>
      <p:sp>
        <p:nvSpPr>
          <p:cNvPr id="49" name="Shape">
            <a:extLst>
              <a:ext uri="{FF2B5EF4-FFF2-40B4-BE49-F238E27FC236}">
                <a16:creationId xmlns:a16="http://schemas.microsoft.com/office/drawing/2014/main" id="{3AC571F0-5885-8276-B5E4-3C2EEB9DCF95}"/>
              </a:ext>
            </a:extLst>
          </p:cNvPr>
          <p:cNvSpPr/>
          <p:nvPr/>
        </p:nvSpPr>
        <p:spPr>
          <a:xfrm>
            <a:off x="598880" y="3552291"/>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6"/>
              </a:rPr>
              <a:t>19/03/26 13:20</a:t>
            </a:r>
            <a:r>
              <a:t> | </a:t>
            </a:r>
            <a:r>
              <a:rPr lang="ar" b="0" i="0"/>
              <a:t>United Arab Emirates</a:t>
            </a:r>
            <a:endParaRPr/>
          </a:p>
        </p:txBody>
      </p:sp>
      <p:sp>
        <p:nvSpPr>
          <p:cNvPr id="50" name="Shape">
            <a:extLst>
              <a:ext uri="{FF2B5EF4-FFF2-40B4-BE49-F238E27FC236}">
                <a16:creationId xmlns:a16="http://schemas.microsoft.com/office/drawing/2014/main" id="{4F0C60F9-818F-BBAC-0B72-37E38EC132E5}"/>
              </a:ext>
            </a:extLst>
          </p:cNvPr>
          <p:cNvSpPr/>
          <p:nvPr/>
        </p:nvSpPr>
        <p:spPr>
          <a:xfrm>
            <a:off x="3933748" y="3222811"/>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...Perfumes arrives soon at Al Khawaneej, Arabian Center — a flagship destination ...</a:t>
            </a:r>
            <a:r>
              <a:rPr b="0" i="0"/>
              <a:t>#AlKhawaneej#ArabianCenter#LuxuryFragrance</a:t>
            </a:r>
            <a:r>
              <a:rPr lang="ar" b="0" i="0"/>
              <a:t>تجربة استثنائية في الطريق… مولفي للعطور يصل قريباً إلى الخوانيج، أرابيان سنتر —...</a:t>
            </a:r>
            <a:endParaRPr/>
          </a:p>
        </p:txBody>
      </p:sp>
      <p:pic>
        <p:nvPicPr>
          <p:cNvPr id="51" name="Picture">
            <a:hlinkClick r:id="rId17"/>
            <a:extLst>
              <a:ext uri="{FF2B5EF4-FFF2-40B4-BE49-F238E27FC236}">
                <a16:creationId xmlns:a16="http://schemas.microsoft.com/office/drawing/2014/main" id="{DE5F4FFC-B790-21E5-D788-09AFD30AA2BC}"/>
              </a:ext>
            </a:extLst>
          </p:cNvPr>
          <p:cNvPicPr/>
          <p:nvPr/>
        </p:nvPicPr>
        <p:blipFill>
          <a:blip r:embed="rId18"/>
          <a:srcRect/>
          <a:stretch/>
        </p:blipFill>
        <p:spPr>
          <a:xfrm>
            <a:off x="7545065" y="2979985"/>
            <a:ext cx="781050" cy="781050"/>
          </a:xfrm>
          <a:prstGeom prst="rect">
            <a:avLst/>
          </a:prstGeom>
        </p:spPr>
      </p:pic>
      <p:sp>
        <p:nvSpPr>
          <p:cNvPr id="52" name="Shape">
            <a:extLst>
              <a:ext uri="{FF2B5EF4-FFF2-40B4-BE49-F238E27FC236}">
                <a16:creationId xmlns:a16="http://schemas.microsoft.com/office/drawing/2014/main" id="{3A3DD623-BF19-14A5-DA6F-B0869248F321}"/>
              </a:ext>
            </a:extLst>
          </p:cNvPr>
          <p:cNvSpPr/>
          <p:nvPr/>
        </p:nvSpPr>
        <p:spPr>
          <a:xfrm>
            <a:off x="8769307" y="3188727"/>
            <a:ext cx="1111622" cy="363564"/>
          </a:xfrm>
          <a:prstGeom prst="rect">
            <a:avLst/>
          </a:prstGeom>
        </p:spPr>
        <p:txBody>
          <a:bodyPr wrap="square" lIns="0" tIns="0" rIns="0">
            <a:noAutofit/>
          </a:bodyPr>
          <a:lstStyle/>
          <a:p>
            <a:pPr algn="ctr" fontAlgn="t">
              <a:defRPr sz="1200" b="1" i="0">
                <a:solidFill>
                  <a:srgbClr val="808080"/>
                </a:solidFill>
                <a:latin typeface="Arial"/>
              </a:defRPr>
            </a:pPr>
            <a:r>
              <a:t>7</a:t>
            </a:r>
          </a:p>
        </p:txBody>
      </p:sp>
      <p:sp>
        <p:nvSpPr>
          <p:cNvPr id="53" name="Shape">
            <a:extLst>
              <a:ext uri="{FF2B5EF4-FFF2-40B4-BE49-F238E27FC236}">
                <a16:creationId xmlns:a16="http://schemas.microsoft.com/office/drawing/2014/main" id="{F4C62C38-F0EB-D63F-9008-02245E1FB804}"/>
              </a:ext>
            </a:extLst>
          </p:cNvPr>
          <p:cNvSpPr/>
          <p:nvPr/>
        </p:nvSpPr>
        <p:spPr>
          <a:xfrm>
            <a:off x="8769307" y="3188727"/>
            <a:ext cx="1111622" cy="363564"/>
          </a:xfrm>
          <a:prstGeom prst="rect">
            <a:avLst/>
          </a:prstGeom>
        </p:spPr>
        <p:txBody>
          <a:bodyPr wrap="square" lIns="0" tIns="0" rIns="0">
            <a:noAutofit/>
          </a:bodyPr>
          <a:lstStyle/>
          <a:p>
            <a:pPr algn="ctr" fontAlgn="t">
              <a:defRPr sz="1200" b="1" i="0">
                <a:solidFill>
                  <a:srgbClr val="808080"/>
                </a:solidFill>
                <a:latin typeface="Arial"/>
              </a:defRPr>
            </a:pPr>
            <a:r>
              <a:t>7</a:t>
            </a:r>
          </a:p>
        </p:txBody>
      </p:sp>
      <p:sp>
        <p:nvSpPr>
          <p:cNvPr id="54" name="Shape">
            <a:extLst>
              <a:ext uri="{FF2B5EF4-FFF2-40B4-BE49-F238E27FC236}">
                <a16:creationId xmlns:a16="http://schemas.microsoft.com/office/drawing/2014/main" id="{6C75F9B9-9874-5C51-7949-F6DA27BF406E}"/>
              </a:ext>
            </a:extLst>
          </p:cNvPr>
          <p:cNvSpPr/>
          <p:nvPr/>
        </p:nvSpPr>
        <p:spPr>
          <a:xfrm>
            <a:off x="10047672" y="293120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55" name="Shape">
            <a:extLst>
              <a:ext uri="{FF2B5EF4-FFF2-40B4-BE49-F238E27FC236}">
                <a16:creationId xmlns:a16="http://schemas.microsoft.com/office/drawing/2014/main" id="{9F6E4AE3-9ED7-5712-AA9C-A699519E6E20}"/>
              </a:ext>
            </a:extLst>
          </p:cNvPr>
          <p:cNvSpPr/>
          <p:nvPr/>
        </p:nvSpPr>
        <p:spPr>
          <a:xfrm>
            <a:off x="10047672" y="308268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56" name="Shape">
            <a:extLst>
              <a:ext uri="{FF2B5EF4-FFF2-40B4-BE49-F238E27FC236}">
                <a16:creationId xmlns:a16="http://schemas.microsoft.com/office/drawing/2014/main" id="{C4C09814-7172-D13C-AD38-8FA9332D9257}"/>
              </a:ext>
            </a:extLst>
          </p:cNvPr>
          <p:cNvSpPr/>
          <p:nvPr/>
        </p:nvSpPr>
        <p:spPr>
          <a:xfrm>
            <a:off x="10047672" y="308268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57" name="Shape">
            <a:extLst>
              <a:ext uri="{FF2B5EF4-FFF2-40B4-BE49-F238E27FC236}">
                <a16:creationId xmlns:a16="http://schemas.microsoft.com/office/drawing/2014/main" id="{B01B4901-EF4F-E536-9C02-B874908E9452}"/>
              </a:ext>
            </a:extLst>
          </p:cNvPr>
          <p:cNvSpPr/>
          <p:nvPr/>
        </p:nvSpPr>
        <p:spPr>
          <a:xfrm>
            <a:off x="10047672" y="323417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a:t>
            </a:r>
          </a:p>
        </p:txBody>
      </p:sp>
      <p:sp>
        <p:nvSpPr>
          <p:cNvPr id="58" name="Shape">
            <a:extLst>
              <a:ext uri="{FF2B5EF4-FFF2-40B4-BE49-F238E27FC236}">
                <a16:creationId xmlns:a16="http://schemas.microsoft.com/office/drawing/2014/main" id="{53280C79-654B-BA09-9882-033A89B7EE0E}"/>
              </a:ext>
            </a:extLst>
          </p:cNvPr>
          <p:cNvSpPr/>
          <p:nvPr/>
        </p:nvSpPr>
        <p:spPr>
          <a:xfrm>
            <a:off x="10047672" y="323417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a:t>
            </a:r>
          </a:p>
        </p:txBody>
      </p:sp>
      <p:cxnSp>
        <p:nvCxnSpPr>
          <p:cNvPr id="59" name="Line 200: (537882, 4498733) - (11654110, 4498733)">
            <a:extLst>
              <a:ext uri="{FF2B5EF4-FFF2-40B4-BE49-F238E27FC236}">
                <a16:creationId xmlns:a16="http://schemas.microsoft.com/office/drawing/2014/main" id="{1C4C54AD-6CB3-DAB7-8DD5-F5E6EB0B2C54}"/>
              </a:ext>
            </a:extLst>
          </p:cNvPr>
          <p:cNvCxnSpPr/>
          <p:nvPr/>
        </p:nvCxnSpPr>
        <p:spPr>
          <a:xfrm>
            <a:off x="432137" y="3824965"/>
            <a:ext cx="11116228" cy="0"/>
          </a:xfrm>
          <a:prstGeom prst="line">
            <a:avLst/>
          </a:prstGeom>
          <a:ln w="12700">
            <a:solidFill>
              <a:srgbClr val="C7C7C7"/>
            </a:solidFill>
          </a:ln>
        </p:spPr>
      </p:cxnSp>
      <p:pic>
        <p:nvPicPr>
          <p:cNvPr id="60" name="Picture">
            <a:extLst>
              <a:ext uri="{FF2B5EF4-FFF2-40B4-BE49-F238E27FC236}">
                <a16:creationId xmlns:a16="http://schemas.microsoft.com/office/drawing/2014/main" id="{CDD029D5-FDB9-47E4-05E1-8907DFC51A15}"/>
              </a:ext>
            </a:extLst>
          </p:cNvPr>
          <p:cNvPicPr/>
          <p:nvPr/>
        </p:nvPicPr>
        <p:blipFill>
          <a:blip r:embed="rId15"/>
          <a:srcRect/>
          <a:stretch/>
        </p:blipFill>
        <p:spPr>
          <a:xfrm>
            <a:off x="546549" y="3908860"/>
            <a:ext cx="438150" cy="438150"/>
          </a:xfrm>
          <a:prstGeom prst="rect">
            <a:avLst/>
          </a:prstGeom>
        </p:spPr>
      </p:pic>
      <p:pic>
        <p:nvPicPr>
          <p:cNvPr id="61" name="Picture">
            <a:extLst>
              <a:ext uri="{FF2B5EF4-FFF2-40B4-BE49-F238E27FC236}">
                <a16:creationId xmlns:a16="http://schemas.microsoft.com/office/drawing/2014/main" id="{88C3A8FB-74E4-9D86-AE0E-269248EC8E0D}"/>
              </a:ext>
            </a:extLst>
          </p:cNvPr>
          <p:cNvPicPr/>
          <p:nvPr/>
        </p:nvPicPr>
        <p:blipFill>
          <a:blip r:embed="rId3"/>
          <a:srcRect/>
          <a:stretch/>
        </p:blipFill>
        <p:spPr>
          <a:xfrm>
            <a:off x="854576" y="3891596"/>
            <a:ext cx="133350" cy="133350"/>
          </a:xfrm>
          <a:prstGeom prst="rect">
            <a:avLst/>
          </a:prstGeom>
        </p:spPr>
      </p:pic>
      <p:sp>
        <p:nvSpPr>
          <p:cNvPr id="62" name="Shape">
            <a:extLst>
              <a:ext uri="{FF2B5EF4-FFF2-40B4-BE49-F238E27FC236}">
                <a16:creationId xmlns:a16="http://schemas.microsoft.com/office/drawing/2014/main" id="{231C073C-3DCF-289C-DE62-9998A85B1CD8}"/>
              </a:ext>
            </a:extLst>
          </p:cNvPr>
          <p:cNvSpPr/>
          <p:nvPr/>
        </p:nvSpPr>
        <p:spPr>
          <a:xfrm>
            <a:off x="1121343" y="3946153"/>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Someone</a:t>
            </a:r>
            <a:endParaRPr/>
          </a:p>
        </p:txBody>
      </p:sp>
      <p:sp>
        <p:nvSpPr>
          <p:cNvPr id="63" name="Shape">
            <a:extLst>
              <a:ext uri="{FF2B5EF4-FFF2-40B4-BE49-F238E27FC236}">
                <a16:creationId xmlns:a16="http://schemas.microsoft.com/office/drawing/2014/main" id="{724DC820-174E-FCEE-9E6F-49BB76661F16}"/>
              </a:ext>
            </a:extLst>
          </p:cNvPr>
          <p:cNvSpPr/>
          <p:nvPr/>
        </p:nvSpPr>
        <p:spPr>
          <a:xfrm>
            <a:off x="1121343" y="422639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11"/>
              </a:rPr>
              <a:t>instagram.com</a:t>
            </a:r>
            <a:endParaRPr/>
          </a:p>
        </p:txBody>
      </p:sp>
      <p:sp>
        <p:nvSpPr>
          <p:cNvPr id="64" name="Shape">
            <a:extLst>
              <a:ext uri="{FF2B5EF4-FFF2-40B4-BE49-F238E27FC236}">
                <a16:creationId xmlns:a16="http://schemas.microsoft.com/office/drawing/2014/main" id="{ECC0EEE3-A8C0-4D58-612C-A1617B0AF102}"/>
              </a:ext>
            </a:extLst>
          </p:cNvPr>
          <p:cNvSpPr/>
          <p:nvPr/>
        </p:nvSpPr>
        <p:spPr>
          <a:xfrm>
            <a:off x="598880" y="4461201"/>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9"/>
              </a:rPr>
              <a:t>19/03/26 13:40</a:t>
            </a:r>
            <a:r>
              <a:t> | </a:t>
            </a:r>
            <a:r>
              <a:rPr lang="ar" b="0" i="0"/>
              <a:t>United Arab Emirates</a:t>
            </a:r>
            <a:endParaRPr/>
          </a:p>
        </p:txBody>
      </p:sp>
      <p:sp>
        <p:nvSpPr>
          <p:cNvPr id="65" name="Shape">
            <a:extLst>
              <a:ext uri="{FF2B5EF4-FFF2-40B4-BE49-F238E27FC236}">
                <a16:creationId xmlns:a16="http://schemas.microsoft.com/office/drawing/2014/main" id="{7F8A30B5-D2AA-F84C-1123-D87239B4C317}"/>
              </a:ext>
            </a:extLst>
          </p:cNvPr>
          <p:cNvSpPr/>
          <p:nvPr/>
        </p:nvSpPr>
        <p:spPr>
          <a:xfrm>
            <a:off x="3933748" y="4131721"/>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...Perfumes arrives soon at Al Khawaneej, Arabian Center — a flagship destination ...</a:t>
            </a:r>
            <a:r>
              <a:rPr b="0" i="0"/>
              <a:t>#AlKhawaneej#ArabianCenter#LuxuryFragrance</a:t>
            </a:r>
            <a:r>
              <a:rPr lang="ar" b="0" i="0"/>
              <a:t>تجربة استثنائية في الطريق… مولفي للعطور يصل قريباً إلى الخوانيج، أرابيان سنتر —...</a:t>
            </a:r>
            <a:endParaRPr/>
          </a:p>
        </p:txBody>
      </p:sp>
      <p:pic>
        <p:nvPicPr>
          <p:cNvPr id="66" name="Picture">
            <a:hlinkClick r:id="rId20"/>
            <a:extLst>
              <a:ext uri="{FF2B5EF4-FFF2-40B4-BE49-F238E27FC236}">
                <a16:creationId xmlns:a16="http://schemas.microsoft.com/office/drawing/2014/main" id="{8058EAF7-5E26-8A42-B24F-DF270A45F377}"/>
              </a:ext>
            </a:extLst>
          </p:cNvPr>
          <p:cNvPicPr/>
          <p:nvPr/>
        </p:nvPicPr>
        <p:blipFill>
          <a:blip r:embed="rId18"/>
          <a:srcRect/>
          <a:stretch/>
        </p:blipFill>
        <p:spPr>
          <a:xfrm>
            <a:off x="7545065" y="3888895"/>
            <a:ext cx="781050" cy="781050"/>
          </a:xfrm>
          <a:prstGeom prst="rect">
            <a:avLst/>
          </a:prstGeom>
        </p:spPr>
      </p:pic>
      <p:sp>
        <p:nvSpPr>
          <p:cNvPr id="67" name="Shape">
            <a:extLst>
              <a:ext uri="{FF2B5EF4-FFF2-40B4-BE49-F238E27FC236}">
                <a16:creationId xmlns:a16="http://schemas.microsoft.com/office/drawing/2014/main" id="{83875801-CD6E-576D-10AE-0BD394BAE071}"/>
              </a:ext>
            </a:extLst>
          </p:cNvPr>
          <p:cNvSpPr/>
          <p:nvPr/>
        </p:nvSpPr>
        <p:spPr>
          <a:xfrm>
            <a:off x="8769307" y="4097637"/>
            <a:ext cx="1111622" cy="363564"/>
          </a:xfrm>
          <a:prstGeom prst="rect">
            <a:avLst/>
          </a:prstGeom>
        </p:spPr>
        <p:txBody>
          <a:bodyPr wrap="square" lIns="0" tIns="0" rIns="0">
            <a:noAutofit/>
          </a:bodyPr>
          <a:lstStyle/>
          <a:p>
            <a:pPr algn="ctr" fontAlgn="t">
              <a:defRPr sz="1200" b="1" i="0">
                <a:solidFill>
                  <a:srgbClr val="808080"/>
                </a:solidFill>
                <a:latin typeface="Arial"/>
              </a:defRPr>
            </a:pPr>
            <a:r>
              <a:t>5</a:t>
            </a:r>
          </a:p>
        </p:txBody>
      </p:sp>
      <p:sp>
        <p:nvSpPr>
          <p:cNvPr id="68" name="Shape">
            <a:extLst>
              <a:ext uri="{FF2B5EF4-FFF2-40B4-BE49-F238E27FC236}">
                <a16:creationId xmlns:a16="http://schemas.microsoft.com/office/drawing/2014/main" id="{C6CA711B-9EA6-70F5-BC2A-1BCE1D44D455}"/>
              </a:ext>
            </a:extLst>
          </p:cNvPr>
          <p:cNvSpPr/>
          <p:nvPr/>
        </p:nvSpPr>
        <p:spPr>
          <a:xfrm>
            <a:off x="8769307" y="4097637"/>
            <a:ext cx="1111622" cy="363564"/>
          </a:xfrm>
          <a:prstGeom prst="rect">
            <a:avLst/>
          </a:prstGeom>
        </p:spPr>
        <p:txBody>
          <a:bodyPr wrap="square" lIns="0" tIns="0" rIns="0">
            <a:noAutofit/>
          </a:bodyPr>
          <a:lstStyle/>
          <a:p>
            <a:pPr algn="ctr" fontAlgn="t">
              <a:defRPr sz="1200" b="1" i="0">
                <a:solidFill>
                  <a:srgbClr val="808080"/>
                </a:solidFill>
                <a:latin typeface="Arial"/>
              </a:defRPr>
            </a:pPr>
            <a:r>
              <a:t>5</a:t>
            </a:r>
          </a:p>
        </p:txBody>
      </p:sp>
      <p:sp>
        <p:nvSpPr>
          <p:cNvPr id="69" name="Shape">
            <a:extLst>
              <a:ext uri="{FF2B5EF4-FFF2-40B4-BE49-F238E27FC236}">
                <a16:creationId xmlns:a16="http://schemas.microsoft.com/office/drawing/2014/main" id="{69F0BD1E-30F9-6DBD-D3DD-31329CD127B8}"/>
              </a:ext>
            </a:extLst>
          </p:cNvPr>
          <p:cNvSpPr/>
          <p:nvPr/>
        </p:nvSpPr>
        <p:spPr>
          <a:xfrm>
            <a:off x="10047672" y="384011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70" name="Shape">
            <a:extLst>
              <a:ext uri="{FF2B5EF4-FFF2-40B4-BE49-F238E27FC236}">
                <a16:creationId xmlns:a16="http://schemas.microsoft.com/office/drawing/2014/main" id="{B46C73FC-3E86-6965-34AB-B3CFBA0033ED}"/>
              </a:ext>
            </a:extLst>
          </p:cNvPr>
          <p:cNvSpPr/>
          <p:nvPr/>
        </p:nvSpPr>
        <p:spPr>
          <a:xfrm>
            <a:off x="10047672" y="399159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71" name="Shape">
            <a:extLst>
              <a:ext uri="{FF2B5EF4-FFF2-40B4-BE49-F238E27FC236}">
                <a16:creationId xmlns:a16="http://schemas.microsoft.com/office/drawing/2014/main" id="{A1EAE54C-94E9-A4DD-FAB5-57C5B5B5910C}"/>
              </a:ext>
            </a:extLst>
          </p:cNvPr>
          <p:cNvSpPr/>
          <p:nvPr/>
        </p:nvSpPr>
        <p:spPr>
          <a:xfrm>
            <a:off x="10047672" y="399159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72" name="Shape">
            <a:extLst>
              <a:ext uri="{FF2B5EF4-FFF2-40B4-BE49-F238E27FC236}">
                <a16:creationId xmlns:a16="http://schemas.microsoft.com/office/drawing/2014/main" id="{3CB332FC-B7BA-7E16-82BE-2E4B102D823A}"/>
              </a:ext>
            </a:extLst>
          </p:cNvPr>
          <p:cNvSpPr/>
          <p:nvPr/>
        </p:nvSpPr>
        <p:spPr>
          <a:xfrm>
            <a:off x="10047672" y="414308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a:t>
            </a:r>
          </a:p>
        </p:txBody>
      </p:sp>
      <p:sp>
        <p:nvSpPr>
          <p:cNvPr id="73" name="Shape">
            <a:extLst>
              <a:ext uri="{FF2B5EF4-FFF2-40B4-BE49-F238E27FC236}">
                <a16:creationId xmlns:a16="http://schemas.microsoft.com/office/drawing/2014/main" id="{65E2EA08-E490-3DAD-2185-BFA393773FFD}"/>
              </a:ext>
            </a:extLst>
          </p:cNvPr>
          <p:cNvSpPr/>
          <p:nvPr/>
        </p:nvSpPr>
        <p:spPr>
          <a:xfrm>
            <a:off x="10047672" y="414308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a:t>
            </a:r>
          </a:p>
        </p:txBody>
      </p:sp>
      <p:cxnSp>
        <p:nvCxnSpPr>
          <p:cNvPr id="74" name="Line 200: (537882, 5407643) - (11654110, 5407643)">
            <a:extLst>
              <a:ext uri="{FF2B5EF4-FFF2-40B4-BE49-F238E27FC236}">
                <a16:creationId xmlns:a16="http://schemas.microsoft.com/office/drawing/2014/main" id="{141373CC-2991-085D-B934-7D64E524790A}"/>
              </a:ext>
            </a:extLst>
          </p:cNvPr>
          <p:cNvCxnSpPr/>
          <p:nvPr/>
        </p:nvCxnSpPr>
        <p:spPr>
          <a:xfrm>
            <a:off x="432137" y="4733875"/>
            <a:ext cx="11116228" cy="0"/>
          </a:xfrm>
          <a:prstGeom prst="line">
            <a:avLst/>
          </a:prstGeom>
          <a:ln w="12700">
            <a:solidFill>
              <a:srgbClr val="C7C7C7"/>
            </a:solidFill>
          </a:ln>
        </p:spPr>
      </p:cxnSp>
      <p:pic>
        <p:nvPicPr>
          <p:cNvPr id="75" name="Picture">
            <a:extLst>
              <a:ext uri="{FF2B5EF4-FFF2-40B4-BE49-F238E27FC236}">
                <a16:creationId xmlns:a16="http://schemas.microsoft.com/office/drawing/2014/main" id="{2D308749-B268-C387-334B-21B3C1DA1F0E}"/>
              </a:ext>
            </a:extLst>
          </p:cNvPr>
          <p:cNvPicPr/>
          <p:nvPr/>
        </p:nvPicPr>
        <p:blipFill>
          <a:blip r:embed="rId15"/>
          <a:srcRect/>
          <a:stretch/>
        </p:blipFill>
        <p:spPr>
          <a:xfrm>
            <a:off x="546549" y="4817770"/>
            <a:ext cx="438150" cy="438150"/>
          </a:xfrm>
          <a:prstGeom prst="rect">
            <a:avLst/>
          </a:prstGeom>
        </p:spPr>
      </p:pic>
      <p:pic>
        <p:nvPicPr>
          <p:cNvPr id="76" name="Picture">
            <a:extLst>
              <a:ext uri="{FF2B5EF4-FFF2-40B4-BE49-F238E27FC236}">
                <a16:creationId xmlns:a16="http://schemas.microsoft.com/office/drawing/2014/main" id="{BBC2C0BE-9CE6-006A-B61B-E8061B9BE51C}"/>
              </a:ext>
            </a:extLst>
          </p:cNvPr>
          <p:cNvPicPr/>
          <p:nvPr/>
        </p:nvPicPr>
        <p:blipFill>
          <a:blip r:embed="rId3"/>
          <a:srcRect/>
          <a:stretch/>
        </p:blipFill>
        <p:spPr>
          <a:xfrm>
            <a:off x="854576" y="4800506"/>
            <a:ext cx="133350" cy="133350"/>
          </a:xfrm>
          <a:prstGeom prst="rect">
            <a:avLst/>
          </a:prstGeom>
        </p:spPr>
      </p:pic>
      <p:sp>
        <p:nvSpPr>
          <p:cNvPr id="77" name="Shape">
            <a:extLst>
              <a:ext uri="{FF2B5EF4-FFF2-40B4-BE49-F238E27FC236}">
                <a16:creationId xmlns:a16="http://schemas.microsoft.com/office/drawing/2014/main" id="{D5B10D60-7101-146B-A3E8-E4728D19BCBD}"/>
              </a:ext>
            </a:extLst>
          </p:cNvPr>
          <p:cNvSpPr/>
          <p:nvPr/>
        </p:nvSpPr>
        <p:spPr>
          <a:xfrm>
            <a:off x="1121343" y="4855063"/>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t>Someone</a:t>
            </a:r>
            <a:endParaRPr/>
          </a:p>
        </p:txBody>
      </p:sp>
      <p:sp>
        <p:nvSpPr>
          <p:cNvPr id="78" name="Shape">
            <a:extLst>
              <a:ext uri="{FF2B5EF4-FFF2-40B4-BE49-F238E27FC236}">
                <a16:creationId xmlns:a16="http://schemas.microsoft.com/office/drawing/2014/main" id="{08C71CEA-419D-01BB-BEEF-2AD6A1022F2D}"/>
              </a:ext>
            </a:extLst>
          </p:cNvPr>
          <p:cNvSpPr/>
          <p:nvPr/>
        </p:nvSpPr>
        <p:spPr>
          <a:xfrm>
            <a:off x="1121343" y="5135309"/>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11"/>
              </a:rPr>
              <a:t>instagram.com</a:t>
            </a:r>
            <a:endParaRPr/>
          </a:p>
        </p:txBody>
      </p:sp>
      <p:sp>
        <p:nvSpPr>
          <p:cNvPr id="79" name="Shape">
            <a:extLst>
              <a:ext uri="{FF2B5EF4-FFF2-40B4-BE49-F238E27FC236}">
                <a16:creationId xmlns:a16="http://schemas.microsoft.com/office/drawing/2014/main" id="{06A39E60-96DB-3FBA-7D9D-3A1C9D5553D1}"/>
              </a:ext>
            </a:extLst>
          </p:cNvPr>
          <p:cNvSpPr/>
          <p:nvPr/>
        </p:nvSpPr>
        <p:spPr>
          <a:xfrm>
            <a:off x="598880" y="5370111"/>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21"/>
              </a:rPr>
              <a:t>19/03/26 13:44</a:t>
            </a:r>
            <a:r>
              <a:t> | </a:t>
            </a:r>
            <a:r>
              <a:rPr lang="ar" b="0" i="0"/>
              <a:t>United Arab Emirates</a:t>
            </a:r>
            <a:endParaRPr/>
          </a:p>
        </p:txBody>
      </p:sp>
      <p:sp>
        <p:nvSpPr>
          <p:cNvPr id="80" name="Shape">
            <a:extLst>
              <a:ext uri="{FF2B5EF4-FFF2-40B4-BE49-F238E27FC236}">
                <a16:creationId xmlns:a16="http://schemas.microsoft.com/office/drawing/2014/main" id="{47B565C7-66FC-5389-534B-4D5E7B413253}"/>
              </a:ext>
            </a:extLst>
          </p:cNvPr>
          <p:cNvSpPr/>
          <p:nvPr/>
        </p:nvSpPr>
        <p:spPr>
          <a:xfrm>
            <a:off x="3933748" y="5040631"/>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...Perfumes arrives soon at Al Khawaneej, Arabian Center — a flagship destination ...</a:t>
            </a:r>
            <a:r>
              <a:rPr b="0" i="0"/>
              <a:t>#AlKhawaneej#ArabianCenter#LuxuryFragrance</a:t>
            </a:r>
            <a:r>
              <a:rPr lang="ar" b="0" i="0"/>
              <a:t>تجربة استثنائية في الطريق… مولفي للعطور يصل قريباً إلى الخوانيج، أرابيان سنتر —...</a:t>
            </a:r>
            <a:endParaRPr/>
          </a:p>
        </p:txBody>
      </p:sp>
      <p:pic>
        <p:nvPicPr>
          <p:cNvPr id="81" name="Picture">
            <a:hlinkClick r:id="rId22"/>
            <a:extLst>
              <a:ext uri="{FF2B5EF4-FFF2-40B4-BE49-F238E27FC236}">
                <a16:creationId xmlns:a16="http://schemas.microsoft.com/office/drawing/2014/main" id="{AAE52FC6-B2B3-559D-B789-FBD2D0883B2B}"/>
              </a:ext>
            </a:extLst>
          </p:cNvPr>
          <p:cNvPicPr/>
          <p:nvPr/>
        </p:nvPicPr>
        <p:blipFill>
          <a:blip r:embed="rId18"/>
          <a:srcRect/>
          <a:stretch/>
        </p:blipFill>
        <p:spPr>
          <a:xfrm>
            <a:off x="7545065" y="4797805"/>
            <a:ext cx="781050" cy="781050"/>
          </a:xfrm>
          <a:prstGeom prst="rect">
            <a:avLst/>
          </a:prstGeom>
        </p:spPr>
      </p:pic>
      <p:sp>
        <p:nvSpPr>
          <p:cNvPr id="82" name="Shape">
            <a:extLst>
              <a:ext uri="{FF2B5EF4-FFF2-40B4-BE49-F238E27FC236}">
                <a16:creationId xmlns:a16="http://schemas.microsoft.com/office/drawing/2014/main" id="{65F11CA8-4EAD-6C96-91F8-AB7E1A5DAEE9}"/>
              </a:ext>
            </a:extLst>
          </p:cNvPr>
          <p:cNvSpPr/>
          <p:nvPr/>
        </p:nvSpPr>
        <p:spPr>
          <a:xfrm>
            <a:off x="8769307" y="5006547"/>
            <a:ext cx="1111622" cy="363564"/>
          </a:xfrm>
          <a:prstGeom prst="rect">
            <a:avLst/>
          </a:prstGeom>
        </p:spPr>
        <p:txBody>
          <a:bodyPr wrap="square" lIns="0" tIns="0" rIns="0">
            <a:noAutofit/>
          </a:bodyPr>
          <a:lstStyle/>
          <a:p>
            <a:pPr algn="ctr" fontAlgn="t">
              <a:defRPr sz="1200" b="1" i="0">
                <a:solidFill>
                  <a:srgbClr val="808080"/>
                </a:solidFill>
                <a:latin typeface="Arial"/>
              </a:defRPr>
            </a:pPr>
            <a:r>
              <a:t>8</a:t>
            </a:r>
          </a:p>
        </p:txBody>
      </p:sp>
      <p:sp>
        <p:nvSpPr>
          <p:cNvPr id="83" name="Shape">
            <a:extLst>
              <a:ext uri="{FF2B5EF4-FFF2-40B4-BE49-F238E27FC236}">
                <a16:creationId xmlns:a16="http://schemas.microsoft.com/office/drawing/2014/main" id="{6218A654-6E77-CDEB-DAC8-DA5770F14CF5}"/>
              </a:ext>
            </a:extLst>
          </p:cNvPr>
          <p:cNvSpPr/>
          <p:nvPr/>
        </p:nvSpPr>
        <p:spPr>
          <a:xfrm>
            <a:off x="8769307" y="5006547"/>
            <a:ext cx="1111622" cy="363564"/>
          </a:xfrm>
          <a:prstGeom prst="rect">
            <a:avLst/>
          </a:prstGeom>
        </p:spPr>
        <p:txBody>
          <a:bodyPr wrap="square" lIns="0" tIns="0" rIns="0">
            <a:noAutofit/>
          </a:bodyPr>
          <a:lstStyle/>
          <a:p>
            <a:pPr algn="ctr" fontAlgn="t">
              <a:defRPr sz="1200" b="1" i="0">
                <a:solidFill>
                  <a:srgbClr val="808080"/>
                </a:solidFill>
                <a:latin typeface="Arial"/>
              </a:defRPr>
            </a:pPr>
            <a:r>
              <a:t>8</a:t>
            </a:r>
          </a:p>
        </p:txBody>
      </p:sp>
      <p:sp>
        <p:nvSpPr>
          <p:cNvPr id="84" name="Shape">
            <a:extLst>
              <a:ext uri="{FF2B5EF4-FFF2-40B4-BE49-F238E27FC236}">
                <a16:creationId xmlns:a16="http://schemas.microsoft.com/office/drawing/2014/main" id="{1ED1E1F9-EED8-647E-A0D6-44FBC31DBD3E}"/>
              </a:ext>
            </a:extLst>
          </p:cNvPr>
          <p:cNvSpPr/>
          <p:nvPr/>
        </p:nvSpPr>
        <p:spPr>
          <a:xfrm>
            <a:off x="10047672" y="4749023"/>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85" name="Shape">
            <a:extLst>
              <a:ext uri="{FF2B5EF4-FFF2-40B4-BE49-F238E27FC236}">
                <a16:creationId xmlns:a16="http://schemas.microsoft.com/office/drawing/2014/main" id="{D3B9E1FB-5355-01C1-5AC0-0FFB5B7BE7A3}"/>
              </a:ext>
            </a:extLst>
          </p:cNvPr>
          <p:cNvSpPr/>
          <p:nvPr/>
        </p:nvSpPr>
        <p:spPr>
          <a:xfrm>
            <a:off x="10047672" y="490050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86" name="Shape">
            <a:extLst>
              <a:ext uri="{FF2B5EF4-FFF2-40B4-BE49-F238E27FC236}">
                <a16:creationId xmlns:a16="http://schemas.microsoft.com/office/drawing/2014/main" id="{B53A546F-4387-19ED-6B88-A500802E5659}"/>
              </a:ext>
            </a:extLst>
          </p:cNvPr>
          <p:cNvSpPr/>
          <p:nvPr/>
        </p:nvSpPr>
        <p:spPr>
          <a:xfrm>
            <a:off x="10047672" y="4900508"/>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N/A</a:t>
            </a:r>
          </a:p>
        </p:txBody>
      </p:sp>
      <p:sp>
        <p:nvSpPr>
          <p:cNvPr id="87" name="Shape">
            <a:extLst>
              <a:ext uri="{FF2B5EF4-FFF2-40B4-BE49-F238E27FC236}">
                <a16:creationId xmlns:a16="http://schemas.microsoft.com/office/drawing/2014/main" id="{7B1B2240-22D5-D9F7-0C4D-D99740D2F858}"/>
              </a:ext>
            </a:extLst>
          </p:cNvPr>
          <p:cNvSpPr/>
          <p:nvPr/>
        </p:nvSpPr>
        <p:spPr>
          <a:xfrm>
            <a:off x="10047672" y="505199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a:t>
            </a:r>
          </a:p>
        </p:txBody>
      </p:sp>
      <p:sp>
        <p:nvSpPr>
          <p:cNvPr id="88" name="Shape">
            <a:extLst>
              <a:ext uri="{FF2B5EF4-FFF2-40B4-BE49-F238E27FC236}">
                <a16:creationId xmlns:a16="http://schemas.microsoft.com/office/drawing/2014/main" id="{EB9C877F-A1E9-50DB-A2EF-2B6C20C083CF}"/>
              </a:ext>
            </a:extLst>
          </p:cNvPr>
          <p:cNvSpPr/>
          <p:nvPr/>
        </p:nvSpPr>
        <p:spPr>
          <a:xfrm>
            <a:off x="10047672" y="5051993"/>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a:t>
            </a:r>
          </a:p>
        </p:txBody>
      </p:sp>
      <p:cxnSp>
        <p:nvCxnSpPr>
          <p:cNvPr id="89" name="Line 200: (537882, 6316553) - (11654110, 6316553)">
            <a:extLst>
              <a:ext uri="{FF2B5EF4-FFF2-40B4-BE49-F238E27FC236}">
                <a16:creationId xmlns:a16="http://schemas.microsoft.com/office/drawing/2014/main" id="{5E731D0D-8B45-CEC1-4BB5-23D339859B73}"/>
              </a:ext>
            </a:extLst>
          </p:cNvPr>
          <p:cNvCxnSpPr/>
          <p:nvPr/>
        </p:nvCxnSpPr>
        <p:spPr>
          <a:xfrm>
            <a:off x="432137" y="5642785"/>
            <a:ext cx="11116228" cy="0"/>
          </a:xfrm>
          <a:prstGeom prst="line">
            <a:avLst/>
          </a:prstGeom>
          <a:ln w="12700">
            <a:solidFill>
              <a:srgbClr val="C7C7C7"/>
            </a:solidFill>
          </a:ln>
        </p:spPr>
      </p:cxnSp>
    </p:spTree>
    <p:extLst>
      <p:ext uri="{BB962C8B-B14F-4D97-AF65-F5344CB8AC3E}">
        <p14:creationId xmlns:p14="http://schemas.microsoft.com/office/powerpoint/2010/main" val="1744028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4C1FC-10F4-3E4B-B41F-F7E0E35DC172}"/>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83244EFB-CA7B-36B9-4BBF-CA11D04806F5}"/>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2038D51A-192C-34A5-716F-1962DF3AE0AC}"/>
              </a:ext>
            </a:extLst>
          </p:cNvPr>
          <p:cNvCxnSpPr/>
          <p:nvPr/>
        </p:nvCxnSpPr>
        <p:spPr>
          <a:xfrm>
            <a:off x="432137" y="953856"/>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832A54F9-5CB5-62D8-D3A1-B1F83D8F502D}"/>
              </a:ext>
            </a:extLst>
          </p:cNvPr>
          <p:cNvSpPr/>
          <p:nvPr/>
        </p:nvSpPr>
        <p:spPr>
          <a:xfrm>
            <a:off x="765623" y="738588"/>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D17EE7E6-4FE2-2661-99B7-4A2B82E0DFCA}"/>
              </a:ext>
            </a:extLst>
          </p:cNvPr>
          <p:cNvCxnSpPr/>
          <p:nvPr/>
        </p:nvCxnSpPr>
        <p:spPr>
          <a:xfrm>
            <a:off x="3767005" y="714670"/>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793E4345-D33D-0CB1-2C76-A2634508B4DC}"/>
              </a:ext>
            </a:extLst>
          </p:cNvPr>
          <p:cNvSpPr/>
          <p:nvPr/>
        </p:nvSpPr>
        <p:spPr>
          <a:xfrm>
            <a:off x="4100491" y="738588"/>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0F618E4C-E59D-928E-C0D6-AD00128F77EE}"/>
              </a:ext>
            </a:extLst>
          </p:cNvPr>
          <p:cNvCxnSpPr/>
          <p:nvPr/>
        </p:nvCxnSpPr>
        <p:spPr>
          <a:xfrm>
            <a:off x="8769307" y="714670"/>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DDFF3DFF-2D16-88C6-F162-7928510F13DF}"/>
              </a:ext>
            </a:extLst>
          </p:cNvPr>
          <p:cNvSpPr/>
          <p:nvPr/>
        </p:nvSpPr>
        <p:spPr>
          <a:xfrm>
            <a:off x="8880469" y="738588"/>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E56EC858-109F-8B61-C3F5-D96F5B90CD1E}"/>
              </a:ext>
            </a:extLst>
          </p:cNvPr>
          <p:cNvCxnSpPr/>
          <p:nvPr/>
        </p:nvCxnSpPr>
        <p:spPr>
          <a:xfrm>
            <a:off x="9880929" y="714670"/>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24AD4999-3D16-620E-61C3-6211B51F7DED}"/>
              </a:ext>
            </a:extLst>
          </p:cNvPr>
          <p:cNvSpPr/>
          <p:nvPr/>
        </p:nvSpPr>
        <p:spPr>
          <a:xfrm>
            <a:off x="10047672" y="738588"/>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8963A579-BBF8-2B32-6D52-31C8450BCFA4}"/>
              </a:ext>
            </a:extLst>
          </p:cNvPr>
          <p:cNvPicPr/>
          <p:nvPr/>
        </p:nvPicPr>
        <p:blipFill>
          <a:blip r:embed="rId2"/>
          <a:srcRect/>
          <a:stretch/>
        </p:blipFill>
        <p:spPr>
          <a:xfrm>
            <a:off x="546549" y="1037751"/>
            <a:ext cx="438150" cy="438150"/>
          </a:xfrm>
          <a:prstGeom prst="rect">
            <a:avLst/>
          </a:prstGeom>
        </p:spPr>
      </p:pic>
      <p:pic>
        <p:nvPicPr>
          <p:cNvPr id="12" name="Picture">
            <a:extLst>
              <a:ext uri="{FF2B5EF4-FFF2-40B4-BE49-F238E27FC236}">
                <a16:creationId xmlns:a16="http://schemas.microsoft.com/office/drawing/2014/main" id="{E44DE2A1-9877-95BA-CC91-7B7A94C0DCB3}"/>
              </a:ext>
            </a:extLst>
          </p:cNvPr>
          <p:cNvPicPr/>
          <p:nvPr/>
        </p:nvPicPr>
        <p:blipFill>
          <a:blip r:embed="rId3"/>
          <a:srcRect/>
          <a:stretch/>
        </p:blipFill>
        <p:spPr>
          <a:xfrm>
            <a:off x="854576" y="1020487"/>
            <a:ext cx="133350" cy="133350"/>
          </a:xfrm>
          <a:prstGeom prst="rect">
            <a:avLst/>
          </a:prstGeom>
        </p:spPr>
      </p:pic>
      <p:sp>
        <p:nvSpPr>
          <p:cNvPr id="13" name="Shape">
            <a:extLst>
              <a:ext uri="{FF2B5EF4-FFF2-40B4-BE49-F238E27FC236}">
                <a16:creationId xmlns:a16="http://schemas.microsoft.com/office/drawing/2014/main" id="{48D3AF18-E8A8-F283-B4A4-A729899DF1F7}"/>
              </a:ext>
            </a:extLst>
          </p:cNvPr>
          <p:cNvSpPr/>
          <p:nvPr/>
        </p:nvSpPr>
        <p:spPr>
          <a:xfrm>
            <a:off x="1121343" y="1075044"/>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 center (arabiancenter)</a:t>
            </a:r>
            <a:endParaRPr/>
          </a:p>
        </p:txBody>
      </p:sp>
      <p:sp>
        <p:nvSpPr>
          <p:cNvPr id="14" name="Shape">
            <a:extLst>
              <a:ext uri="{FF2B5EF4-FFF2-40B4-BE49-F238E27FC236}">
                <a16:creationId xmlns:a16="http://schemas.microsoft.com/office/drawing/2014/main" id="{E57CADE8-F43B-1E32-93ED-C3F0F4DC10BF}"/>
              </a:ext>
            </a:extLst>
          </p:cNvPr>
          <p:cNvSpPr/>
          <p:nvPr/>
        </p:nvSpPr>
        <p:spPr>
          <a:xfrm>
            <a:off x="1121343" y="1355290"/>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5"/>
              </a:rPr>
              <a:t>twitter.com</a:t>
            </a:r>
            <a:endParaRPr/>
          </a:p>
        </p:txBody>
      </p:sp>
      <p:sp>
        <p:nvSpPr>
          <p:cNvPr id="15" name="Shape">
            <a:extLst>
              <a:ext uri="{FF2B5EF4-FFF2-40B4-BE49-F238E27FC236}">
                <a16:creationId xmlns:a16="http://schemas.microsoft.com/office/drawing/2014/main" id="{F832DBF7-D1AD-F00C-C2F8-856D6BF66180}"/>
              </a:ext>
            </a:extLst>
          </p:cNvPr>
          <p:cNvSpPr/>
          <p:nvPr/>
        </p:nvSpPr>
        <p:spPr>
          <a:xfrm>
            <a:off x="598880" y="1590092"/>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6"/>
              </a:rPr>
              <a:t>19/03/26 19:01</a:t>
            </a:r>
            <a:r>
              <a:t> | </a:t>
            </a:r>
            <a:r>
              <a:rPr lang="en" b="0" i="0"/>
              <a:t>United Arab Emirates</a:t>
            </a:r>
            <a:endParaRPr/>
          </a:p>
        </p:txBody>
      </p:sp>
      <p:sp>
        <p:nvSpPr>
          <p:cNvPr id="16" name="Shape">
            <a:extLst>
              <a:ext uri="{FF2B5EF4-FFF2-40B4-BE49-F238E27FC236}">
                <a16:creationId xmlns:a16="http://schemas.microsoft.com/office/drawing/2014/main" id="{C93780A3-7403-F666-0551-6518D6C263DC}"/>
              </a:ext>
            </a:extLst>
          </p:cNvPr>
          <p:cNvSpPr/>
          <p:nvPr/>
        </p:nvSpPr>
        <p:spPr>
          <a:xfrm>
            <a:off x="3933748" y="1260612"/>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Eid Mubarak from ArabianCenter. Wishing you and your loved ones joy, prosperity, and peace on this special occasion. May this Eid brings happiness and success to all. pic.x.com/1dDxrSqwIw</a:t>
            </a:r>
            <a:endParaRPr/>
          </a:p>
        </p:txBody>
      </p:sp>
      <p:pic>
        <p:nvPicPr>
          <p:cNvPr id="17" name="Picture">
            <a:hlinkClick r:id="rId7"/>
            <a:extLst>
              <a:ext uri="{FF2B5EF4-FFF2-40B4-BE49-F238E27FC236}">
                <a16:creationId xmlns:a16="http://schemas.microsoft.com/office/drawing/2014/main" id="{536141D9-C2B5-540F-0569-EE7EA026C1BA}"/>
              </a:ext>
            </a:extLst>
          </p:cNvPr>
          <p:cNvPicPr/>
          <p:nvPr/>
        </p:nvPicPr>
        <p:blipFill>
          <a:blip r:embed="rId8"/>
          <a:srcRect/>
          <a:stretch/>
        </p:blipFill>
        <p:spPr>
          <a:xfrm>
            <a:off x="7626027" y="1017786"/>
            <a:ext cx="619125" cy="781050"/>
          </a:xfrm>
          <a:prstGeom prst="rect">
            <a:avLst/>
          </a:prstGeom>
        </p:spPr>
      </p:pic>
      <p:sp>
        <p:nvSpPr>
          <p:cNvPr id="18" name="Shape">
            <a:extLst>
              <a:ext uri="{FF2B5EF4-FFF2-40B4-BE49-F238E27FC236}">
                <a16:creationId xmlns:a16="http://schemas.microsoft.com/office/drawing/2014/main" id="{7CB215F4-458A-46C1-08BD-02E21EBE8606}"/>
              </a:ext>
            </a:extLst>
          </p:cNvPr>
          <p:cNvSpPr/>
          <p:nvPr/>
        </p:nvSpPr>
        <p:spPr>
          <a:xfrm>
            <a:off x="8769307" y="1226528"/>
            <a:ext cx="1111622" cy="363564"/>
          </a:xfrm>
          <a:prstGeom prst="rect">
            <a:avLst/>
          </a:prstGeom>
        </p:spPr>
        <p:txBody>
          <a:bodyPr wrap="square" lIns="0" tIns="0" rIns="0">
            <a:noAutofit/>
          </a:bodyPr>
          <a:lstStyle/>
          <a:p>
            <a:pPr algn="ctr" fontAlgn="t">
              <a:defRPr sz="1200" b="1" i="0">
                <a:solidFill>
                  <a:srgbClr val="808080"/>
                </a:solidFill>
                <a:latin typeface="Arial"/>
              </a:defRPr>
            </a:pPr>
            <a:r>
              <a:t>2</a:t>
            </a:r>
          </a:p>
        </p:txBody>
      </p:sp>
      <p:sp>
        <p:nvSpPr>
          <p:cNvPr id="19" name="Shape">
            <a:extLst>
              <a:ext uri="{FF2B5EF4-FFF2-40B4-BE49-F238E27FC236}">
                <a16:creationId xmlns:a16="http://schemas.microsoft.com/office/drawing/2014/main" id="{CE1F1896-9DB7-F1F3-2B63-71DDE0D7C597}"/>
              </a:ext>
            </a:extLst>
          </p:cNvPr>
          <p:cNvSpPr/>
          <p:nvPr/>
        </p:nvSpPr>
        <p:spPr>
          <a:xfrm>
            <a:off x="8769307" y="1226528"/>
            <a:ext cx="1111622" cy="363564"/>
          </a:xfrm>
          <a:prstGeom prst="rect">
            <a:avLst/>
          </a:prstGeom>
        </p:spPr>
        <p:txBody>
          <a:bodyPr wrap="square" lIns="0" tIns="0" rIns="0">
            <a:noAutofit/>
          </a:bodyPr>
          <a:lstStyle/>
          <a:p>
            <a:pPr algn="ctr" fontAlgn="t">
              <a:defRPr sz="1200" b="1" i="0">
                <a:solidFill>
                  <a:srgbClr val="808080"/>
                </a:solidFill>
                <a:latin typeface="Arial"/>
              </a:defRPr>
            </a:pPr>
            <a:r>
              <a:t>2</a:t>
            </a:r>
          </a:p>
        </p:txBody>
      </p:sp>
      <p:sp>
        <p:nvSpPr>
          <p:cNvPr id="20" name="Shape">
            <a:extLst>
              <a:ext uri="{FF2B5EF4-FFF2-40B4-BE49-F238E27FC236}">
                <a16:creationId xmlns:a16="http://schemas.microsoft.com/office/drawing/2014/main" id="{18331C2B-8236-F01A-0AA9-969998E0528C}"/>
              </a:ext>
            </a:extLst>
          </p:cNvPr>
          <p:cNvSpPr/>
          <p:nvPr/>
        </p:nvSpPr>
        <p:spPr>
          <a:xfrm>
            <a:off x="10047672" y="969004"/>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21" name="Shape">
            <a:extLst>
              <a:ext uri="{FF2B5EF4-FFF2-40B4-BE49-F238E27FC236}">
                <a16:creationId xmlns:a16="http://schemas.microsoft.com/office/drawing/2014/main" id="{A45D09AF-DC0C-F403-7321-9113A2501AAE}"/>
              </a:ext>
            </a:extLst>
          </p:cNvPr>
          <p:cNvSpPr/>
          <p:nvPr/>
        </p:nvSpPr>
        <p:spPr>
          <a:xfrm>
            <a:off x="10047672" y="1120489"/>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22" name="Shape">
            <a:extLst>
              <a:ext uri="{FF2B5EF4-FFF2-40B4-BE49-F238E27FC236}">
                <a16:creationId xmlns:a16="http://schemas.microsoft.com/office/drawing/2014/main" id="{7EB2BA74-ECFD-DB80-55C6-103FE5F352E7}"/>
              </a:ext>
            </a:extLst>
          </p:cNvPr>
          <p:cNvSpPr/>
          <p:nvPr/>
        </p:nvSpPr>
        <p:spPr>
          <a:xfrm>
            <a:off x="10047672" y="1120489"/>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23" name="Shape">
            <a:extLst>
              <a:ext uri="{FF2B5EF4-FFF2-40B4-BE49-F238E27FC236}">
                <a16:creationId xmlns:a16="http://schemas.microsoft.com/office/drawing/2014/main" id="{7C15EBAF-2FAE-80EC-A062-0C4D06E3D486}"/>
              </a:ext>
            </a:extLst>
          </p:cNvPr>
          <p:cNvSpPr/>
          <p:nvPr/>
        </p:nvSpPr>
        <p:spPr>
          <a:xfrm>
            <a:off x="10047672" y="1271974"/>
            <a:ext cx="1500690" cy="121188"/>
          </a:xfrm>
          <a:prstGeom prst="rect">
            <a:avLst/>
          </a:prstGeom>
        </p:spPr>
        <p:txBody>
          <a:bodyPr wrap="square" lIns="0" tIns="0" rIns="0">
            <a:noAutofit/>
          </a:bodyPr>
          <a:lstStyle/>
          <a:p>
            <a:pPr algn="l" fontAlgn="t">
              <a:defRPr sz="800" b="0" i="0">
                <a:solidFill>
                  <a:srgbClr val="808080"/>
                </a:solidFill>
                <a:latin typeface="Arial"/>
              </a:defRPr>
            </a:pPr>
            <a:r>
              <a:t>X Likes 2</a:t>
            </a:r>
          </a:p>
        </p:txBody>
      </p:sp>
      <p:sp>
        <p:nvSpPr>
          <p:cNvPr id="24" name="Shape">
            <a:extLst>
              <a:ext uri="{FF2B5EF4-FFF2-40B4-BE49-F238E27FC236}">
                <a16:creationId xmlns:a16="http://schemas.microsoft.com/office/drawing/2014/main" id="{AC206B2F-C54F-03E4-ED24-760175BAB5AC}"/>
              </a:ext>
            </a:extLst>
          </p:cNvPr>
          <p:cNvSpPr/>
          <p:nvPr/>
        </p:nvSpPr>
        <p:spPr>
          <a:xfrm>
            <a:off x="10047672" y="1271974"/>
            <a:ext cx="1500690" cy="121188"/>
          </a:xfrm>
          <a:prstGeom prst="rect">
            <a:avLst/>
          </a:prstGeom>
        </p:spPr>
        <p:txBody>
          <a:bodyPr wrap="square" lIns="0" tIns="0" rIns="0">
            <a:noAutofit/>
          </a:bodyPr>
          <a:lstStyle/>
          <a:p>
            <a:pPr algn="l" fontAlgn="t">
              <a:defRPr sz="800" b="0" i="0">
                <a:solidFill>
                  <a:srgbClr val="808080"/>
                </a:solidFill>
                <a:latin typeface="Arial"/>
              </a:defRPr>
            </a:pPr>
            <a:r>
              <a:t>X Likes 2</a:t>
            </a:r>
          </a:p>
        </p:txBody>
      </p:sp>
      <p:sp>
        <p:nvSpPr>
          <p:cNvPr id="25" name="Shape">
            <a:extLst>
              <a:ext uri="{FF2B5EF4-FFF2-40B4-BE49-F238E27FC236}">
                <a16:creationId xmlns:a16="http://schemas.microsoft.com/office/drawing/2014/main" id="{8E946CE6-7854-3A19-A2D6-84D1C5924605}"/>
              </a:ext>
            </a:extLst>
          </p:cNvPr>
          <p:cNvSpPr/>
          <p:nvPr/>
        </p:nvSpPr>
        <p:spPr>
          <a:xfrm>
            <a:off x="10047672" y="1423459"/>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26" name="Shape">
            <a:extLst>
              <a:ext uri="{FF2B5EF4-FFF2-40B4-BE49-F238E27FC236}">
                <a16:creationId xmlns:a16="http://schemas.microsoft.com/office/drawing/2014/main" id="{9EA10E79-B0BC-E60C-620A-66625A8C2FFF}"/>
              </a:ext>
            </a:extLst>
          </p:cNvPr>
          <p:cNvSpPr/>
          <p:nvPr/>
        </p:nvSpPr>
        <p:spPr>
          <a:xfrm>
            <a:off x="10047672" y="1423459"/>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27" name="Shape">
            <a:extLst>
              <a:ext uri="{FF2B5EF4-FFF2-40B4-BE49-F238E27FC236}">
                <a16:creationId xmlns:a16="http://schemas.microsoft.com/office/drawing/2014/main" id="{3F28CB8A-7169-F1FE-5C76-C4F881463A85}"/>
              </a:ext>
            </a:extLst>
          </p:cNvPr>
          <p:cNvSpPr/>
          <p:nvPr/>
        </p:nvSpPr>
        <p:spPr>
          <a:xfrm>
            <a:off x="10047672" y="1574944"/>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89</a:t>
            </a:r>
          </a:p>
        </p:txBody>
      </p:sp>
      <p:sp>
        <p:nvSpPr>
          <p:cNvPr id="28" name="Shape">
            <a:extLst>
              <a:ext uri="{FF2B5EF4-FFF2-40B4-BE49-F238E27FC236}">
                <a16:creationId xmlns:a16="http://schemas.microsoft.com/office/drawing/2014/main" id="{97F8297E-FD07-FA02-77C7-53DC81FD5C2C}"/>
              </a:ext>
            </a:extLst>
          </p:cNvPr>
          <p:cNvSpPr/>
          <p:nvPr/>
        </p:nvSpPr>
        <p:spPr>
          <a:xfrm>
            <a:off x="10047672" y="1574944"/>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89</a:t>
            </a:r>
          </a:p>
        </p:txBody>
      </p:sp>
      <p:cxnSp>
        <p:nvCxnSpPr>
          <p:cNvPr id="29" name="Line 200: (537882, 2680913) - (11654110, 2680913)">
            <a:extLst>
              <a:ext uri="{FF2B5EF4-FFF2-40B4-BE49-F238E27FC236}">
                <a16:creationId xmlns:a16="http://schemas.microsoft.com/office/drawing/2014/main" id="{AC501150-FF13-2017-4A68-9F8FB307DC81}"/>
              </a:ext>
            </a:extLst>
          </p:cNvPr>
          <p:cNvCxnSpPr/>
          <p:nvPr/>
        </p:nvCxnSpPr>
        <p:spPr>
          <a:xfrm>
            <a:off x="432137" y="1862766"/>
            <a:ext cx="11116228" cy="0"/>
          </a:xfrm>
          <a:prstGeom prst="line">
            <a:avLst/>
          </a:prstGeom>
          <a:ln w="12700">
            <a:solidFill>
              <a:srgbClr val="C7C7C7"/>
            </a:solidFill>
          </a:ln>
        </p:spPr>
      </p:cxnSp>
      <p:pic>
        <p:nvPicPr>
          <p:cNvPr id="30" name="Picture">
            <a:extLst>
              <a:ext uri="{FF2B5EF4-FFF2-40B4-BE49-F238E27FC236}">
                <a16:creationId xmlns:a16="http://schemas.microsoft.com/office/drawing/2014/main" id="{92CF5D07-9D5E-9E02-6654-36FACF14B8FA}"/>
              </a:ext>
            </a:extLst>
          </p:cNvPr>
          <p:cNvPicPr/>
          <p:nvPr/>
        </p:nvPicPr>
        <p:blipFill>
          <a:blip r:embed="rId9"/>
          <a:srcRect/>
          <a:stretch/>
        </p:blipFill>
        <p:spPr>
          <a:xfrm>
            <a:off x="546549" y="1946661"/>
            <a:ext cx="438150" cy="438150"/>
          </a:xfrm>
          <a:prstGeom prst="rect">
            <a:avLst/>
          </a:prstGeom>
        </p:spPr>
      </p:pic>
      <p:pic>
        <p:nvPicPr>
          <p:cNvPr id="31" name="Picture">
            <a:extLst>
              <a:ext uri="{FF2B5EF4-FFF2-40B4-BE49-F238E27FC236}">
                <a16:creationId xmlns:a16="http://schemas.microsoft.com/office/drawing/2014/main" id="{1C4390D5-22F0-643F-313C-D110E9F99224}"/>
              </a:ext>
            </a:extLst>
          </p:cNvPr>
          <p:cNvPicPr/>
          <p:nvPr/>
        </p:nvPicPr>
        <p:blipFill>
          <a:blip r:embed="rId3"/>
          <a:srcRect/>
          <a:stretch/>
        </p:blipFill>
        <p:spPr>
          <a:xfrm>
            <a:off x="854576" y="1929397"/>
            <a:ext cx="133350" cy="133350"/>
          </a:xfrm>
          <a:prstGeom prst="rect">
            <a:avLst/>
          </a:prstGeom>
        </p:spPr>
      </p:pic>
      <p:sp>
        <p:nvSpPr>
          <p:cNvPr id="32" name="Shape">
            <a:extLst>
              <a:ext uri="{FF2B5EF4-FFF2-40B4-BE49-F238E27FC236}">
                <a16:creationId xmlns:a16="http://schemas.microsoft.com/office/drawing/2014/main" id="{F923D6B3-59D8-9E0D-7D56-0DFD597E9C4E}"/>
              </a:ext>
            </a:extLst>
          </p:cNvPr>
          <p:cNvSpPr/>
          <p:nvPr/>
        </p:nvSpPr>
        <p:spPr>
          <a:xfrm>
            <a:off x="1121343" y="1983954"/>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hlinkClick r:id="rId10"/>
              </a:rPr>
              <a:t>arabiancenter</a:t>
            </a:r>
            <a:endParaRPr/>
          </a:p>
        </p:txBody>
      </p:sp>
      <p:sp>
        <p:nvSpPr>
          <p:cNvPr id="33" name="Shape">
            <a:extLst>
              <a:ext uri="{FF2B5EF4-FFF2-40B4-BE49-F238E27FC236}">
                <a16:creationId xmlns:a16="http://schemas.microsoft.com/office/drawing/2014/main" id="{4C37C0C9-C2B9-92A3-B909-B09920A0805C}"/>
              </a:ext>
            </a:extLst>
          </p:cNvPr>
          <p:cNvSpPr/>
          <p:nvPr/>
        </p:nvSpPr>
        <p:spPr>
          <a:xfrm>
            <a:off x="1121343" y="2264200"/>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11"/>
              </a:rPr>
              <a:t>instagram.com</a:t>
            </a:r>
            <a:endParaRPr/>
          </a:p>
        </p:txBody>
      </p:sp>
      <p:sp>
        <p:nvSpPr>
          <p:cNvPr id="34" name="Shape">
            <a:extLst>
              <a:ext uri="{FF2B5EF4-FFF2-40B4-BE49-F238E27FC236}">
                <a16:creationId xmlns:a16="http://schemas.microsoft.com/office/drawing/2014/main" id="{ACA3FB8F-9747-821E-615D-93FEB6BF1E1F}"/>
              </a:ext>
            </a:extLst>
          </p:cNvPr>
          <p:cNvSpPr/>
          <p:nvPr/>
        </p:nvSpPr>
        <p:spPr>
          <a:xfrm>
            <a:off x="598880" y="2499002"/>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2"/>
              </a:rPr>
              <a:t>19/03/26 19:02</a:t>
            </a:r>
            <a:r>
              <a:t> | </a:t>
            </a:r>
            <a:r>
              <a:rPr lang="ar" b="0" i="0"/>
              <a:t>United Arab Emirates</a:t>
            </a:r>
            <a:endParaRPr/>
          </a:p>
        </p:txBody>
      </p:sp>
      <p:sp>
        <p:nvSpPr>
          <p:cNvPr id="35" name="Shape">
            <a:extLst>
              <a:ext uri="{FF2B5EF4-FFF2-40B4-BE49-F238E27FC236}">
                <a16:creationId xmlns:a16="http://schemas.microsoft.com/office/drawing/2014/main" id="{7923094C-5F14-7A5C-C961-BCFBBF64B02B}"/>
              </a:ext>
            </a:extLst>
          </p:cNvPr>
          <p:cNvSpPr/>
          <p:nvPr/>
        </p:nvSpPr>
        <p:spPr>
          <a:xfrm>
            <a:off x="3933748" y="2169522"/>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On the occasion of Eid al-Fitr, we extend our warmest greetings. We hope for continued stability and safety across the ... ويحفظ أحباءكم من كل شر. عيدكم مبارك.</a:t>
            </a:r>
            <a:r>
              <a:rPr b="0" i="0"/>
              <a:t>#ArabianCenter...</a:t>
            </a:r>
            <a:endParaRPr/>
          </a:p>
        </p:txBody>
      </p:sp>
      <p:pic>
        <p:nvPicPr>
          <p:cNvPr id="36" name="Picture">
            <a:hlinkClick r:id="rId13"/>
            <a:extLst>
              <a:ext uri="{FF2B5EF4-FFF2-40B4-BE49-F238E27FC236}">
                <a16:creationId xmlns:a16="http://schemas.microsoft.com/office/drawing/2014/main" id="{942EDBA3-0A20-92AA-69D0-3B9FF72855A3}"/>
              </a:ext>
            </a:extLst>
          </p:cNvPr>
          <p:cNvPicPr/>
          <p:nvPr/>
        </p:nvPicPr>
        <p:blipFill>
          <a:blip r:embed="rId14"/>
          <a:srcRect/>
          <a:stretch/>
        </p:blipFill>
        <p:spPr>
          <a:xfrm>
            <a:off x="7626027" y="1926696"/>
            <a:ext cx="619125" cy="781050"/>
          </a:xfrm>
          <a:prstGeom prst="rect">
            <a:avLst/>
          </a:prstGeom>
        </p:spPr>
      </p:pic>
      <p:sp>
        <p:nvSpPr>
          <p:cNvPr id="37" name="Shape">
            <a:extLst>
              <a:ext uri="{FF2B5EF4-FFF2-40B4-BE49-F238E27FC236}">
                <a16:creationId xmlns:a16="http://schemas.microsoft.com/office/drawing/2014/main" id="{FF51AE28-0F8F-3F03-47AE-98139EB8C745}"/>
              </a:ext>
            </a:extLst>
          </p:cNvPr>
          <p:cNvSpPr/>
          <p:nvPr/>
        </p:nvSpPr>
        <p:spPr>
          <a:xfrm>
            <a:off x="8769307" y="2135438"/>
            <a:ext cx="1111622" cy="363564"/>
          </a:xfrm>
          <a:prstGeom prst="rect">
            <a:avLst/>
          </a:prstGeom>
        </p:spPr>
        <p:txBody>
          <a:bodyPr wrap="square" lIns="0" tIns="0" rIns="0">
            <a:noAutofit/>
          </a:bodyPr>
          <a:lstStyle/>
          <a:p>
            <a:pPr algn="ctr" fontAlgn="t">
              <a:defRPr sz="1200" b="1" i="0">
                <a:solidFill>
                  <a:srgbClr val="808080"/>
                </a:solidFill>
                <a:latin typeface="Arial"/>
              </a:defRPr>
            </a:pPr>
            <a:r>
              <a:t>60</a:t>
            </a:r>
          </a:p>
        </p:txBody>
      </p:sp>
      <p:sp>
        <p:nvSpPr>
          <p:cNvPr id="38" name="Shape">
            <a:extLst>
              <a:ext uri="{FF2B5EF4-FFF2-40B4-BE49-F238E27FC236}">
                <a16:creationId xmlns:a16="http://schemas.microsoft.com/office/drawing/2014/main" id="{A230A3B1-E04C-D046-F0BD-149A5B122F30}"/>
              </a:ext>
            </a:extLst>
          </p:cNvPr>
          <p:cNvSpPr/>
          <p:nvPr/>
        </p:nvSpPr>
        <p:spPr>
          <a:xfrm>
            <a:off x="8769307" y="2135438"/>
            <a:ext cx="1111622" cy="363564"/>
          </a:xfrm>
          <a:prstGeom prst="rect">
            <a:avLst/>
          </a:prstGeom>
        </p:spPr>
        <p:txBody>
          <a:bodyPr wrap="square" lIns="0" tIns="0" rIns="0">
            <a:noAutofit/>
          </a:bodyPr>
          <a:lstStyle/>
          <a:p>
            <a:pPr algn="ctr" fontAlgn="t">
              <a:defRPr sz="1200" b="1" i="0">
                <a:solidFill>
                  <a:srgbClr val="808080"/>
                </a:solidFill>
                <a:latin typeface="Arial"/>
              </a:defRPr>
            </a:pPr>
            <a:r>
              <a:t>60</a:t>
            </a:r>
          </a:p>
        </p:txBody>
      </p:sp>
      <p:sp>
        <p:nvSpPr>
          <p:cNvPr id="39" name="Shape">
            <a:extLst>
              <a:ext uri="{FF2B5EF4-FFF2-40B4-BE49-F238E27FC236}">
                <a16:creationId xmlns:a16="http://schemas.microsoft.com/office/drawing/2014/main" id="{BDB31EB0-365E-7A4A-0A52-3981853F481B}"/>
              </a:ext>
            </a:extLst>
          </p:cNvPr>
          <p:cNvSpPr/>
          <p:nvPr/>
        </p:nvSpPr>
        <p:spPr>
          <a:xfrm>
            <a:off x="10047672" y="1877914"/>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40" name="Shape">
            <a:extLst>
              <a:ext uri="{FF2B5EF4-FFF2-40B4-BE49-F238E27FC236}">
                <a16:creationId xmlns:a16="http://schemas.microsoft.com/office/drawing/2014/main" id="{3952D696-42C1-64E1-DA23-2B55579E70B2}"/>
              </a:ext>
            </a:extLst>
          </p:cNvPr>
          <p:cNvSpPr/>
          <p:nvPr/>
        </p:nvSpPr>
        <p:spPr>
          <a:xfrm>
            <a:off x="10047672" y="202939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33.5K</a:t>
            </a:r>
          </a:p>
        </p:txBody>
      </p:sp>
      <p:sp>
        <p:nvSpPr>
          <p:cNvPr id="41" name="Shape">
            <a:extLst>
              <a:ext uri="{FF2B5EF4-FFF2-40B4-BE49-F238E27FC236}">
                <a16:creationId xmlns:a16="http://schemas.microsoft.com/office/drawing/2014/main" id="{9AC4D12C-A494-533E-0EE5-6A00D58091BA}"/>
              </a:ext>
            </a:extLst>
          </p:cNvPr>
          <p:cNvSpPr/>
          <p:nvPr/>
        </p:nvSpPr>
        <p:spPr>
          <a:xfrm>
            <a:off x="10047672" y="202939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33.5K</a:t>
            </a:r>
          </a:p>
        </p:txBody>
      </p:sp>
      <p:sp>
        <p:nvSpPr>
          <p:cNvPr id="42" name="Shape">
            <a:extLst>
              <a:ext uri="{FF2B5EF4-FFF2-40B4-BE49-F238E27FC236}">
                <a16:creationId xmlns:a16="http://schemas.microsoft.com/office/drawing/2014/main" id="{20C3C5D3-FA17-FAA6-3149-57840EDCBD76}"/>
              </a:ext>
            </a:extLst>
          </p:cNvPr>
          <p:cNvSpPr/>
          <p:nvPr/>
        </p:nvSpPr>
        <p:spPr>
          <a:xfrm>
            <a:off x="10047672" y="218088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57</a:t>
            </a:r>
          </a:p>
        </p:txBody>
      </p:sp>
      <p:sp>
        <p:nvSpPr>
          <p:cNvPr id="43" name="Shape">
            <a:extLst>
              <a:ext uri="{FF2B5EF4-FFF2-40B4-BE49-F238E27FC236}">
                <a16:creationId xmlns:a16="http://schemas.microsoft.com/office/drawing/2014/main" id="{B7856E07-3CED-DF0A-2068-499325F476CE}"/>
              </a:ext>
            </a:extLst>
          </p:cNvPr>
          <p:cNvSpPr/>
          <p:nvPr/>
        </p:nvSpPr>
        <p:spPr>
          <a:xfrm>
            <a:off x="10047672" y="218088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57</a:t>
            </a:r>
          </a:p>
        </p:txBody>
      </p:sp>
      <p:cxnSp>
        <p:nvCxnSpPr>
          <p:cNvPr id="44" name="Line 200: (537882, 3589823) - (11654110, 3589823)">
            <a:extLst>
              <a:ext uri="{FF2B5EF4-FFF2-40B4-BE49-F238E27FC236}">
                <a16:creationId xmlns:a16="http://schemas.microsoft.com/office/drawing/2014/main" id="{7BB382E9-DE2A-13EF-082A-C864675EEFCD}"/>
              </a:ext>
            </a:extLst>
          </p:cNvPr>
          <p:cNvCxnSpPr/>
          <p:nvPr/>
        </p:nvCxnSpPr>
        <p:spPr>
          <a:xfrm>
            <a:off x="432137" y="2771676"/>
            <a:ext cx="11116228" cy="0"/>
          </a:xfrm>
          <a:prstGeom prst="line">
            <a:avLst/>
          </a:prstGeom>
          <a:ln w="12700">
            <a:solidFill>
              <a:srgbClr val="C7C7C7"/>
            </a:solidFill>
          </a:ln>
        </p:spPr>
      </p:cxnSp>
      <p:pic>
        <p:nvPicPr>
          <p:cNvPr id="45" name="Picture">
            <a:extLst>
              <a:ext uri="{FF2B5EF4-FFF2-40B4-BE49-F238E27FC236}">
                <a16:creationId xmlns:a16="http://schemas.microsoft.com/office/drawing/2014/main" id="{22824E94-B73C-9A7F-B654-345D62AEB164}"/>
              </a:ext>
            </a:extLst>
          </p:cNvPr>
          <p:cNvPicPr/>
          <p:nvPr/>
        </p:nvPicPr>
        <p:blipFill>
          <a:blip r:embed="rId9"/>
          <a:srcRect/>
          <a:stretch/>
        </p:blipFill>
        <p:spPr>
          <a:xfrm>
            <a:off x="546549" y="2855571"/>
            <a:ext cx="438150" cy="438150"/>
          </a:xfrm>
          <a:prstGeom prst="rect">
            <a:avLst/>
          </a:prstGeom>
        </p:spPr>
      </p:pic>
      <p:pic>
        <p:nvPicPr>
          <p:cNvPr id="46" name="Picture">
            <a:extLst>
              <a:ext uri="{FF2B5EF4-FFF2-40B4-BE49-F238E27FC236}">
                <a16:creationId xmlns:a16="http://schemas.microsoft.com/office/drawing/2014/main" id="{9A53DC9E-AD0E-499B-1CD2-94DA69EB14DA}"/>
              </a:ext>
            </a:extLst>
          </p:cNvPr>
          <p:cNvPicPr/>
          <p:nvPr/>
        </p:nvPicPr>
        <p:blipFill>
          <a:blip r:embed="rId3"/>
          <a:srcRect/>
          <a:stretch/>
        </p:blipFill>
        <p:spPr>
          <a:xfrm>
            <a:off x="854576" y="2838307"/>
            <a:ext cx="133350" cy="133350"/>
          </a:xfrm>
          <a:prstGeom prst="rect">
            <a:avLst/>
          </a:prstGeom>
        </p:spPr>
      </p:pic>
      <p:sp>
        <p:nvSpPr>
          <p:cNvPr id="47" name="Shape">
            <a:extLst>
              <a:ext uri="{FF2B5EF4-FFF2-40B4-BE49-F238E27FC236}">
                <a16:creationId xmlns:a16="http://schemas.microsoft.com/office/drawing/2014/main" id="{EA9DA392-AFCC-E78B-C49D-0B367E0BBED2}"/>
              </a:ext>
            </a:extLst>
          </p:cNvPr>
          <p:cNvSpPr/>
          <p:nvPr/>
        </p:nvSpPr>
        <p:spPr>
          <a:xfrm>
            <a:off x="1121343" y="2892864"/>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hlinkClick r:id="rId10"/>
              </a:rPr>
              <a:t>arabiancenter</a:t>
            </a:r>
            <a:endParaRPr/>
          </a:p>
        </p:txBody>
      </p:sp>
      <p:sp>
        <p:nvSpPr>
          <p:cNvPr id="48" name="Shape">
            <a:extLst>
              <a:ext uri="{FF2B5EF4-FFF2-40B4-BE49-F238E27FC236}">
                <a16:creationId xmlns:a16="http://schemas.microsoft.com/office/drawing/2014/main" id="{BE6FB7CB-6E3B-8924-E581-CFEE434DDF22}"/>
              </a:ext>
            </a:extLst>
          </p:cNvPr>
          <p:cNvSpPr/>
          <p:nvPr/>
        </p:nvSpPr>
        <p:spPr>
          <a:xfrm>
            <a:off x="1121343" y="3173110"/>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11"/>
              </a:rPr>
              <a:t>instagram.com</a:t>
            </a:r>
            <a:endParaRPr/>
          </a:p>
        </p:txBody>
      </p:sp>
      <p:sp>
        <p:nvSpPr>
          <p:cNvPr id="49" name="Shape">
            <a:extLst>
              <a:ext uri="{FF2B5EF4-FFF2-40B4-BE49-F238E27FC236}">
                <a16:creationId xmlns:a16="http://schemas.microsoft.com/office/drawing/2014/main" id="{C06DDF3F-1924-1787-FAC3-26BFDFF5858B}"/>
              </a:ext>
            </a:extLst>
          </p:cNvPr>
          <p:cNvSpPr/>
          <p:nvPr/>
        </p:nvSpPr>
        <p:spPr>
          <a:xfrm>
            <a:off x="598880" y="3407912"/>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5"/>
              </a:rPr>
              <a:t>19/03/26 19:11</a:t>
            </a:r>
            <a:r>
              <a:t> | </a:t>
            </a:r>
            <a:r>
              <a:rPr lang="ar" b="0" i="0"/>
              <a:t>United Arab Emirates</a:t>
            </a:r>
            <a:endParaRPr/>
          </a:p>
        </p:txBody>
      </p:sp>
      <p:sp>
        <p:nvSpPr>
          <p:cNvPr id="50" name="Shape">
            <a:extLst>
              <a:ext uri="{FF2B5EF4-FFF2-40B4-BE49-F238E27FC236}">
                <a16:creationId xmlns:a16="http://schemas.microsoft.com/office/drawing/2014/main" id="{71AEC2C0-E955-2F96-BDE6-C11819EAB011}"/>
              </a:ext>
            </a:extLst>
          </p:cNvPr>
          <p:cNvSpPr/>
          <p:nvPr/>
        </p:nvSpPr>
        <p:spPr>
          <a:xfrm>
            <a:off x="3933748" y="3078432"/>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Celebrate the joy of Eid with your loved ones and step into a world of tradition, creativity, and togetherness. Join us for ... Entrance B فرحة العيد تجمعنا في أرابيان سنتر. انضموا إلينا في أرابيان سنتر للاستمتاع بأجواء عيد الفطر المبارك مع الأنشطة...</a:t>
            </a:r>
            <a:endParaRPr/>
          </a:p>
        </p:txBody>
      </p:sp>
      <p:pic>
        <p:nvPicPr>
          <p:cNvPr id="51" name="Picture">
            <a:hlinkClick r:id="rId16"/>
            <a:extLst>
              <a:ext uri="{FF2B5EF4-FFF2-40B4-BE49-F238E27FC236}">
                <a16:creationId xmlns:a16="http://schemas.microsoft.com/office/drawing/2014/main" id="{42A6BEC0-4A83-CE73-AEA9-46E51464161A}"/>
              </a:ext>
            </a:extLst>
          </p:cNvPr>
          <p:cNvPicPr/>
          <p:nvPr/>
        </p:nvPicPr>
        <p:blipFill>
          <a:blip r:embed="rId17"/>
          <a:srcRect/>
          <a:stretch/>
        </p:blipFill>
        <p:spPr>
          <a:xfrm>
            <a:off x="7716515" y="2835606"/>
            <a:ext cx="438150" cy="781050"/>
          </a:xfrm>
          <a:prstGeom prst="rect">
            <a:avLst/>
          </a:prstGeom>
        </p:spPr>
      </p:pic>
      <p:sp>
        <p:nvSpPr>
          <p:cNvPr id="52" name="Shape">
            <a:extLst>
              <a:ext uri="{FF2B5EF4-FFF2-40B4-BE49-F238E27FC236}">
                <a16:creationId xmlns:a16="http://schemas.microsoft.com/office/drawing/2014/main" id="{EE27A6D6-2DD2-0890-818A-9BD311AA6FCF}"/>
              </a:ext>
            </a:extLst>
          </p:cNvPr>
          <p:cNvSpPr/>
          <p:nvPr/>
        </p:nvSpPr>
        <p:spPr>
          <a:xfrm>
            <a:off x="8769307" y="3044348"/>
            <a:ext cx="1111622" cy="363564"/>
          </a:xfrm>
          <a:prstGeom prst="rect">
            <a:avLst/>
          </a:prstGeom>
        </p:spPr>
        <p:txBody>
          <a:bodyPr wrap="square" lIns="0" tIns="0" rIns="0">
            <a:noAutofit/>
          </a:bodyPr>
          <a:lstStyle/>
          <a:p>
            <a:pPr algn="ctr" fontAlgn="t">
              <a:defRPr sz="1200" b="1" i="0">
                <a:solidFill>
                  <a:srgbClr val="808080"/>
                </a:solidFill>
                <a:latin typeface="Arial"/>
              </a:defRPr>
            </a:pPr>
            <a:r>
              <a:t>48</a:t>
            </a:r>
          </a:p>
        </p:txBody>
      </p:sp>
      <p:sp>
        <p:nvSpPr>
          <p:cNvPr id="53" name="Shape">
            <a:extLst>
              <a:ext uri="{FF2B5EF4-FFF2-40B4-BE49-F238E27FC236}">
                <a16:creationId xmlns:a16="http://schemas.microsoft.com/office/drawing/2014/main" id="{511ADE2F-E131-5276-F969-D6092000F084}"/>
              </a:ext>
            </a:extLst>
          </p:cNvPr>
          <p:cNvSpPr/>
          <p:nvPr/>
        </p:nvSpPr>
        <p:spPr>
          <a:xfrm>
            <a:off x="8769307" y="3044348"/>
            <a:ext cx="1111622" cy="363564"/>
          </a:xfrm>
          <a:prstGeom prst="rect">
            <a:avLst/>
          </a:prstGeom>
        </p:spPr>
        <p:txBody>
          <a:bodyPr wrap="square" lIns="0" tIns="0" rIns="0">
            <a:noAutofit/>
          </a:bodyPr>
          <a:lstStyle/>
          <a:p>
            <a:pPr algn="ctr" fontAlgn="t">
              <a:defRPr sz="1200" b="1" i="0">
                <a:solidFill>
                  <a:srgbClr val="808080"/>
                </a:solidFill>
                <a:latin typeface="Arial"/>
              </a:defRPr>
            </a:pPr>
            <a:r>
              <a:t>48</a:t>
            </a:r>
          </a:p>
        </p:txBody>
      </p:sp>
      <p:sp>
        <p:nvSpPr>
          <p:cNvPr id="54" name="Shape">
            <a:extLst>
              <a:ext uri="{FF2B5EF4-FFF2-40B4-BE49-F238E27FC236}">
                <a16:creationId xmlns:a16="http://schemas.microsoft.com/office/drawing/2014/main" id="{CCE01093-7C7F-968D-FC7A-632E10E99641}"/>
              </a:ext>
            </a:extLst>
          </p:cNvPr>
          <p:cNvSpPr/>
          <p:nvPr/>
        </p:nvSpPr>
        <p:spPr>
          <a:xfrm>
            <a:off x="10047672" y="2786824"/>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55" name="Shape">
            <a:extLst>
              <a:ext uri="{FF2B5EF4-FFF2-40B4-BE49-F238E27FC236}">
                <a16:creationId xmlns:a16="http://schemas.microsoft.com/office/drawing/2014/main" id="{17DB4294-ACE8-1015-E109-7880539D54D3}"/>
              </a:ext>
            </a:extLst>
          </p:cNvPr>
          <p:cNvSpPr/>
          <p:nvPr/>
        </p:nvSpPr>
        <p:spPr>
          <a:xfrm>
            <a:off x="10047672" y="293830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33.5K</a:t>
            </a:r>
          </a:p>
        </p:txBody>
      </p:sp>
      <p:sp>
        <p:nvSpPr>
          <p:cNvPr id="56" name="Shape">
            <a:extLst>
              <a:ext uri="{FF2B5EF4-FFF2-40B4-BE49-F238E27FC236}">
                <a16:creationId xmlns:a16="http://schemas.microsoft.com/office/drawing/2014/main" id="{57E19C58-E27E-B888-E628-004F8A8A4240}"/>
              </a:ext>
            </a:extLst>
          </p:cNvPr>
          <p:cNvSpPr/>
          <p:nvPr/>
        </p:nvSpPr>
        <p:spPr>
          <a:xfrm>
            <a:off x="10047672" y="293830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33.5K</a:t>
            </a:r>
          </a:p>
        </p:txBody>
      </p:sp>
      <p:sp>
        <p:nvSpPr>
          <p:cNvPr id="57" name="Shape">
            <a:extLst>
              <a:ext uri="{FF2B5EF4-FFF2-40B4-BE49-F238E27FC236}">
                <a16:creationId xmlns:a16="http://schemas.microsoft.com/office/drawing/2014/main" id="{EEC27E64-D670-024A-D4CD-CF4740073B3E}"/>
              </a:ext>
            </a:extLst>
          </p:cNvPr>
          <p:cNvSpPr/>
          <p:nvPr/>
        </p:nvSpPr>
        <p:spPr>
          <a:xfrm>
            <a:off x="10047672" y="308979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47</a:t>
            </a:r>
          </a:p>
        </p:txBody>
      </p:sp>
      <p:sp>
        <p:nvSpPr>
          <p:cNvPr id="58" name="Shape">
            <a:extLst>
              <a:ext uri="{FF2B5EF4-FFF2-40B4-BE49-F238E27FC236}">
                <a16:creationId xmlns:a16="http://schemas.microsoft.com/office/drawing/2014/main" id="{1FA4D879-4643-3A75-04DD-D9AFFAEA2708}"/>
              </a:ext>
            </a:extLst>
          </p:cNvPr>
          <p:cNvSpPr/>
          <p:nvPr/>
        </p:nvSpPr>
        <p:spPr>
          <a:xfrm>
            <a:off x="10047672" y="308979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47</a:t>
            </a:r>
          </a:p>
        </p:txBody>
      </p:sp>
      <p:cxnSp>
        <p:nvCxnSpPr>
          <p:cNvPr id="59" name="Line 200: (537882, 4498733) - (11654110, 4498733)">
            <a:extLst>
              <a:ext uri="{FF2B5EF4-FFF2-40B4-BE49-F238E27FC236}">
                <a16:creationId xmlns:a16="http://schemas.microsoft.com/office/drawing/2014/main" id="{0F99F06D-DCF2-8687-355B-4905443D010C}"/>
              </a:ext>
            </a:extLst>
          </p:cNvPr>
          <p:cNvCxnSpPr/>
          <p:nvPr/>
        </p:nvCxnSpPr>
        <p:spPr>
          <a:xfrm>
            <a:off x="432137" y="3680586"/>
            <a:ext cx="11116228" cy="0"/>
          </a:xfrm>
          <a:prstGeom prst="line">
            <a:avLst/>
          </a:prstGeom>
          <a:ln w="12700">
            <a:solidFill>
              <a:srgbClr val="C7C7C7"/>
            </a:solidFill>
          </a:ln>
        </p:spPr>
      </p:cxnSp>
      <p:pic>
        <p:nvPicPr>
          <p:cNvPr id="60" name="Picture">
            <a:extLst>
              <a:ext uri="{FF2B5EF4-FFF2-40B4-BE49-F238E27FC236}">
                <a16:creationId xmlns:a16="http://schemas.microsoft.com/office/drawing/2014/main" id="{752673DB-94E5-BA67-D180-E1753155A657}"/>
              </a:ext>
            </a:extLst>
          </p:cNvPr>
          <p:cNvPicPr/>
          <p:nvPr/>
        </p:nvPicPr>
        <p:blipFill>
          <a:blip r:embed="rId9"/>
          <a:srcRect/>
          <a:stretch/>
        </p:blipFill>
        <p:spPr>
          <a:xfrm>
            <a:off x="546549" y="3764481"/>
            <a:ext cx="438150" cy="438150"/>
          </a:xfrm>
          <a:prstGeom prst="rect">
            <a:avLst/>
          </a:prstGeom>
        </p:spPr>
      </p:pic>
      <p:pic>
        <p:nvPicPr>
          <p:cNvPr id="61" name="Picture">
            <a:extLst>
              <a:ext uri="{FF2B5EF4-FFF2-40B4-BE49-F238E27FC236}">
                <a16:creationId xmlns:a16="http://schemas.microsoft.com/office/drawing/2014/main" id="{2BABB64D-CC58-FF10-CA7C-76D170689DB2}"/>
              </a:ext>
            </a:extLst>
          </p:cNvPr>
          <p:cNvPicPr/>
          <p:nvPr/>
        </p:nvPicPr>
        <p:blipFill>
          <a:blip r:embed="rId3"/>
          <a:srcRect/>
          <a:stretch/>
        </p:blipFill>
        <p:spPr>
          <a:xfrm>
            <a:off x="854576" y="3747217"/>
            <a:ext cx="133350" cy="133350"/>
          </a:xfrm>
          <a:prstGeom prst="rect">
            <a:avLst/>
          </a:prstGeom>
        </p:spPr>
      </p:pic>
      <p:sp>
        <p:nvSpPr>
          <p:cNvPr id="62" name="Shape">
            <a:extLst>
              <a:ext uri="{FF2B5EF4-FFF2-40B4-BE49-F238E27FC236}">
                <a16:creationId xmlns:a16="http://schemas.microsoft.com/office/drawing/2014/main" id="{B81B7349-FF4A-D739-1100-F79B85C4573E}"/>
              </a:ext>
            </a:extLst>
          </p:cNvPr>
          <p:cNvSpPr/>
          <p:nvPr/>
        </p:nvSpPr>
        <p:spPr>
          <a:xfrm>
            <a:off x="1121343" y="3801774"/>
            <a:ext cx="2534499" cy="161584"/>
          </a:xfrm>
          <a:prstGeom prst="rect">
            <a:avLst/>
          </a:prstGeom>
        </p:spPr>
        <p:txBody>
          <a:bodyPr wrap="square" lIns="0" tIns="0" rIns="0">
            <a:noAutofit/>
          </a:bodyPr>
          <a:lstStyle/>
          <a:p>
            <a:pPr algn="r" fontAlgn="t">
              <a:defRPr sz="1000" b="1" i="0">
                <a:solidFill>
                  <a:srgbClr val="000000"/>
                </a:solidFill>
                <a:latin typeface="Arial"/>
              </a:defRPr>
            </a:pPr>
            <a:r>
              <a:rPr lang="ar" b="1" i="0">
                <a:hlinkClick r:id="rId10"/>
              </a:rPr>
              <a:t>arabiancenter</a:t>
            </a:r>
            <a:endParaRPr/>
          </a:p>
        </p:txBody>
      </p:sp>
      <p:sp>
        <p:nvSpPr>
          <p:cNvPr id="63" name="Shape">
            <a:extLst>
              <a:ext uri="{FF2B5EF4-FFF2-40B4-BE49-F238E27FC236}">
                <a16:creationId xmlns:a16="http://schemas.microsoft.com/office/drawing/2014/main" id="{28FF6A09-F071-C1F2-6A09-4BF599A86835}"/>
              </a:ext>
            </a:extLst>
          </p:cNvPr>
          <p:cNvSpPr/>
          <p:nvPr/>
        </p:nvSpPr>
        <p:spPr>
          <a:xfrm>
            <a:off x="1121343" y="4082020"/>
            <a:ext cx="2534499" cy="181781"/>
          </a:xfrm>
          <a:prstGeom prst="rect">
            <a:avLst/>
          </a:prstGeom>
        </p:spPr>
        <p:txBody>
          <a:bodyPr wrap="square" lIns="0" tIns="0" rIns="0">
            <a:noAutofit/>
          </a:bodyPr>
          <a:lstStyle/>
          <a:p>
            <a:pPr algn="l" fontAlgn="t">
              <a:defRPr sz="1000" b="0" i="0">
                <a:solidFill>
                  <a:srgbClr val="000000"/>
                </a:solidFill>
                <a:latin typeface="Arial"/>
              </a:defRPr>
            </a:pPr>
            <a:r>
              <a:rPr lang="ar" b="0" i="0"/>
              <a:t>Instagram</a:t>
            </a:r>
            <a:r>
              <a:t> | </a:t>
            </a:r>
            <a:r>
              <a:rPr lang="ar" b="0" i="0">
                <a:hlinkClick r:id="rId11"/>
              </a:rPr>
              <a:t>instagram.com</a:t>
            </a:r>
            <a:endParaRPr/>
          </a:p>
        </p:txBody>
      </p:sp>
      <p:sp>
        <p:nvSpPr>
          <p:cNvPr id="64" name="Shape">
            <a:extLst>
              <a:ext uri="{FF2B5EF4-FFF2-40B4-BE49-F238E27FC236}">
                <a16:creationId xmlns:a16="http://schemas.microsoft.com/office/drawing/2014/main" id="{4AE17393-1951-C4B4-8A95-CA40DFEC5669}"/>
              </a:ext>
            </a:extLst>
          </p:cNvPr>
          <p:cNvSpPr/>
          <p:nvPr/>
        </p:nvSpPr>
        <p:spPr>
          <a:xfrm>
            <a:off x="598880" y="4316822"/>
            <a:ext cx="3168124" cy="121188"/>
          </a:xfrm>
          <a:prstGeom prst="rect">
            <a:avLst/>
          </a:prstGeom>
        </p:spPr>
        <p:txBody>
          <a:bodyPr wrap="square" lIns="0" tIns="0" rIns="0">
            <a:noAutofit/>
          </a:bodyPr>
          <a:lstStyle/>
          <a:p>
            <a:pPr algn="l" fontAlgn="t">
              <a:defRPr sz="800" b="0" i="0">
                <a:solidFill>
                  <a:srgbClr val="808080"/>
                </a:solidFill>
                <a:latin typeface="Arial"/>
              </a:defRPr>
            </a:pPr>
            <a:r>
              <a:rPr lang="ar" b="0" i="0">
                <a:hlinkClick r:id="rId18"/>
              </a:rPr>
              <a:t>21/03/26 10:00</a:t>
            </a:r>
            <a:r>
              <a:t> | </a:t>
            </a:r>
            <a:r>
              <a:rPr lang="ar" b="0" i="0"/>
              <a:t>United Arab Emirates</a:t>
            </a:r>
            <a:endParaRPr/>
          </a:p>
        </p:txBody>
      </p:sp>
      <p:sp>
        <p:nvSpPr>
          <p:cNvPr id="65" name="Shape">
            <a:extLst>
              <a:ext uri="{FF2B5EF4-FFF2-40B4-BE49-F238E27FC236}">
                <a16:creationId xmlns:a16="http://schemas.microsoft.com/office/drawing/2014/main" id="{987B352A-601F-4502-9434-6DB100C77D94}"/>
              </a:ext>
            </a:extLst>
          </p:cNvPr>
          <p:cNvSpPr/>
          <p:nvPr/>
        </p:nvSpPr>
        <p:spPr>
          <a:xfrm>
            <a:off x="3933748" y="3987342"/>
            <a:ext cx="3168124" cy="409009"/>
          </a:xfrm>
          <a:prstGeom prst="rect">
            <a:avLst/>
          </a:prstGeom>
        </p:spPr>
        <p:txBody>
          <a:bodyPr wrap="square" lIns="0" tIns="0" rIns="0">
            <a:noAutofit/>
          </a:bodyPr>
          <a:lstStyle/>
          <a:p>
            <a:pPr algn="r" fontAlgn="t">
              <a:defRPr sz="800" b="0" i="0">
                <a:solidFill>
                  <a:srgbClr val="808080"/>
                </a:solidFill>
                <a:latin typeface="Arial"/>
              </a:defRPr>
            </a:pPr>
            <a:r>
              <a:rPr lang="ar" b="0" i="0"/>
              <a:t>💖 Happy Mother’s Day 💖 Today, we celebrate the love, strength, and endless sacrifices of all the amazing moms out there ... هنّ أجمل ما في حياتنا.</a:t>
            </a:r>
            <a:r>
              <a:rPr b="0" i="0"/>
              <a:t>#MothersDay#ArabianCenter</a:t>
            </a:r>
            <a:endParaRPr/>
          </a:p>
        </p:txBody>
      </p:sp>
      <p:pic>
        <p:nvPicPr>
          <p:cNvPr id="66" name="Picture">
            <a:hlinkClick r:id="rId19"/>
            <a:extLst>
              <a:ext uri="{FF2B5EF4-FFF2-40B4-BE49-F238E27FC236}">
                <a16:creationId xmlns:a16="http://schemas.microsoft.com/office/drawing/2014/main" id="{F88914F2-F311-67AF-CDF1-BA722143798F}"/>
              </a:ext>
            </a:extLst>
          </p:cNvPr>
          <p:cNvPicPr/>
          <p:nvPr/>
        </p:nvPicPr>
        <p:blipFill>
          <a:blip r:embed="rId20"/>
          <a:srcRect/>
          <a:stretch/>
        </p:blipFill>
        <p:spPr>
          <a:xfrm>
            <a:off x="7626027" y="3744516"/>
            <a:ext cx="619125" cy="781050"/>
          </a:xfrm>
          <a:prstGeom prst="rect">
            <a:avLst/>
          </a:prstGeom>
        </p:spPr>
      </p:pic>
      <p:sp>
        <p:nvSpPr>
          <p:cNvPr id="67" name="Shape">
            <a:extLst>
              <a:ext uri="{FF2B5EF4-FFF2-40B4-BE49-F238E27FC236}">
                <a16:creationId xmlns:a16="http://schemas.microsoft.com/office/drawing/2014/main" id="{C14DFA4F-B6E2-788F-C13A-B1EFA1CAE2B6}"/>
              </a:ext>
            </a:extLst>
          </p:cNvPr>
          <p:cNvSpPr/>
          <p:nvPr/>
        </p:nvSpPr>
        <p:spPr>
          <a:xfrm>
            <a:off x="8769307" y="3953258"/>
            <a:ext cx="1111622" cy="363564"/>
          </a:xfrm>
          <a:prstGeom prst="rect">
            <a:avLst/>
          </a:prstGeom>
        </p:spPr>
        <p:txBody>
          <a:bodyPr wrap="square" lIns="0" tIns="0" rIns="0">
            <a:noAutofit/>
          </a:bodyPr>
          <a:lstStyle/>
          <a:p>
            <a:pPr algn="ctr" fontAlgn="t">
              <a:defRPr sz="1200" b="1" i="0">
                <a:solidFill>
                  <a:srgbClr val="808080"/>
                </a:solidFill>
                <a:latin typeface="Arial"/>
              </a:defRPr>
            </a:pPr>
            <a:r>
              <a:t>24</a:t>
            </a:r>
          </a:p>
        </p:txBody>
      </p:sp>
      <p:sp>
        <p:nvSpPr>
          <p:cNvPr id="68" name="Shape">
            <a:extLst>
              <a:ext uri="{FF2B5EF4-FFF2-40B4-BE49-F238E27FC236}">
                <a16:creationId xmlns:a16="http://schemas.microsoft.com/office/drawing/2014/main" id="{E2AFCE03-0FDA-6D5E-F893-0BA772630E9E}"/>
              </a:ext>
            </a:extLst>
          </p:cNvPr>
          <p:cNvSpPr/>
          <p:nvPr/>
        </p:nvSpPr>
        <p:spPr>
          <a:xfrm>
            <a:off x="8769307" y="3953258"/>
            <a:ext cx="1111622" cy="363564"/>
          </a:xfrm>
          <a:prstGeom prst="rect">
            <a:avLst/>
          </a:prstGeom>
        </p:spPr>
        <p:txBody>
          <a:bodyPr wrap="square" lIns="0" tIns="0" rIns="0">
            <a:noAutofit/>
          </a:bodyPr>
          <a:lstStyle/>
          <a:p>
            <a:pPr algn="ctr" fontAlgn="t">
              <a:defRPr sz="1200" b="1" i="0">
                <a:solidFill>
                  <a:srgbClr val="808080"/>
                </a:solidFill>
                <a:latin typeface="Arial"/>
              </a:defRPr>
            </a:pPr>
            <a:r>
              <a:t>24</a:t>
            </a:r>
          </a:p>
        </p:txBody>
      </p:sp>
      <p:sp>
        <p:nvSpPr>
          <p:cNvPr id="69" name="Shape">
            <a:extLst>
              <a:ext uri="{FF2B5EF4-FFF2-40B4-BE49-F238E27FC236}">
                <a16:creationId xmlns:a16="http://schemas.microsoft.com/office/drawing/2014/main" id="{007180A4-DB3A-1E05-35CC-49B38B1EDAC3}"/>
              </a:ext>
            </a:extLst>
          </p:cNvPr>
          <p:cNvSpPr/>
          <p:nvPr/>
        </p:nvSpPr>
        <p:spPr>
          <a:xfrm>
            <a:off x="10047672" y="3695734"/>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70" name="Shape">
            <a:extLst>
              <a:ext uri="{FF2B5EF4-FFF2-40B4-BE49-F238E27FC236}">
                <a16:creationId xmlns:a16="http://schemas.microsoft.com/office/drawing/2014/main" id="{61DCFFAD-0EF8-5298-9EDB-ED531999B52F}"/>
              </a:ext>
            </a:extLst>
          </p:cNvPr>
          <p:cNvSpPr/>
          <p:nvPr/>
        </p:nvSpPr>
        <p:spPr>
          <a:xfrm>
            <a:off x="10047672" y="384721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33.5K</a:t>
            </a:r>
          </a:p>
        </p:txBody>
      </p:sp>
      <p:sp>
        <p:nvSpPr>
          <p:cNvPr id="71" name="Shape">
            <a:extLst>
              <a:ext uri="{FF2B5EF4-FFF2-40B4-BE49-F238E27FC236}">
                <a16:creationId xmlns:a16="http://schemas.microsoft.com/office/drawing/2014/main" id="{61BC87EC-5426-851F-F05A-E76645F4594E}"/>
              </a:ext>
            </a:extLst>
          </p:cNvPr>
          <p:cNvSpPr/>
          <p:nvPr/>
        </p:nvSpPr>
        <p:spPr>
          <a:xfrm>
            <a:off x="10047672" y="384721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33.5K</a:t>
            </a:r>
          </a:p>
        </p:txBody>
      </p:sp>
      <p:sp>
        <p:nvSpPr>
          <p:cNvPr id="72" name="Shape">
            <a:extLst>
              <a:ext uri="{FF2B5EF4-FFF2-40B4-BE49-F238E27FC236}">
                <a16:creationId xmlns:a16="http://schemas.microsoft.com/office/drawing/2014/main" id="{75E42570-FFEF-7DA7-FCDE-AF3B4F1D0733}"/>
              </a:ext>
            </a:extLst>
          </p:cNvPr>
          <p:cNvSpPr/>
          <p:nvPr/>
        </p:nvSpPr>
        <p:spPr>
          <a:xfrm>
            <a:off x="10047672" y="399870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23</a:t>
            </a:r>
          </a:p>
        </p:txBody>
      </p:sp>
      <p:sp>
        <p:nvSpPr>
          <p:cNvPr id="73" name="Shape">
            <a:extLst>
              <a:ext uri="{FF2B5EF4-FFF2-40B4-BE49-F238E27FC236}">
                <a16:creationId xmlns:a16="http://schemas.microsoft.com/office/drawing/2014/main" id="{D16C67F1-658C-F769-10D9-B0E255333BD0}"/>
              </a:ext>
            </a:extLst>
          </p:cNvPr>
          <p:cNvSpPr/>
          <p:nvPr/>
        </p:nvSpPr>
        <p:spPr>
          <a:xfrm>
            <a:off x="10047672" y="399870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23</a:t>
            </a:r>
          </a:p>
        </p:txBody>
      </p:sp>
      <p:cxnSp>
        <p:nvCxnSpPr>
          <p:cNvPr id="74" name="Line 200: (537882, 5407643) - (11654110, 5407643)">
            <a:extLst>
              <a:ext uri="{FF2B5EF4-FFF2-40B4-BE49-F238E27FC236}">
                <a16:creationId xmlns:a16="http://schemas.microsoft.com/office/drawing/2014/main" id="{CC67322E-C813-85C0-E004-9B0F563EFE80}"/>
              </a:ext>
            </a:extLst>
          </p:cNvPr>
          <p:cNvCxnSpPr/>
          <p:nvPr/>
        </p:nvCxnSpPr>
        <p:spPr>
          <a:xfrm>
            <a:off x="432137" y="4589496"/>
            <a:ext cx="11116228" cy="0"/>
          </a:xfrm>
          <a:prstGeom prst="line">
            <a:avLst/>
          </a:prstGeom>
          <a:ln w="12700">
            <a:solidFill>
              <a:srgbClr val="C7C7C7"/>
            </a:solidFill>
          </a:ln>
        </p:spPr>
      </p:cxnSp>
      <p:pic>
        <p:nvPicPr>
          <p:cNvPr id="75" name="Picture">
            <a:extLst>
              <a:ext uri="{FF2B5EF4-FFF2-40B4-BE49-F238E27FC236}">
                <a16:creationId xmlns:a16="http://schemas.microsoft.com/office/drawing/2014/main" id="{E73CE2D7-8DAF-E396-61CC-DDBB7ACAC620}"/>
              </a:ext>
            </a:extLst>
          </p:cNvPr>
          <p:cNvPicPr/>
          <p:nvPr/>
        </p:nvPicPr>
        <p:blipFill>
          <a:blip r:embed="rId9"/>
          <a:srcRect/>
          <a:stretch/>
        </p:blipFill>
        <p:spPr>
          <a:xfrm>
            <a:off x="546549" y="4673391"/>
            <a:ext cx="438150" cy="438150"/>
          </a:xfrm>
          <a:prstGeom prst="rect">
            <a:avLst/>
          </a:prstGeom>
        </p:spPr>
      </p:pic>
      <p:pic>
        <p:nvPicPr>
          <p:cNvPr id="76" name="Picture">
            <a:extLst>
              <a:ext uri="{FF2B5EF4-FFF2-40B4-BE49-F238E27FC236}">
                <a16:creationId xmlns:a16="http://schemas.microsoft.com/office/drawing/2014/main" id="{FD4537E5-9149-2B88-AA88-6F8E7AE33EA4}"/>
              </a:ext>
            </a:extLst>
          </p:cNvPr>
          <p:cNvPicPr/>
          <p:nvPr/>
        </p:nvPicPr>
        <p:blipFill>
          <a:blip r:embed="rId3"/>
          <a:srcRect/>
          <a:stretch/>
        </p:blipFill>
        <p:spPr>
          <a:xfrm>
            <a:off x="854576" y="4656127"/>
            <a:ext cx="133350" cy="133350"/>
          </a:xfrm>
          <a:prstGeom prst="rect">
            <a:avLst/>
          </a:prstGeom>
        </p:spPr>
      </p:pic>
      <p:sp>
        <p:nvSpPr>
          <p:cNvPr id="77" name="Shape">
            <a:extLst>
              <a:ext uri="{FF2B5EF4-FFF2-40B4-BE49-F238E27FC236}">
                <a16:creationId xmlns:a16="http://schemas.microsoft.com/office/drawing/2014/main" id="{0F67BE6D-381B-CCCE-6952-A8FA5304D963}"/>
              </a:ext>
            </a:extLst>
          </p:cNvPr>
          <p:cNvSpPr/>
          <p:nvPr/>
        </p:nvSpPr>
        <p:spPr>
          <a:xfrm>
            <a:off x="1121343" y="4710684"/>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0"/>
              </a:rPr>
              <a:t>arabiancenter</a:t>
            </a:r>
            <a:endParaRPr/>
          </a:p>
        </p:txBody>
      </p:sp>
      <p:sp>
        <p:nvSpPr>
          <p:cNvPr id="78" name="Shape">
            <a:extLst>
              <a:ext uri="{FF2B5EF4-FFF2-40B4-BE49-F238E27FC236}">
                <a16:creationId xmlns:a16="http://schemas.microsoft.com/office/drawing/2014/main" id="{16268D51-B97E-7145-70E8-87997024A1A3}"/>
              </a:ext>
            </a:extLst>
          </p:cNvPr>
          <p:cNvSpPr/>
          <p:nvPr/>
        </p:nvSpPr>
        <p:spPr>
          <a:xfrm>
            <a:off x="1121343" y="4990930"/>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11"/>
              </a:rPr>
              <a:t>instagram.com</a:t>
            </a:r>
            <a:endParaRPr/>
          </a:p>
        </p:txBody>
      </p:sp>
      <p:sp>
        <p:nvSpPr>
          <p:cNvPr id="79" name="Shape">
            <a:extLst>
              <a:ext uri="{FF2B5EF4-FFF2-40B4-BE49-F238E27FC236}">
                <a16:creationId xmlns:a16="http://schemas.microsoft.com/office/drawing/2014/main" id="{D380EEC8-A440-28ED-974A-30C83CBC0748}"/>
              </a:ext>
            </a:extLst>
          </p:cNvPr>
          <p:cNvSpPr/>
          <p:nvPr/>
        </p:nvSpPr>
        <p:spPr>
          <a:xfrm>
            <a:off x="598880" y="5225732"/>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1"/>
              </a:rPr>
              <a:t>21/03/26 11:30</a:t>
            </a:r>
            <a:r>
              <a:t> | </a:t>
            </a:r>
            <a:r>
              <a:rPr lang="en" b="0" i="0"/>
              <a:t>United Arab Emirates</a:t>
            </a:r>
            <a:endParaRPr/>
          </a:p>
        </p:txBody>
      </p:sp>
      <p:sp>
        <p:nvSpPr>
          <p:cNvPr id="80" name="Shape">
            <a:extLst>
              <a:ext uri="{FF2B5EF4-FFF2-40B4-BE49-F238E27FC236}">
                <a16:creationId xmlns:a16="http://schemas.microsoft.com/office/drawing/2014/main" id="{283887EA-50F3-45DB-C96C-361039D7D09A}"/>
              </a:ext>
            </a:extLst>
          </p:cNvPr>
          <p:cNvSpPr/>
          <p:nvPr/>
        </p:nvSpPr>
        <p:spPr>
          <a:xfrm>
            <a:off x="3933748" y="4896252"/>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...message 🤍🌙 On the first day of Eid, we shared white roses with our visitors at Arabian Center — as a symbol of peace, unity, and hope during these times. May this Eid bring comfort, strength, and togetherness...</a:t>
            </a:r>
            <a:endParaRPr/>
          </a:p>
        </p:txBody>
      </p:sp>
      <p:pic>
        <p:nvPicPr>
          <p:cNvPr id="81" name="Picture">
            <a:hlinkClick r:id="rId22"/>
            <a:extLst>
              <a:ext uri="{FF2B5EF4-FFF2-40B4-BE49-F238E27FC236}">
                <a16:creationId xmlns:a16="http://schemas.microsoft.com/office/drawing/2014/main" id="{B74707FD-6E98-88FC-D5DD-09F691042311}"/>
              </a:ext>
            </a:extLst>
          </p:cNvPr>
          <p:cNvPicPr/>
          <p:nvPr/>
        </p:nvPicPr>
        <p:blipFill>
          <a:blip r:embed="rId23"/>
          <a:srcRect/>
          <a:stretch/>
        </p:blipFill>
        <p:spPr>
          <a:xfrm>
            <a:off x="7716515" y="4653426"/>
            <a:ext cx="438150" cy="781050"/>
          </a:xfrm>
          <a:prstGeom prst="rect">
            <a:avLst/>
          </a:prstGeom>
        </p:spPr>
      </p:pic>
      <p:sp>
        <p:nvSpPr>
          <p:cNvPr id="82" name="Shape">
            <a:extLst>
              <a:ext uri="{FF2B5EF4-FFF2-40B4-BE49-F238E27FC236}">
                <a16:creationId xmlns:a16="http://schemas.microsoft.com/office/drawing/2014/main" id="{A9AFE7CB-CBDA-E309-D9AB-34FD1CAA8616}"/>
              </a:ext>
            </a:extLst>
          </p:cNvPr>
          <p:cNvSpPr/>
          <p:nvPr/>
        </p:nvSpPr>
        <p:spPr>
          <a:xfrm>
            <a:off x="8769307" y="4862168"/>
            <a:ext cx="1111622" cy="363564"/>
          </a:xfrm>
          <a:prstGeom prst="rect">
            <a:avLst/>
          </a:prstGeom>
        </p:spPr>
        <p:txBody>
          <a:bodyPr wrap="square" lIns="0" tIns="0" rIns="0">
            <a:noAutofit/>
          </a:bodyPr>
          <a:lstStyle/>
          <a:p>
            <a:pPr algn="ctr" fontAlgn="t">
              <a:defRPr sz="1200" b="1" i="0">
                <a:solidFill>
                  <a:srgbClr val="808080"/>
                </a:solidFill>
                <a:latin typeface="Arial"/>
              </a:defRPr>
            </a:pPr>
            <a:r>
              <a:t>82</a:t>
            </a:r>
          </a:p>
        </p:txBody>
      </p:sp>
      <p:sp>
        <p:nvSpPr>
          <p:cNvPr id="83" name="Shape">
            <a:extLst>
              <a:ext uri="{FF2B5EF4-FFF2-40B4-BE49-F238E27FC236}">
                <a16:creationId xmlns:a16="http://schemas.microsoft.com/office/drawing/2014/main" id="{6D5FDCFF-E774-873C-CF1B-98F0A20123C2}"/>
              </a:ext>
            </a:extLst>
          </p:cNvPr>
          <p:cNvSpPr/>
          <p:nvPr/>
        </p:nvSpPr>
        <p:spPr>
          <a:xfrm>
            <a:off x="8769307" y="4862168"/>
            <a:ext cx="1111622" cy="363564"/>
          </a:xfrm>
          <a:prstGeom prst="rect">
            <a:avLst/>
          </a:prstGeom>
        </p:spPr>
        <p:txBody>
          <a:bodyPr wrap="square" lIns="0" tIns="0" rIns="0">
            <a:noAutofit/>
          </a:bodyPr>
          <a:lstStyle/>
          <a:p>
            <a:pPr algn="ctr" fontAlgn="t">
              <a:defRPr sz="1200" b="1" i="0">
                <a:solidFill>
                  <a:srgbClr val="808080"/>
                </a:solidFill>
                <a:latin typeface="Arial"/>
              </a:defRPr>
            </a:pPr>
            <a:r>
              <a:t>82</a:t>
            </a:r>
          </a:p>
        </p:txBody>
      </p:sp>
      <p:sp>
        <p:nvSpPr>
          <p:cNvPr id="84" name="Shape">
            <a:extLst>
              <a:ext uri="{FF2B5EF4-FFF2-40B4-BE49-F238E27FC236}">
                <a16:creationId xmlns:a16="http://schemas.microsoft.com/office/drawing/2014/main" id="{5C7E3D11-4AB9-3CE9-7C60-BC71B73EE23B}"/>
              </a:ext>
            </a:extLst>
          </p:cNvPr>
          <p:cNvSpPr/>
          <p:nvPr/>
        </p:nvSpPr>
        <p:spPr>
          <a:xfrm>
            <a:off x="10047672" y="4604644"/>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85" name="Shape">
            <a:extLst>
              <a:ext uri="{FF2B5EF4-FFF2-40B4-BE49-F238E27FC236}">
                <a16:creationId xmlns:a16="http://schemas.microsoft.com/office/drawing/2014/main" id="{EB69F8EB-4160-3C48-EB50-C72211D710D5}"/>
              </a:ext>
            </a:extLst>
          </p:cNvPr>
          <p:cNvSpPr/>
          <p:nvPr/>
        </p:nvSpPr>
        <p:spPr>
          <a:xfrm>
            <a:off x="10047672" y="475612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33.6K</a:t>
            </a:r>
          </a:p>
        </p:txBody>
      </p:sp>
      <p:sp>
        <p:nvSpPr>
          <p:cNvPr id="86" name="Shape">
            <a:extLst>
              <a:ext uri="{FF2B5EF4-FFF2-40B4-BE49-F238E27FC236}">
                <a16:creationId xmlns:a16="http://schemas.microsoft.com/office/drawing/2014/main" id="{E105B949-6A55-62DE-5E19-D051975DBB59}"/>
              </a:ext>
            </a:extLst>
          </p:cNvPr>
          <p:cNvSpPr/>
          <p:nvPr/>
        </p:nvSpPr>
        <p:spPr>
          <a:xfrm>
            <a:off x="10047672" y="475612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33.6K</a:t>
            </a:r>
          </a:p>
        </p:txBody>
      </p:sp>
      <p:sp>
        <p:nvSpPr>
          <p:cNvPr id="87" name="Shape">
            <a:extLst>
              <a:ext uri="{FF2B5EF4-FFF2-40B4-BE49-F238E27FC236}">
                <a16:creationId xmlns:a16="http://schemas.microsoft.com/office/drawing/2014/main" id="{EB22D116-BB18-9F5A-4CDC-AFF6844996CF}"/>
              </a:ext>
            </a:extLst>
          </p:cNvPr>
          <p:cNvSpPr/>
          <p:nvPr/>
        </p:nvSpPr>
        <p:spPr>
          <a:xfrm>
            <a:off x="10047672" y="490761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72</a:t>
            </a:r>
          </a:p>
        </p:txBody>
      </p:sp>
      <p:sp>
        <p:nvSpPr>
          <p:cNvPr id="88" name="Shape">
            <a:extLst>
              <a:ext uri="{FF2B5EF4-FFF2-40B4-BE49-F238E27FC236}">
                <a16:creationId xmlns:a16="http://schemas.microsoft.com/office/drawing/2014/main" id="{FDFCB57E-D5DA-7D86-1681-51879A990D6A}"/>
              </a:ext>
            </a:extLst>
          </p:cNvPr>
          <p:cNvSpPr/>
          <p:nvPr/>
        </p:nvSpPr>
        <p:spPr>
          <a:xfrm>
            <a:off x="10047672" y="490761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72</a:t>
            </a:r>
          </a:p>
        </p:txBody>
      </p:sp>
      <p:cxnSp>
        <p:nvCxnSpPr>
          <p:cNvPr id="89" name="Line 200: (537882, 6316553) - (11654110, 6316553)">
            <a:extLst>
              <a:ext uri="{FF2B5EF4-FFF2-40B4-BE49-F238E27FC236}">
                <a16:creationId xmlns:a16="http://schemas.microsoft.com/office/drawing/2014/main" id="{DB858EAD-0B40-EA85-4FB8-4B6E307317F1}"/>
              </a:ext>
            </a:extLst>
          </p:cNvPr>
          <p:cNvCxnSpPr/>
          <p:nvPr/>
        </p:nvCxnSpPr>
        <p:spPr>
          <a:xfrm>
            <a:off x="432137" y="5498406"/>
            <a:ext cx="11116228" cy="0"/>
          </a:xfrm>
          <a:prstGeom prst="line">
            <a:avLst/>
          </a:prstGeom>
          <a:ln w="12700">
            <a:solidFill>
              <a:srgbClr val="C7C7C7"/>
            </a:solidFill>
          </a:ln>
        </p:spPr>
      </p:cxnSp>
    </p:spTree>
    <p:extLst>
      <p:ext uri="{BB962C8B-B14F-4D97-AF65-F5344CB8AC3E}">
        <p14:creationId xmlns:p14="http://schemas.microsoft.com/office/powerpoint/2010/main" val="1576670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131D4-79E8-37C5-A594-745A056AA21C}"/>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82C7906C-E643-DA0A-2F8D-33E855BE7856}"/>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8736D9FD-E9FC-1DA1-59A0-C9CCC9F90A11}"/>
              </a:ext>
            </a:extLst>
          </p:cNvPr>
          <p:cNvCxnSpPr/>
          <p:nvPr/>
        </p:nvCxnSpPr>
        <p:spPr>
          <a:xfrm>
            <a:off x="432137" y="963481"/>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FCB41002-E926-9320-A9A0-30B69F03FA44}"/>
              </a:ext>
            </a:extLst>
          </p:cNvPr>
          <p:cNvSpPr/>
          <p:nvPr/>
        </p:nvSpPr>
        <p:spPr>
          <a:xfrm>
            <a:off x="765623" y="748213"/>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7D16FC2B-FD9D-4797-426C-677EE89A770A}"/>
              </a:ext>
            </a:extLst>
          </p:cNvPr>
          <p:cNvCxnSpPr/>
          <p:nvPr/>
        </p:nvCxnSpPr>
        <p:spPr>
          <a:xfrm>
            <a:off x="3767005" y="724295"/>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5AF15D57-6F0E-BF8C-3D68-6B67B3C3B0C6}"/>
              </a:ext>
            </a:extLst>
          </p:cNvPr>
          <p:cNvSpPr/>
          <p:nvPr/>
        </p:nvSpPr>
        <p:spPr>
          <a:xfrm>
            <a:off x="4100491" y="748213"/>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CBFDCB84-7F91-A863-3E48-E247D9D4865B}"/>
              </a:ext>
            </a:extLst>
          </p:cNvPr>
          <p:cNvCxnSpPr/>
          <p:nvPr/>
        </p:nvCxnSpPr>
        <p:spPr>
          <a:xfrm>
            <a:off x="8769307" y="724295"/>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D2171EF9-18D3-BEAE-AE38-FC8A79DC5AD9}"/>
              </a:ext>
            </a:extLst>
          </p:cNvPr>
          <p:cNvSpPr/>
          <p:nvPr/>
        </p:nvSpPr>
        <p:spPr>
          <a:xfrm>
            <a:off x="8880469" y="748213"/>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E4309374-CD20-2055-3A52-E0474C019D64}"/>
              </a:ext>
            </a:extLst>
          </p:cNvPr>
          <p:cNvCxnSpPr/>
          <p:nvPr/>
        </p:nvCxnSpPr>
        <p:spPr>
          <a:xfrm>
            <a:off x="9880929" y="724295"/>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56CCDB6A-1093-AECC-EF6F-C928DD0A6667}"/>
              </a:ext>
            </a:extLst>
          </p:cNvPr>
          <p:cNvSpPr/>
          <p:nvPr/>
        </p:nvSpPr>
        <p:spPr>
          <a:xfrm>
            <a:off x="10047672" y="748213"/>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47EF25D7-7CA9-B16D-A3F6-ABB22E1821C0}"/>
              </a:ext>
            </a:extLst>
          </p:cNvPr>
          <p:cNvPicPr/>
          <p:nvPr/>
        </p:nvPicPr>
        <p:blipFill>
          <a:blip r:embed="rId2"/>
          <a:srcRect/>
          <a:stretch/>
        </p:blipFill>
        <p:spPr>
          <a:xfrm>
            <a:off x="546549" y="1047376"/>
            <a:ext cx="438150" cy="438150"/>
          </a:xfrm>
          <a:prstGeom prst="rect">
            <a:avLst/>
          </a:prstGeom>
        </p:spPr>
      </p:pic>
      <p:pic>
        <p:nvPicPr>
          <p:cNvPr id="12" name="Picture">
            <a:extLst>
              <a:ext uri="{FF2B5EF4-FFF2-40B4-BE49-F238E27FC236}">
                <a16:creationId xmlns:a16="http://schemas.microsoft.com/office/drawing/2014/main" id="{3C24B224-041A-9753-4717-28F970F6CC9F}"/>
              </a:ext>
            </a:extLst>
          </p:cNvPr>
          <p:cNvPicPr/>
          <p:nvPr/>
        </p:nvPicPr>
        <p:blipFill>
          <a:blip r:embed="rId3"/>
          <a:srcRect/>
          <a:stretch/>
        </p:blipFill>
        <p:spPr>
          <a:xfrm>
            <a:off x="854576" y="1030112"/>
            <a:ext cx="133350" cy="133350"/>
          </a:xfrm>
          <a:prstGeom prst="rect">
            <a:avLst/>
          </a:prstGeom>
        </p:spPr>
      </p:pic>
      <p:sp>
        <p:nvSpPr>
          <p:cNvPr id="13" name="Shape">
            <a:extLst>
              <a:ext uri="{FF2B5EF4-FFF2-40B4-BE49-F238E27FC236}">
                <a16:creationId xmlns:a16="http://schemas.microsoft.com/office/drawing/2014/main" id="{407E5E61-27A0-C898-25EC-8210CF27E2BB}"/>
              </a:ext>
            </a:extLst>
          </p:cNvPr>
          <p:cNvSpPr/>
          <p:nvPr/>
        </p:nvSpPr>
        <p:spPr>
          <a:xfrm>
            <a:off x="1121343" y="1084669"/>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arabiancenter</a:t>
            </a:r>
            <a:endParaRPr/>
          </a:p>
        </p:txBody>
      </p:sp>
      <p:sp>
        <p:nvSpPr>
          <p:cNvPr id="14" name="Shape">
            <a:extLst>
              <a:ext uri="{FF2B5EF4-FFF2-40B4-BE49-F238E27FC236}">
                <a16:creationId xmlns:a16="http://schemas.microsoft.com/office/drawing/2014/main" id="{1B74D233-B68A-46B3-1FD0-7B683D3FBC4D}"/>
              </a:ext>
            </a:extLst>
          </p:cNvPr>
          <p:cNvSpPr/>
          <p:nvPr/>
        </p:nvSpPr>
        <p:spPr>
          <a:xfrm>
            <a:off x="1121343" y="1364915"/>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15" name="Shape">
            <a:extLst>
              <a:ext uri="{FF2B5EF4-FFF2-40B4-BE49-F238E27FC236}">
                <a16:creationId xmlns:a16="http://schemas.microsoft.com/office/drawing/2014/main" id="{1EE4023F-786C-CE3D-841F-92540E9F53C7}"/>
              </a:ext>
            </a:extLst>
          </p:cNvPr>
          <p:cNvSpPr/>
          <p:nvPr/>
        </p:nvSpPr>
        <p:spPr>
          <a:xfrm>
            <a:off x="598880" y="1599717"/>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6"/>
              </a:rPr>
              <a:t>22/03/26 14:48</a:t>
            </a:r>
            <a:r>
              <a:t> | </a:t>
            </a:r>
            <a:r>
              <a:rPr lang="en" b="0" i="0"/>
              <a:t>United Arab Emirates</a:t>
            </a:r>
            <a:endParaRPr/>
          </a:p>
        </p:txBody>
      </p:sp>
      <p:sp>
        <p:nvSpPr>
          <p:cNvPr id="16" name="Shape">
            <a:extLst>
              <a:ext uri="{FF2B5EF4-FFF2-40B4-BE49-F238E27FC236}">
                <a16:creationId xmlns:a16="http://schemas.microsoft.com/office/drawing/2014/main" id="{66004202-A0CD-840B-9B76-64A11C82E0F0}"/>
              </a:ext>
            </a:extLst>
          </p:cNvPr>
          <p:cNvSpPr/>
          <p:nvPr/>
        </p:nvSpPr>
        <p:spPr>
          <a:xfrm>
            <a:off x="3933748" y="1270237"/>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...to enjoy our free Eid activities at Arabian Center. Gather your loved ones and step into a world of ... family. 🕑 2 PM – 10 PM 📍 Entrance B #ArabianCenter...</a:t>
            </a:r>
            <a:endParaRPr/>
          </a:p>
        </p:txBody>
      </p:sp>
      <p:pic>
        <p:nvPicPr>
          <p:cNvPr id="17" name="Picture">
            <a:hlinkClick r:id="rId7"/>
            <a:extLst>
              <a:ext uri="{FF2B5EF4-FFF2-40B4-BE49-F238E27FC236}">
                <a16:creationId xmlns:a16="http://schemas.microsoft.com/office/drawing/2014/main" id="{9D307C2E-CF7D-E29E-88AE-1BC493E166EA}"/>
              </a:ext>
            </a:extLst>
          </p:cNvPr>
          <p:cNvPicPr/>
          <p:nvPr/>
        </p:nvPicPr>
        <p:blipFill>
          <a:blip r:embed="rId8"/>
          <a:srcRect/>
          <a:stretch/>
        </p:blipFill>
        <p:spPr>
          <a:xfrm>
            <a:off x="7716515" y="1027411"/>
            <a:ext cx="438150" cy="781050"/>
          </a:xfrm>
          <a:prstGeom prst="rect">
            <a:avLst/>
          </a:prstGeom>
        </p:spPr>
      </p:pic>
      <p:sp>
        <p:nvSpPr>
          <p:cNvPr id="18" name="Shape">
            <a:extLst>
              <a:ext uri="{FF2B5EF4-FFF2-40B4-BE49-F238E27FC236}">
                <a16:creationId xmlns:a16="http://schemas.microsoft.com/office/drawing/2014/main" id="{F13FAFB1-820A-5548-F40F-D5E6A8C79059}"/>
              </a:ext>
            </a:extLst>
          </p:cNvPr>
          <p:cNvSpPr/>
          <p:nvPr/>
        </p:nvSpPr>
        <p:spPr>
          <a:xfrm>
            <a:off x="8769307" y="1236153"/>
            <a:ext cx="1111622" cy="363564"/>
          </a:xfrm>
          <a:prstGeom prst="rect">
            <a:avLst/>
          </a:prstGeom>
        </p:spPr>
        <p:txBody>
          <a:bodyPr wrap="square" lIns="0" tIns="0" rIns="0">
            <a:noAutofit/>
          </a:bodyPr>
          <a:lstStyle/>
          <a:p>
            <a:pPr algn="ctr" fontAlgn="t">
              <a:defRPr sz="1200" b="1" i="0">
                <a:solidFill>
                  <a:srgbClr val="808080"/>
                </a:solidFill>
                <a:latin typeface="Arial"/>
              </a:defRPr>
            </a:pPr>
            <a:r>
              <a:t>60</a:t>
            </a:r>
          </a:p>
        </p:txBody>
      </p:sp>
      <p:sp>
        <p:nvSpPr>
          <p:cNvPr id="19" name="Shape">
            <a:extLst>
              <a:ext uri="{FF2B5EF4-FFF2-40B4-BE49-F238E27FC236}">
                <a16:creationId xmlns:a16="http://schemas.microsoft.com/office/drawing/2014/main" id="{2F21E30C-A7B6-D052-1512-0F09D8BD1FFD}"/>
              </a:ext>
            </a:extLst>
          </p:cNvPr>
          <p:cNvSpPr/>
          <p:nvPr/>
        </p:nvSpPr>
        <p:spPr>
          <a:xfrm>
            <a:off x="8769307" y="1236153"/>
            <a:ext cx="1111622" cy="363564"/>
          </a:xfrm>
          <a:prstGeom prst="rect">
            <a:avLst/>
          </a:prstGeom>
        </p:spPr>
        <p:txBody>
          <a:bodyPr wrap="square" lIns="0" tIns="0" rIns="0">
            <a:noAutofit/>
          </a:bodyPr>
          <a:lstStyle/>
          <a:p>
            <a:pPr algn="ctr" fontAlgn="t">
              <a:defRPr sz="1200" b="1" i="0">
                <a:solidFill>
                  <a:srgbClr val="808080"/>
                </a:solidFill>
                <a:latin typeface="Arial"/>
              </a:defRPr>
            </a:pPr>
            <a:r>
              <a:t>60</a:t>
            </a:r>
          </a:p>
        </p:txBody>
      </p:sp>
      <p:sp>
        <p:nvSpPr>
          <p:cNvPr id="20" name="Shape">
            <a:extLst>
              <a:ext uri="{FF2B5EF4-FFF2-40B4-BE49-F238E27FC236}">
                <a16:creationId xmlns:a16="http://schemas.microsoft.com/office/drawing/2014/main" id="{9DB2FA85-D3C7-CF6C-9C35-2EDBA9A45BA0}"/>
              </a:ext>
            </a:extLst>
          </p:cNvPr>
          <p:cNvSpPr/>
          <p:nvPr/>
        </p:nvSpPr>
        <p:spPr>
          <a:xfrm>
            <a:off x="10047672" y="978629"/>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21" name="Shape">
            <a:extLst>
              <a:ext uri="{FF2B5EF4-FFF2-40B4-BE49-F238E27FC236}">
                <a16:creationId xmlns:a16="http://schemas.microsoft.com/office/drawing/2014/main" id="{1F4074DA-D924-68F0-B7E3-B14809B111B5}"/>
              </a:ext>
            </a:extLst>
          </p:cNvPr>
          <p:cNvSpPr/>
          <p:nvPr/>
        </p:nvSpPr>
        <p:spPr>
          <a:xfrm>
            <a:off x="10047672" y="113011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33.6K</a:t>
            </a:r>
          </a:p>
        </p:txBody>
      </p:sp>
      <p:sp>
        <p:nvSpPr>
          <p:cNvPr id="22" name="Shape">
            <a:extLst>
              <a:ext uri="{FF2B5EF4-FFF2-40B4-BE49-F238E27FC236}">
                <a16:creationId xmlns:a16="http://schemas.microsoft.com/office/drawing/2014/main" id="{9658049E-5414-8549-1DE1-4FE1C93FD656}"/>
              </a:ext>
            </a:extLst>
          </p:cNvPr>
          <p:cNvSpPr/>
          <p:nvPr/>
        </p:nvSpPr>
        <p:spPr>
          <a:xfrm>
            <a:off x="10047672" y="113011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33.6K</a:t>
            </a:r>
          </a:p>
        </p:txBody>
      </p:sp>
      <p:sp>
        <p:nvSpPr>
          <p:cNvPr id="23" name="Shape">
            <a:extLst>
              <a:ext uri="{FF2B5EF4-FFF2-40B4-BE49-F238E27FC236}">
                <a16:creationId xmlns:a16="http://schemas.microsoft.com/office/drawing/2014/main" id="{DF284CF5-91C9-49CE-DCF2-55AD98F5095C}"/>
              </a:ext>
            </a:extLst>
          </p:cNvPr>
          <p:cNvSpPr/>
          <p:nvPr/>
        </p:nvSpPr>
        <p:spPr>
          <a:xfrm>
            <a:off x="10047672" y="128159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57</a:t>
            </a:r>
          </a:p>
        </p:txBody>
      </p:sp>
      <p:sp>
        <p:nvSpPr>
          <p:cNvPr id="24" name="Shape">
            <a:extLst>
              <a:ext uri="{FF2B5EF4-FFF2-40B4-BE49-F238E27FC236}">
                <a16:creationId xmlns:a16="http://schemas.microsoft.com/office/drawing/2014/main" id="{F6AEB18A-55FF-3DDB-67ED-F9B7655E6186}"/>
              </a:ext>
            </a:extLst>
          </p:cNvPr>
          <p:cNvSpPr/>
          <p:nvPr/>
        </p:nvSpPr>
        <p:spPr>
          <a:xfrm>
            <a:off x="10047672" y="128159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57</a:t>
            </a:r>
          </a:p>
        </p:txBody>
      </p:sp>
      <p:cxnSp>
        <p:nvCxnSpPr>
          <p:cNvPr id="25" name="Line 200: (537882, 2680913) - (11654110, 2680913)">
            <a:extLst>
              <a:ext uri="{FF2B5EF4-FFF2-40B4-BE49-F238E27FC236}">
                <a16:creationId xmlns:a16="http://schemas.microsoft.com/office/drawing/2014/main" id="{2C4D5501-7165-88C2-72CD-7E2A50680F4F}"/>
              </a:ext>
            </a:extLst>
          </p:cNvPr>
          <p:cNvCxnSpPr/>
          <p:nvPr/>
        </p:nvCxnSpPr>
        <p:spPr>
          <a:xfrm>
            <a:off x="432137" y="1872391"/>
            <a:ext cx="11116228" cy="0"/>
          </a:xfrm>
          <a:prstGeom prst="line">
            <a:avLst/>
          </a:prstGeom>
          <a:ln w="12700">
            <a:solidFill>
              <a:srgbClr val="C7C7C7"/>
            </a:solidFill>
          </a:ln>
        </p:spPr>
      </p:cxnSp>
      <p:pic>
        <p:nvPicPr>
          <p:cNvPr id="26" name="Picture">
            <a:extLst>
              <a:ext uri="{FF2B5EF4-FFF2-40B4-BE49-F238E27FC236}">
                <a16:creationId xmlns:a16="http://schemas.microsoft.com/office/drawing/2014/main" id="{E4ED7BB7-0A11-39E8-A76B-6EAF7A21743D}"/>
              </a:ext>
            </a:extLst>
          </p:cNvPr>
          <p:cNvPicPr/>
          <p:nvPr/>
        </p:nvPicPr>
        <p:blipFill>
          <a:blip r:embed="rId9"/>
          <a:srcRect/>
          <a:stretch/>
        </p:blipFill>
        <p:spPr>
          <a:xfrm>
            <a:off x="546549" y="1956286"/>
            <a:ext cx="438150" cy="438150"/>
          </a:xfrm>
          <a:prstGeom prst="rect">
            <a:avLst/>
          </a:prstGeom>
        </p:spPr>
      </p:pic>
      <p:pic>
        <p:nvPicPr>
          <p:cNvPr id="27" name="Picture">
            <a:extLst>
              <a:ext uri="{FF2B5EF4-FFF2-40B4-BE49-F238E27FC236}">
                <a16:creationId xmlns:a16="http://schemas.microsoft.com/office/drawing/2014/main" id="{A08821DB-22EC-A974-F026-48F17A24D2C1}"/>
              </a:ext>
            </a:extLst>
          </p:cNvPr>
          <p:cNvPicPr/>
          <p:nvPr/>
        </p:nvPicPr>
        <p:blipFill>
          <a:blip r:embed="rId3"/>
          <a:srcRect/>
          <a:stretch/>
        </p:blipFill>
        <p:spPr>
          <a:xfrm>
            <a:off x="854576" y="1939022"/>
            <a:ext cx="133350" cy="133350"/>
          </a:xfrm>
          <a:prstGeom prst="rect">
            <a:avLst/>
          </a:prstGeom>
        </p:spPr>
      </p:pic>
      <p:sp>
        <p:nvSpPr>
          <p:cNvPr id="28" name="Shape">
            <a:extLst>
              <a:ext uri="{FF2B5EF4-FFF2-40B4-BE49-F238E27FC236}">
                <a16:creationId xmlns:a16="http://schemas.microsoft.com/office/drawing/2014/main" id="{204043C0-0E27-A636-44EE-F3AF8267694A}"/>
              </a:ext>
            </a:extLst>
          </p:cNvPr>
          <p:cNvSpPr/>
          <p:nvPr/>
        </p:nvSpPr>
        <p:spPr>
          <a:xfrm>
            <a:off x="1121343" y="1993579"/>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0"/>
              </a:rPr>
              <a:t>arabian center (arabiancenter)</a:t>
            </a:r>
            <a:endParaRPr/>
          </a:p>
        </p:txBody>
      </p:sp>
      <p:sp>
        <p:nvSpPr>
          <p:cNvPr id="29" name="Shape">
            <a:extLst>
              <a:ext uri="{FF2B5EF4-FFF2-40B4-BE49-F238E27FC236}">
                <a16:creationId xmlns:a16="http://schemas.microsoft.com/office/drawing/2014/main" id="{21963552-D17B-23DE-1B8F-522F5DCB5C83}"/>
              </a:ext>
            </a:extLst>
          </p:cNvPr>
          <p:cNvSpPr/>
          <p:nvPr/>
        </p:nvSpPr>
        <p:spPr>
          <a:xfrm>
            <a:off x="1121343" y="2273825"/>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11"/>
              </a:rPr>
              <a:t>twitter.com</a:t>
            </a:r>
            <a:endParaRPr/>
          </a:p>
        </p:txBody>
      </p:sp>
      <p:sp>
        <p:nvSpPr>
          <p:cNvPr id="30" name="Shape">
            <a:extLst>
              <a:ext uri="{FF2B5EF4-FFF2-40B4-BE49-F238E27FC236}">
                <a16:creationId xmlns:a16="http://schemas.microsoft.com/office/drawing/2014/main" id="{CFB2501F-4E30-5849-A83B-B2FDCB4DDC53}"/>
              </a:ext>
            </a:extLst>
          </p:cNvPr>
          <p:cNvSpPr/>
          <p:nvPr/>
        </p:nvSpPr>
        <p:spPr>
          <a:xfrm>
            <a:off x="598880" y="2508627"/>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2"/>
              </a:rPr>
              <a:t>23/03/26 12:00</a:t>
            </a:r>
            <a:r>
              <a:t> | </a:t>
            </a:r>
            <a:r>
              <a:rPr lang="en" b="0" i="0"/>
              <a:t>United Arab Emirates</a:t>
            </a:r>
            <a:endParaRPr/>
          </a:p>
        </p:txBody>
      </p:sp>
      <p:sp>
        <p:nvSpPr>
          <p:cNvPr id="31" name="Shape">
            <a:extLst>
              <a:ext uri="{FF2B5EF4-FFF2-40B4-BE49-F238E27FC236}">
                <a16:creationId xmlns:a16="http://schemas.microsoft.com/office/drawing/2014/main" id="{7D5C0739-3C34-0F51-50E5-85CBE7904B2F}"/>
              </a:ext>
            </a:extLst>
          </p:cNvPr>
          <p:cNvSpPr/>
          <p:nvPr/>
        </p:nvSpPr>
        <p:spPr>
          <a:xfrm>
            <a:off x="3933748" y="2179147"/>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In solidarity with the International Association of Emiratis (IAE) and as part of our commitment to the health of our community, HealthHub Clinics is proud to offer complimentary mental health consultations for UAE...</a:t>
            </a:r>
            <a:endParaRPr/>
          </a:p>
        </p:txBody>
      </p:sp>
      <p:pic>
        <p:nvPicPr>
          <p:cNvPr id="32" name="Picture">
            <a:hlinkClick r:id="rId13"/>
            <a:extLst>
              <a:ext uri="{FF2B5EF4-FFF2-40B4-BE49-F238E27FC236}">
                <a16:creationId xmlns:a16="http://schemas.microsoft.com/office/drawing/2014/main" id="{12985780-7C2E-3897-06B4-F7D5AF101861}"/>
              </a:ext>
            </a:extLst>
          </p:cNvPr>
          <p:cNvPicPr/>
          <p:nvPr/>
        </p:nvPicPr>
        <p:blipFill>
          <a:blip r:embed="rId14"/>
          <a:srcRect/>
          <a:stretch/>
        </p:blipFill>
        <p:spPr>
          <a:xfrm>
            <a:off x="7626027" y="1936321"/>
            <a:ext cx="619125" cy="781050"/>
          </a:xfrm>
          <a:prstGeom prst="rect">
            <a:avLst/>
          </a:prstGeom>
        </p:spPr>
      </p:pic>
      <p:sp>
        <p:nvSpPr>
          <p:cNvPr id="33" name="Shape">
            <a:extLst>
              <a:ext uri="{FF2B5EF4-FFF2-40B4-BE49-F238E27FC236}">
                <a16:creationId xmlns:a16="http://schemas.microsoft.com/office/drawing/2014/main" id="{30BFAD33-4FB5-2F63-3C07-D745729AC75B}"/>
              </a:ext>
            </a:extLst>
          </p:cNvPr>
          <p:cNvSpPr/>
          <p:nvPr/>
        </p:nvSpPr>
        <p:spPr>
          <a:xfrm>
            <a:off x="8769307" y="2145063"/>
            <a:ext cx="1111622" cy="363564"/>
          </a:xfrm>
          <a:prstGeom prst="rect">
            <a:avLst/>
          </a:prstGeom>
        </p:spPr>
        <p:txBody>
          <a:bodyPr wrap="square" lIns="0" tIns="0" rIns="0">
            <a:noAutofit/>
          </a:bodyPr>
          <a:lstStyle/>
          <a:p>
            <a:pPr algn="ctr" fontAlgn="t">
              <a:defRPr sz="1200" b="1" i="0">
                <a:solidFill>
                  <a:srgbClr val="808080"/>
                </a:solidFill>
                <a:latin typeface="Arial"/>
              </a:defRPr>
            </a:pPr>
            <a:r>
              <a:t>6</a:t>
            </a:r>
          </a:p>
        </p:txBody>
      </p:sp>
      <p:sp>
        <p:nvSpPr>
          <p:cNvPr id="34" name="Shape">
            <a:extLst>
              <a:ext uri="{FF2B5EF4-FFF2-40B4-BE49-F238E27FC236}">
                <a16:creationId xmlns:a16="http://schemas.microsoft.com/office/drawing/2014/main" id="{79FC0DB4-CAF2-7F29-465E-4E6A8899DBBC}"/>
              </a:ext>
            </a:extLst>
          </p:cNvPr>
          <p:cNvSpPr/>
          <p:nvPr/>
        </p:nvSpPr>
        <p:spPr>
          <a:xfrm>
            <a:off x="8769307" y="2145063"/>
            <a:ext cx="1111622" cy="363564"/>
          </a:xfrm>
          <a:prstGeom prst="rect">
            <a:avLst/>
          </a:prstGeom>
        </p:spPr>
        <p:txBody>
          <a:bodyPr wrap="square" lIns="0" tIns="0" rIns="0">
            <a:noAutofit/>
          </a:bodyPr>
          <a:lstStyle/>
          <a:p>
            <a:pPr algn="ctr" fontAlgn="t">
              <a:defRPr sz="1200" b="1" i="0">
                <a:solidFill>
                  <a:srgbClr val="808080"/>
                </a:solidFill>
                <a:latin typeface="Arial"/>
              </a:defRPr>
            </a:pPr>
            <a:r>
              <a:t>6</a:t>
            </a:r>
          </a:p>
        </p:txBody>
      </p:sp>
      <p:sp>
        <p:nvSpPr>
          <p:cNvPr id="35" name="Shape">
            <a:extLst>
              <a:ext uri="{FF2B5EF4-FFF2-40B4-BE49-F238E27FC236}">
                <a16:creationId xmlns:a16="http://schemas.microsoft.com/office/drawing/2014/main" id="{D575DEE6-2BC5-450C-E429-7D52B51493B6}"/>
              </a:ext>
            </a:extLst>
          </p:cNvPr>
          <p:cNvSpPr/>
          <p:nvPr/>
        </p:nvSpPr>
        <p:spPr>
          <a:xfrm>
            <a:off x="10047672" y="1887539"/>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36" name="Shape">
            <a:extLst>
              <a:ext uri="{FF2B5EF4-FFF2-40B4-BE49-F238E27FC236}">
                <a16:creationId xmlns:a16="http://schemas.microsoft.com/office/drawing/2014/main" id="{7E7D29CC-A7C3-B37E-72EE-34242EE02DF5}"/>
              </a:ext>
            </a:extLst>
          </p:cNvPr>
          <p:cNvSpPr/>
          <p:nvPr/>
        </p:nvSpPr>
        <p:spPr>
          <a:xfrm>
            <a:off x="10047672" y="2039024"/>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37" name="Shape">
            <a:extLst>
              <a:ext uri="{FF2B5EF4-FFF2-40B4-BE49-F238E27FC236}">
                <a16:creationId xmlns:a16="http://schemas.microsoft.com/office/drawing/2014/main" id="{61ADCA9E-7FE1-7DCC-C75B-1FFFBBF65010}"/>
              </a:ext>
            </a:extLst>
          </p:cNvPr>
          <p:cNvSpPr/>
          <p:nvPr/>
        </p:nvSpPr>
        <p:spPr>
          <a:xfrm>
            <a:off x="10047672" y="2039024"/>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38" name="Shape">
            <a:extLst>
              <a:ext uri="{FF2B5EF4-FFF2-40B4-BE49-F238E27FC236}">
                <a16:creationId xmlns:a16="http://schemas.microsoft.com/office/drawing/2014/main" id="{92169191-2E63-C523-BF33-4D0A5FE4BBDD}"/>
              </a:ext>
            </a:extLst>
          </p:cNvPr>
          <p:cNvSpPr/>
          <p:nvPr/>
        </p:nvSpPr>
        <p:spPr>
          <a:xfrm>
            <a:off x="10047672" y="2190509"/>
            <a:ext cx="1500690" cy="121188"/>
          </a:xfrm>
          <a:prstGeom prst="rect">
            <a:avLst/>
          </a:prstGeom>
        </p:spPr>
        <p:txBody>
          <a:bodyPr wrap="square" lIns="0" tIns="0" rIns="0">
            <a:noAutofit/>
          </a:bodyPr>
          <a:lstStyle/>
          <a:p>
            <a:pPr algn="l" fontAlgn="t">
              <a:defRPr sz="800" b="0" i="0">
                <a:solidFill>
                  <a:srgbClr val="808080"/>
                </a:solidFill>
                <a:latin typeface="Arial"/>
              </a:defRPr>
            </a:pPr>
            <a:r>
              <a:t>X Likes 6</a:t>
            </a:r>
          </a:p>
        </p:txBody>
      </p:sp>
      <p:sp>
        <p:nvSpPr>
          <p:cNvPr id="39" name="Shape">
            <a:extLst>
              <a:ext uri="{FF2B5EF4-FFF2-40B4-BE49-F238E27FC236}">
                <a16:creationId xmlns:a16="http://schemas.microsoft.com/office/drawing/2014/main" id="{9680F467-5AA6-DF5D-5D24-4FB47690F90B}"/>
              </a:ext>
            </a:extLst>
          </p:cNvPr>
          <p:cNvSpPr/>
          <p:nvPr/>
        </p:nvSpPr>
        <p:spPr>
          <a:xfrm>
            <a:off x="10047672" y="2190509"/>
            <a:ext cx="1500690" cy="121188"/>
          </a:xfrm>
          <a:prstGeom prst="rect">
            <a:avLst/>
          </a:prstGeom>
        </p:spPr>
        <p:txBody>
          <a:bodyPr wrap="square" lIns="0" tIns="0" rIns="0">
            <a:noAutofit/>
          </a:bodyPr>
          <a:lstStyle/>
          <a:p>
            <a:pPr algn="l" fontAlgn="t">
              <a:defRPr sz="800" b="0" i="0">
                <a:solidFill>
                  <a:srgbClr val="808080"/>
                </a:solidFill>
                <a:latin typeface="Arial"/>
              </a:defRPr>
            </a:pPr>
            <a:r>
              <a:t>X Likes 6</a:t>
            </a:r>
          </a:p>
        </p:txBody>
      </p:sp>
      <p:sp>
        <p:nvSpPr>
          <p:cNvPr id="40" name="Shape">
            <a:extLst>
              <a:ext uri="{FF2B5EF4-FFF2-40B4-BE49-F238E27FC236}">
                <a16:creationId xmlns:a16="http://schemas.microsoft.com/office/drawing/2014/main" id="{5C221FA8-AE30-D370-10F6-80628604B8A5}"/>
              </a:ext>
            </a:extLst>
          </p:cNvPr>
          <p:cNvSpPr/>
          <p:nvPr/>
        </p:nvSpPr>
        <p:spPr>
          <a:xfrm>
            <a:off x="10047672" y="2341994"/>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41" name="Shape">
            <a:extLst>
              <a:ext uri="{FF2B5EF4-FFF2-40B4-BE49-F238E27FC236}">
                <a16:creationId xmlns:a16="http://schemas.microsoft.com/office/drawing/2014/main" id="{F94EB00A-C6F2-81E1-B4BC-770D8A050245}"/>
              </a:ext>
            </a:extLst>
          </p:cNvPr>
          <p:cNvSpPr/>
          <p:nvPr/>
        </p:nvSpPr>
        <p:spPr>
          <a:xfrm>
            <a:off x="10047672" y="2341994"/>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42" name="Shape">
            <a:extLst>
              <a:ext uri="{FF2B5EF4-FFF2-40B4-BE49-F238E27FC236}">
                <a16:creationId xmlns:a16="http://schemas.microsoft.com/office/drawing/2014/main" id="{98CBDD36-C849-3564-D15C-1841305FCCD1}"/>
              </a:ext>
            </a:extLst>
          </p:cNvPr>
          <p:cNvSpPr/>
          <p:nvPr/>
        </p:nvSpPr>
        <p:spPr>
          <a:xfrm>
            <a:off x="10047672" y="2493479"/>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161</a:t>
            </a:r>
          </a:p>
        </p:txBody>
      </p:sp>
      <p:sp>
        <p:nvSpPr>
          <p:cNvPr id="43" name="Shape">
            <a:extLst>
              <a:ext uri="{FF2B5EF4-FFF2-40B4-BE49-F238E27FC236}">
                <a16:creationId xmlns:a16="http://schemas.microsoft.com/office/drawing/2014/main" id="{275D9D44-7BC5-940A-CBF7-77FFB96C16AB}"/>
              </a:ext>
            </a:extLst>
          </p:cNvPr>
          <p:cNvSpPr/>
          <p:nvPr/>
        </p:nvSpPr>
        <p:spPr>
          <a:xfrm>
            <a:off x="10047672" y="2493479"/>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161</a:t>
            </a:r>
          </a:p>
        </p:txBody>
      </p:sp>
      <p:cxnSp>
        <p:nvCxnSpPr>
          <p:cNvPr id="44" name="Line 200: (537882, 3589823) - (11654110, 3589823)">
            <a:extLst>
              <a:ext uri="{FF2B5EF4-FFF2-40B4-BE49-F238E27FC236}">
                <a16:creationId xmlns:a16="http://schemas.microsoft.com/office/drawing/2014/main" id="{BF186031-E4D9-745E-744C-E23E1E2B2CEC}"/>
              </a:ext>
            </a:extLst>
          </p:cNvPr>
          <p:cNvCxnSpPr/>
          <p:nvPr/>
        </p:nvCxnSpPr>
        <p:spPr>
          <a:xfrm>
            <a:off x="432137" y="2781301"/>
            <a:ext cx="11116228" cy="0"/>
          </a:xfrm>
          <a:prstGeom prst="line">
            <a:avLst/>
          </a:prstGeom>
          <a:ln w="12700">
            <a:solidFill>
              <a:srgbClr val="C7C7C7"/>
            </a:solidFill>
          </a:ln>
        </p:spPr>
      </p:cxnSp>
      <p:pic>
        <p:nvPicPr>
          <p:cNvPr id="45" name="Picture">
            <a:extLst>
              <a:ext uri="{FF2B5EF4-FFF2-40B4-BE49-F238E27FC236}">
                <a16:creationId xmlns:a16="http://schemas.microsoft.com/office/drawing/2014/main" id="{F11FC45F-4318-F8B2-D32F-90A13E27A805}"/>
              </a:ext>
            </a:extLst>
          </p:cNvPr>
          <p:cNvPicPr/>
          <p:nvPr/>
        </p:nvPicPr>
        <p:blipFill>
          <a:blip r:embed="rId2"/>
          <a:srcRect/>
          <a:stretch/>
        </p:blipFill>
        <p:spPr>
          <a:xfrm>
            <a:off x="546549" y="2865196"/>
            <a:ext cx="438150" cy="438150"/>
          </a:xfrm>
          <a:prstGeom prst="rect">
            <a:avLst/>
          </a:prstGeom>
        </p:spPr>
      </p:pic>
      <p:pic>
        <p:nvPicPr>
          <p:cNvPr id="46" name="Picture">
            <a:extLst>
              <a:ext uri="{FF2B5EF4-FFF2-40B4-BE49-F238E27FC236}">
                <a16:creationId xmlns:a16="http://schemas.microsoft.com/office/drawing/2014/main" id="{9198F6AD-0BD6-56AD-620A-DA3C63CE1738}"/>
              </a:ext>
            </a:extLst>
          </p:cNvPr>
          <p:cNvPicPr/>
          <p:nvPr/>
        </p:nvPicPr>
        <p:blipFill>
          <a:blip r:embed="rId3"/>
          <a:srcRect/>
          <a:stretch/>
        </p:blipFill>
        <p:spPr>
          <a:xfrm>
            <a:off x="854576" y="2847932"/>
            <a:ext cx="133350" cy="133350"/>
          </a:xfrm>
          <a:prstGeom prst="rect">
            <a:avLst/>
          </a:prstGeom>
        </p:spPr>
      </p:pic>
      <p:sp>
        <p:nvSpPr>
          <p:cNvPr id="47" name="Shape">
            <a:extLst>
              <a:ext uri="{FF2B5EF4-FFF2-40B4-BE49-F238E27FC236}">
                <a16:creationId xmlns:a16="http://schemas.microsoft.com/office/drawing/2014/main" id="{E2FD440A-1E4E-5189-DDDC-3DE8AACB0804}"/>
              </a:ext>
            </a:extLst>
          </p:cNvPr>
          <p:cNvSpPr/>
          <p:nvPr/>
        </p:nvSpPr>
        <p:spPr>
          <a:xfrm>
            <a:off x="1121343" y="2902489"/>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arabiancenter</a:t>
            </a:r>
            <a:endParaRPr/>
          </a:p>
        </p:txBody>
      </p:sp>
      <p:sp>
        <p:nvSpPr>
          <p:cNvPr id="48" name="Shape">
            <a:extLst>
              <a:ext uri="{FF2B5EF4-FFF2-40B4-BE49-F238E27FC236}">
                <a16:creationId xmlns:a16="http://schemas.microsoft.com/office/drawing/2014/main" id="{38B3B526-1D66-76A9-64B3-A527DFDCF5E2}"/>
              </a:ext>
            </a:extLst>
          </p:cNvPr>
          <p:cNvSpPr/>
          <p:nvPr/>
        </p:nvSpPr>
        <p:spPr>
          <a:xfrm>
            <a:off x="1121343" y="3182735"/>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49" name="Shape">
            <a:extLst>
              <a:ext uri="{FF2B5EF4-FFF2-40B4-BE49-F238E27FC236}">
                <a16:creationId xmlns:a16="http://schemas.microsoft.com/office/drawing/2014/main" id="{5C2FFC0E-1796-DF7C-8AD7-DAFFEA1E52F6}"/>
              </a:ext>
            </a:extLst>
          </p:cNvPr>
          <p:cNvSpPr/>
          <p:nvPr/>
        </p:nvSpPr>
        <p:spPr>
          <a:xfrm>
            <a:off x="598880" y="3417537"/>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5"/>
              </a:rPr>
              <a:t>23/03/26 12:00</a:t>
            </a:r>
            <a:r>
              <a:t> | </a:t>
            </a:r>
            <a:r>
              <a:rPr lang="en" b="0" i="0"/>
              <a:t>United Arab Emirates</a:t>
            </a:r>
            <a:endParaRPr/>
          </a:p>
        </p:txBody>
      </p:sp>
      <p:sp>
        <p:nvSpPr>
          <p:cNvPr id="50" name="Shape">
            <a:extLst>
              <a:ext uri="{FF2B5EF4-FFF2-40B4-BE49-F238E27FC236}">
                <a16:creationId xmlns:a16="http://schemas.microsoft.com/office/drawing/2014/main" id="{CD4BCF50-7071-1FAB-6755-2D39258DAEE8}"/>
              </a:ext>
            </a:extLst>
          </p:cNvPr>
          <p:cNvSpPr/>
          <p:nvPr/>
        </p:nvSpPr>
        <p:spPr>
          <a:xfrm>
            <a:off x="3933748" y="3088057"/>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Your Mental Wellbeing Matters 💙 In solidarity with the International Association of Emiratis (IAE) and as part of our... Take a step toward better health with HealthHub: 📍Arabian Center 📞 04...</a:t>
            </a:r>
            <a:endParaRPr/>
          </a:p>
        </p:txBody>
      </p:sp>
      <p:pic>
        <p:nvPicPr>
          <p:cNvPr id="51" name="Picture">
            <a:hlinkClick r:id="rId16"/>
            <a:extLst>
              <a:ext uri="{FF2B5EF4-FFF2-40B4-BE49-F238E27FC236}">
                <a16:creationId xmlns:a16="http://schemas.microsoft.com/office/drawing/2014/main" id="{27456F24-9C73-D216-C07D-3B1021B228FE}"/>
              </a:ext>
            </a:extLst>
          </p:cNvPr>
          <p:cNvPicPr/>
          <p:nvPr/>
        </p:nvPicPr>
        <p:blipFill>
          <a:blip r:embed="rId17"/>
          <a:srcRect/>
          <a:stretch/>
        </p:blipFill>
        <p:spPr>
          <a:xfrm>
            <a:off x="7626027" y="2845231"/>
            <a:ext cx="619125" cy="781050"/>
          </a:xfrm>
          <a:prstGeom prst="rect">
            <a:avLst/>
          </a:prstGeom>
        </p:spPr>
      </p:pic>
      <p:sp>
        <p:nvSpPr>
          <p:cNvPr id="52" name="Shape">
            <a:extLst>
              <a:ext uri="{FF2B5EF4-FFF2-40B4-BE49-F238E27FC236}">
                <a16:creationId xmlns:a16="http://schemas.microsoft.com/office/drawing/2014/main" id="{51CAD2B2-49A8-2D67-5C2F-8A6BFBC71B54}"/>
              </a:ext>
            </a:extLst>
          </p:cNvPr>
          <p:cNvSpPr/>
          <p:nvPr/>
        </p:nvSpPr>
        <p:spPr>
          <a:xfrm>
            <a:off x="8769307" y="3053973"/>
            <a:ext cx="1111622" cy="363564"/>
          </a:xfrm>
          <a:prstGeom prst="rect">
            <a:avLst/>
          </a:prstGeom>
        </p:spPr>
        <p:txBody>
          <a:bodyPr wrap="square" lIns="0" tIns="0" rIns="0">
            <a:noAutofit/>
          </a:bodyPr>
          <a:lstStyle/>
          <a:p>
            <a:pPr algn="ctr" fontAlgn="t">
              <a:defRPr sz="1200" b="1" i="0">
                <a:solidFill>
                  <a:srgbClr val="808080"/>
                </a:solidFill>
                <a:latin typeface="Arial"/>
              </a:defRPr>
            </a:pPr>
            <a:r>
              <a:t>40</a:t>
            </a:r>
          </a:p>
        </p:txBody>
      </p:sp>
      <p:sp>
        <p:nvSpPr>
          <p:cNvPr id="53" name="Shape">
            <a:extLst>
              <a:ext uri="{FF2B5EF4-FFF2-40B4-BE49-F238E27FC236}">
                <a16:creationId xmlns:a16="http://schemas.microsoft.com/office/drawing/2014/main" id="{927B691E-5A07-6519-8CC7-1131666CA105}"/>
              </a:ext>
            </a:extLst>
          </p:cNvPr>
          <p:cNvSpPr/>
          <p:nvPr/>
        </p:nvSpPr>
        <p:spPr>
          <a:xfrm>
            <a:off x="8769307" y="3053973"/>
            <a:ext cx="1111622" cy="363564"/>
          </a:xfrm>
          <a:prstGeom prst="rect">
            <a:avLst/>
          </a:prstGeom>
        </p:spPr>
        <p:txBody>
          <a:bodyPr wrap="square" lIns="0" tIns="0" rIns="0">
            <a:noAutofit/>
          </a:bodyPr>
          <a:lstStyle/>
          <a:p>
            <a:pPr algn="ctr" fontAlgn="t">
              <a:defRPr sz="1200" b="1" i="0">
                <a:solidFill>
                  <a:srgbClr val="808080"/>
                </a:solidFill>
                <a:latin typeface="Arial"/>
              </a:defRPr>
            </a:pPr>
            <a:r>
              <a:t>40</a:t>
            </a:r>
          </a:p>
        </p:txBody>
      </p:sp>
      <p:sp>
        <p:nvSpPr>
          <p:cNvPr id="54" name="Shape">
            <a:extLst>
              <a:ext uri="{FF2B5EF4-FFF2-40B4-BE49-F238E27FC236}">
                <a16:creationId xmlns:a16="http://schemas.microsoft.com/office/drawing/2014/main" id="{2A6DA7FC-B68B-24C4-502F-594EB5CEA2EC}"/>
              </a:ext>
            </a:extLst>
          </p:cNvPr>
          <p:cNvSpPr/>
          <p:nvPr/>
        </p:nvSpPr>
        <p:spPr>
          <a:xfrm>
            <a:off x="10047672" y="2796449"/>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55" name="Shape">
            <a:extLst>
              <a:ext uri="{FF2B5EF4-FFF2-40B4-BE49-F238E27FC236}">
                <a16:creationId xmlns:a16="http://schemas.microsoft.com/office/drawing/2014/main" id="{37FE5752-E770-409C-43C1-3F52FB985163}"/>
              </a:ext>
            </a:extLst>
          </p:cNvPr>
          <p:cNvSpPr/>
          <p:nvPr/>
        </p:nvSpPr>
        <p:spPr>
          <a:xfrm>
            <a:off x="10047672" y="294793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33.6K</a:t>
            </a:r>
          </a:p>
        </p:txBody>
      </p:sp>
      <p:sp>
        <p:nvSpPr>
          <p:cNvPr id="56" name="Shape">
            <a:extLst>
              <a:ext uri="{FF2B5EF4-FFF2-40B4-BE49-F238E27FC236}">
                <a16:creationId xmlns:a16="http://schemas.microsoft.com/office/drawing/2014/main" id="{BEE0F5D3-3383-6EF4-7688-142AE021A873}"/>
              </a:ext>
            </a:extLst>
          </p:cNvPr>
          <p:cNvSpPr/>
          <p:nvPr/>
        </p:nvSpPr>
        <p:spPr>
          <a:xfrm>
            <a:off x="10047672" y="2947934"/>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33.6K</a:t>
            </a:r>
          </a:p>
        </p:txBody>
      </p:sp>
      <p:sp>
        <p:nvSpPr>
          <p:cNvPr id="57" name="Shape">
            <a:extLst>
              <a:ext uri="{FF2B5EF4-FFF2-40B4-BE49-F238E27FC236}">
                <a16:creationId xmlns:a16="http://schemas.microsoft.com/office/drawing/2014/main" id="{426C8D7A-D4E8-E0A4-FFE3-D90671652810}"/>
              </a:ext>
            </a:extLst>
          </p:cNvPr>
          <p:cNvSpPr/>
          <p:nvPr/>
        </p:nvSpPr>
        <p:spPr>
          <a:xfrm>
            <a:off x="10047672" y="309941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31</a:t>
            </a:r>
          </a:p>
        </p:txBody>
      </p:sp>
      <p:sp>
        <p:nvSpPr>
          <p:cNvPr id="58" name="Shape">
            <a:extLst>
              <a:ext uri="{FF2B5EF4-FFF2-40B4-BE49-F238E27FC236}">
                <a16:creationId xmlns:a16="http://schemas.microsoft.com/office/drawing/2014/main" id="{256476BA-314D-AAD9-F226-4E86469C74C7}"/>
              </a:ext>
            </a:extLst>
          </p:cNvPr>
          <p:cNvSpPr/>
          <p:nvPr/>
        </p:nvSpPr>
        <p:spPr>
          <a:xfrm>
            <a:off x="10047672" y="3099419"/>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31</a:t>
            </a:r>
          </a:p>
        </p:txBody>
      </p:sp>
      <p:cxnSp>
        <p:nvCxnSpPr>
          <p:cNvPr id="59" name="Line 200: (537882, 4498733) - (11654110, 4498733)">
            <a:extLst>
              <a:ext uri="{FF2B5EF4-FFF2-40B4-BE49-F238E27FC236}">
                <a16:creationId xmlns:a16="http://schemas.microsoft.com/office/drawing/2014/main" id="{32243AA5-7001-763E-831E-F248ABFC12E6}"/>
              </a:ext>
            </a:extLst>
          </p:cNvPr>
          <p:cNvCxnSpPr/>
          <p:nvPr/>
        </p:nvCxnSpPr>
        <p:spPr>
          <a:xfrm>
            <a:off x="432137" y="3690211"/>
            <a:ext cx="11116228" cy="0"/>
          </a:xfrm>
          <a:prstGeom prst="line">
            <a:avLst/>
          </a:prstGeom>
          <a:ln w="12700">
            <a:solidFill>
              <a:srgbClr val="C7C7C7"/>
            </a:solidFill>
          </a:ln>
        </p:spPr>
      </p:cxnSp>
      <p:pic>
        <p:nvPicPr>
          <p:cNvPr id="60" name="Picture">
            <a:extLst>
              <a:ext uri="{FF2B5EF4-FFF2-40B4-BE49-F238E27FC236}">
                <a16:creationId xmlns:a16="http://schemas.microsoft.com/office/drawing/2014/main" id="{9F4CBCD2-325A-395B-AB39-13A370D2B54E}"/>
              </a:ext>
            </a:extLst>
          </p:cNvPr>
          <p:cNvPicPr/>
          <p:nvPr/>
        </p:nvPicPr>
        <p:blipFill>
          <a:blip r:embed="rId18"/>
          <a:srcRect/>
          <a:stretch/>
        </p:blipFill>
        <p:spPr>
          <a:xfrm>
            <a:off x="546549" y="3774106"/>
            <a:ext cx="438150" cy="438150"/>
          </a:xfrm>
          <a:prstGeom prst="rect">
            <a:avLst/>
          </a:prstGeom>
        </p:spPr>
      </p:pic>
      <p:pic>
        <p:nvPicPr>
          <p:cNvPr id="61" name="Picture">
            <a:extLst>
              <a:ext uri="{FF2B5EF4-FFF2-40B4-BE49-F238E27FC236}">
                <a16:creationId xmlns:a16="http://schemas.microsoft.com/office/drawing/2014/main" id="{43C28209-17C3-46D8-B287-6527BED79696}"/>
              </a:ext>
            </a:extLst>
          </p:cNvPr>
          <p:cNvPicPr/>
          <p:nvPr/>
        </p:nvPicPr>
        <p:blipFill>
          <a:blip r:embed="rId3"/>
          <a:srcRect/>
          <a:stretch/>
        </p:blipFill>
        <p:spPr>
          <a:xfrm>
            <a:off x="854576" y="3756842"/>
            <a:ext cx="133350" cy="133350"/>
          </a:xfrm>
          <a:prstGeom prst="rect">
            <a:avLst/>
          </a:prstGeom>
        </p:spPr>
      </p:pic>
      <p:sp>
        <p:nvSpPr>
          <p:cNvPr id="62" name="Shape">
            <a:extLst>
              <a:ext uri="{FF2B5EF4-FFF2-40B4-BE49-F238E27FC236}">
                <a16:creationId xmlns:a16="http://schemas.microsoft.com/office/drawing/2014/main" id="{3DFE1869-9ACE-FC8D-34D7-7AFDF88182CF}"/>
              </a:ext>
            </a:extLst>
          </p:cNvPr>
          <p:cNvSpPr/>
          <p:nvPr/>
        </p:nvSpPr>
        <p:spPr>
          <a:xfrm>
            <a:off x="1121343" y="3811399"/>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9"/>
              </a:rPr>
              <a:t>AsterVolunteers</a:t>
            </a:r>
            <a:endParaRPr/>
          </a:p>
        </p:txBody>
      </p:sp>
      <p:sp>
        <p:nvSpPr>
          <p:cNvPr id="63" name="Shape">
            <a:extLst>
              <a:ext uri="{FF2B5EF4-FFF2-40B4-BE49-F238E27FC236}">
                <a16:creationId xmlns:a16="http://schemas.microsoft.com/office/drawing/2014/main" id="{C5C90F74-2BB2-AB27-CBBA-66F435CAE403}"/>
              </a:ext>
            </a:extLst>
          </p:cNvPr>
          <p:cNvSpPr/>
          <p:nvPr/>
        </p:nvSpPr>
        <p:spPr>
          <a:xfrm>
            <a:off x="1121343" y="4091645"/>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11"/>
              </a:rPr>
              <a:t>twitter.com</a:t>
            </a:r>
            <a:endParaRPr/>
          </a:p>
        </p:txBody>
      </p:sp>
      <p:sp>
        <p:nvSpPr>
          <p:cNvPr id="64" name="Shape">
            <a:extLst>
              <a:ext uri="{FF2B5EF4-FFF2-40B4-BE49-F238E27FC236}">
                <a16:creationId xmlns:a16="http://schemas.microsoft.com/office/drawing/2014/main" id="{29DB890F-21E7-49B0-AB4D-70B072C91B33}"/>
              </a:ext>
            </a:extLst>
          </p:cNvPr>
          <p:cNvSpPr/>
          <p:nvPr/>
        </p:nvSpPr>
        <p:spPr>
          <a:xfrm>
            <a:off x="598880" y="4326447"/>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0"/>
              </a:rPr>
              <a:t>24/03/26 11:06</a:t>
            </a:r>
            <a:r>
              <a:t> | </a:t>
            </a:r>
            <a:r>
              <a:rPr lang="en" b="0" i="0"/>
              <a:t>United Arab Emirates</a:t>
            </a:r>
            <a:endParaRPr/>
          </a:p>
        </p:txBody>
      </p:sp>
      <p:sp>
        <p:nvSpPr>
          <p:cNvPr id="65" name="Shape">
            <a:extLst>
              <a:ext uri="{FF2B5EF4-FFF2-40B4-BE49-F238E27FC236}">
                <a16:creationId xmlns:a16="http://schemas.microsoft.com/office/drawing/2014/main" id="{96D60C18-E53E-90E1-9433-070D1DC87991}"/>
              </a:ext>
            </a:extLst>
          </p:cNvPr>
          <p:cNvSpPr/>
          <p:nvPr/>
        </p:nvSpPr>
        <p:spPr>
          <a:xfrm>
            <a:off x="3933748" y="3996967"/>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As part of our annual “Joy of Giving” campaign, Aster Volunteers UAE successfully hosted the 7th edition of the Smile Program this Eid, in collaboration with Rawafed Training and Development Center and REDTAG at Arabian Center,...</a:t>
            </a:r>
            <a:endParaRPr/>
          </a:p>
        </p:txBody>
      </p:sp>
      <p:pic>
        <p:nvPicPr>
          <p:cNvPr id="66" name="Picture">
            <a:hlinkClick r:id="rId21"/>
            <a:extLst>
              <a:ext uri="{FF2B5EF4-FFF2-40B4-BE49-F238E27FC236}">
                <a16:creationId xmlns:a16="http://schemas.microsoft.com/office/drawing/2014/main" id="{B87724E1-B7F6-2C0F-B6E1-9CACA4864140}"/>
              </a:ext>
            </a:extLst>
          </p:cNvPr>
          <p:cNvPicPr/>
          <p:nvPr/>
        </p:nvPicPr>
        <p:blipFill>
          <a:blip r:embed="rId22"/>
          <a:srcRect/>
          <a:stretch/>
        </p:blipFill>
        <p:spPr>
          <a:xfrm>
            <a:off x="7297415" y="3754141"/>
            <a:ext cx="1276350" cy="781050"/>
          </a:xfrm>
          <a:prstGeom prst="rect">
            <a:avLst/>
          </a:prstGeom>
        </p:spPr>
      </p:pic>
      <p:sp>
        <p:nvSpPr>
          <p:cNvPr id="67" name="Shape">
            <a:extLst>
              <a:ext uri="{FF2B5EF4-FFF2-40B4-BE49-F238E27FC236}">
                <a16:creationId xmlns:a16="http://schemas.microsoft.com/office/drawing/2014/main" id="{154BB950-2767-7441-5E0E-EBE0DDBFAA10}"/>
              </a:ext>
            </a:extLst>
          </p:cNvPr>
          <p:cNvSpPr/>
          <p:nvPr/>
        </p:nvSpPr>
        <p:spPr>
          <a:xfrm>
            <a:off x="8769307" y="3962883"/>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8" name="Shape">
            <a:extLst>
              <a:ext uri="{FF2B5EF4-FFF2-40B4-BE49-F238E27FC236}">
                <a16:creationId xmlns:a16="http://schemas.microsoft.com/office/drawing/2014/main" id="{59B38BAB-1CB2-7CC7-B415-E9E67B49EC6B}"/>
              </a:ext>
            </a:extLst>
          </p:cNvPr>
          <p:cNvSpPr/>
          <p:nvPr/>
        </p:nvSpPr>
        <p:spPr>
          <a:xfrm>
            <a:off x="8769307" y="3962883"/>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69" name="Shape">
            <a:extLst>
              <a:ext uri="{FF2B5EF4-FFF2-40B4-BE49-F238E27FC236}">
                <a16:creationId xmlns:a16="http://schemas.microsoft.com/office/drawing/2014/main" id="{A715ABEA-7439-63F6-2B9A-75615A896F94}"/>
              </a:ext>
            </a:extLst>
          </p:cNvPr>
          <p:cNvSpPr/>
          <p:nvPr/>
        </p:nvSpPr>
        <p:spPr>
          <a:xfrm>
            <a:off x="10047672" y="3705359"/>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70" name="Shape">
            <a:extLst>
              <a:ext uri="{FF2B5EF4-FFF2-40B4-BE49-F238E27FC236}">
                <a16:creationId xmlns:a16="http://schemas.microsoft.com/office/drawing/2014/main" id="{EE9ABB04-E74C-4874-A346-F3F67B6367FC}"/>
              </a:ext>
            </a:extLst>
          </p:cNvPr>
          <p:cNvSpPr/>
          <p:nvPr/>
        </p:nvSpPr>
        <p:spPr>
          <a:xfrm>
            <a:off x="10047672" y="3856844"/>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654</a:t>
            </a:r>
          </a:p>
        </p:txBody>
      </p:sp>
      <p:sp>
        <p:nvSpPr>
          <p:cNvPr id="71" name="Shape">
            <a:extLst>
              <a:ext uri="{FF2B5EF4-FFF2-40B4-BE49-F238E27FC236}">
                <a16:creationId xmlns:a16="http://schemas.microsoft.com/office/drawing/2014/main" id="{3D2B0282-E4CB-6F3E-02C8-F4A149444F1D}"/>
              </a:ext>
            </a:extLst>
          </p:cNvPr>
          <p:cNvSpPr/>
          <p:nvPr/>
        </p:nvSpPr>
        <p:spPr>
          <a:xfrm>
            <a:off x="10047672" y="3856844"/>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654</a:t>
            </a:r>
          </a:p>
        </p:txBody>
      </p:sp>
      <p:sp>
        <p:nvSpPr>
          <p:cNvPr id="72" name="Shape">
            <a:extLst>
              <a:ext uri="{FF2B5EF4-FFF2-40B4-BE49-F238E27FC236}">
                <a16:creationId xmlns:a16="http://schemas.microsoft.com/office/drawing/2014/main" id="{44502BEF-E50B-B3AB-CF67-B431F844AB39}"/>
              </a:ext>
            </a:extLst>
          </p:cNvPr>
          <p:cNvSpPr/>
          <p:nvPr/>
        </p:nvSpPr>
        <p:spPr>
          <a:xfrm>
            <a:off x="10047672" y="4008329"/>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73" name="Shape">
            <a:extLst>
              <a:ext uri="{FF2B5EF4-FFF2-40B4-BE49-F238E27FC236}">
                <a16:creationId xmlns:a16="http://schemas.microsoft.com/office/drawing/2014/main" id="{EFB54399-661A-7524-AC3C-8AE5E71A6288}"/>
              </a:ext>
            </a:extLst>
          </p:cNvPr>
          <p:cNvSpPr/>
          <p:nvPr/>
        </p:nvSpPr>
        <p:spPr>
          <a:xfrm>
            <a:off x="10047672" y="4008329"/>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74" name="Shape">
            <a:extLst>
              <a:ext uri="{FF2B5EF4-FFF2-40B4-BE49-F238E27FC236}">
                <a16:creationId xmlns:a16="http://schemas.microsoft.com/office/drawing/2014/main" id="{E24448ED-4960-EFD4-D391-6E147DDCB7D6}"/>
              </a:ext>
            </a:extLst>
          </p:cNvPr>
          <p:cNvSpPr/>
          <p:nvPr/>
        </p:nvSpPr>
        <p:spPr>
          <a:xfrm>
            <a:off x="10047672" y="4159814"/>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N/A</a:t>
            </a:r>
          </a:p>
        </p:txBody>
      </p:sp>
      <p:sp>
        <p:nvSpPr>
          <p:cNvPr id="75" name="Shape">
            <a:extLst>
              <a:ext uri="{FF2B5EF4-FFF2-40B4-BE49-F238E27FC236}">
                <a16:creationId xmlns:a16="http://schemas.microsoft.com/office/drawing/2014/main" id="{3E917A6B-8566-D9B5-E714-0A6E80D0626B}"/>
              </a:ext>
            </a:extLst>
          </p:cNvPr>
          <p:cNvSpPr/>
          <p:nvPr/>
        </p:nvSpPr>
        <p:spPr>
          <a:xfrm>
            <a:off x="10047672" y="4159814"/>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N/A</a:t>
            </a:r>
          </a:p>
        </p:txBody>
      </p:sp>
      <p:sp>
        <p:nvSpPr>
          <p:cNvPr id="76" name="Shape">
            <a:extLst>
              <a:ext uri="{FF2B5EF4-FFF2-40B4-BE49-F238E27FC236}">
                <a16:creationId xmlns:a16="http://schemas.microsoft.com/office/drawing/2014/main" id="{A83049B7-B8B9-D5D6-5F31-FAEE83DC5E5D}"/>
              </a:ext>
            </a:extLst>
          </p:cNvPr>
          <p:cNvSpPr/>
          <p:nvPr/>
        </p:nvSpPr>
        <p:spPr>
          <a:xfrm>
            <a:off x="10047672" y="4311299"/>
            <a:ext cx="1500690" cy="121188"/>
          </a:xfrm>
          <a:prstGeom prst="rect">
            <a:avLst/>
          </a:prstGeom>
        </p:spPr>
        <p:txBody>
          <a:bodyPr wrap="square" lIns="0" tIns="0" rIns="0">
            <a:noAutofit/>
          </a:bodyPr>
          <a:lstStyle/>
          <a:p>
            <a:pPr algn="l" fontAlgn="t">
              <a:defRPr sz="800" b="0" i="0">
                <a:solidFill>
                  <a:srgbClr val="808080"/>
                </a:solidFill>
                <a:latin typeface="Arial"/>
              </a:defRPr>
            </a:pPr>
            <a:r>
              <a:t>X Video Views N/A</a:t>
            </a:r>
          </a:p>
        </p:txBody>
      </p:sp>
      <p:sp>
        <p:nvSpPr>
          <p:cNvPr id="77" name="Shape">
            <a:extLst>
              <a:ext uri="{FF2B5EF4-FFF2-40B4-BE49-F238E27FC236}">
                <a16:creationId xmlns:a16="http://schemas.microsoft.com/office/drawing/2014/main" id="{202CDB02-5110-011E-F17E-9839B4FDE79D}"/>
              </a:ext>
            </a:extLst>
          </p:cNvPr>
          <p:cNvSpPr/>
          <p:nvPr/>
        </p:nvSpPr>
        <p:spPr>
          <a:xfrm>
            <a:off x="10047672" y="4311299"/>
            <a:ext cx="1500690" cy="121188"/>
          </a:xfrm>
          <a:prstGeom prst="rect">
            <a:avLst/>
          </a:prstGeom>
        </p:spPr>
        <p:txBody>
          <a:bodyPr wrap="square" lIns="0" tIns="0" rIns="0">
            <a:noAutofit/>
          </a:bodyPr>
          <a:lstStyle/>
          <a:p>
            <a:pPr algn="l" fontAlgn="t">
              <a:defRPr sz="800" b="0" i="0">
                <a:solidFill>
                  <a:srgbClr val="808080"/>
                </a:solidFill>
                <a:latin typeface="Arial"/>
              </a:defRPr>
            </a:pPr>
            <a:r>
              <a:t>X Video Views N/A</a:t>
            </a:r>
          </a:p>
        </p:txBody>
      </p:sp>
      <p:cxnSp>
        <p:nvCxnSpPr>
          <p:cNvPr id="78" name="Line 200: (537882, 5407643) - (11654110, 5407643)">
            <a:extLst>
              <a:ext uri="{FF2B5EF4-FFF2-40B4-BE49-F238E27FC236}">
                <a16:creationId xmlns:a16="http://schemas.microsoft.com/office/drawing/2014/main" id="{26A87FD3-963B-FC81-2A83-C92B355D0667}"/>
              </a:ext>
            </a:extLst>
          </p:cNvPr>
          <p:cNvCxnSpPr/>
          <p:nvPr/>
        </p:nvCxnSpPr>
        <p:spPr>
          <a:xfrm>
            <a:off x="432137" y="4599121"/>
            <a:ext cx="11116228" cy="0"/>
          </a:xfrm>
          <a:prstGeom prst="line">
            <a:avLst/>
          </a:prstGeom>
          <a:ln w="12700">
            <a:solidFill>
              <a:srgbClr val="C7C7C7"/>
            </a:solidFill>
          </a:ln>
        </p:spPr>
      </p:cxnSp>
      <p:pic>
        <p:nvPicPr>
          <p:cNvPr id="79" name="Picture">
            <a:extLst>
              <a:ext uri="{FF2B5EF4-FFF2-40B4-BE49-F238E27FC236}">
                <a16:creationId xmlns:a16="http://schemas.microsoft.com/office/drawing/2014/main" id="{6AC060C6-C306-85CC-0C0D-02A9755A0686}"/>
              </a:ext>
            </a:extLst>
          </p:cNvPr>
          <p:cNvPicPr/>
          <p:nvPr/>
        </p:nvPicPr>
        <p:blipFill>
          <a:blip r:embed="rId9"/>
          <a:srcRect/>
          <a:stretch/>
        </p:blipFill>
        <p:spPr>
          <a:xfrm>
            <a:off x="546549" y="4683016"/>
            <a:ext cx="438150" cy="438150"/>
          </a:xfrm>
          <a:prstGeom prst="rect">
            <a:avLst/>
          </a:prstGeom>
        </p:spPr>
      </p:pic>
      <p:pic>
        <p:nvPicPr>
          <p:cNvPr id="80" name="Picture">
            <a:extLst>
              <a:ext uri="{FF2B5EF4-FFF2-40B4-BE49-F238E27FC236}">
                <a16:creationId xmlns:a16="http://schemas.microsoft.com/office/drawing/2014/main" id="{6F49F86B-98FD-A04C-AB4C-56EC1920DAB4}"/>
              </a:ext>
            </a:extLst>
          </p:cNvPr>
          <p:cNvPicPr/>
          <p:nvPr/>
        </p:nvPicPr>
        <p:blipFill>
          <a:blip r:embed="rId3"/>
          <a:srcRect/>
          <a:stretch/>
        </p:blipFill>
        <p:spPr>
          <a:xfrm>
            <a:off x="854576" y="4665752"/>
            <a:ext cx="133350" cy="133350"/>
          </a:xfrm>
          <a:prstGeom prst="rect">
            <a:avLst/>
          </a:prstGeom>
        </p:spPr>
      </p:pic>
      <p:sp>
        <p:nvSpPr>
          <p:cNvPr id="81" name="Shape">
            <a:extLst>
              <a:ext uri="{FF2B5EF4-FFF2-40B4-BE49-F238E27FC236}">
                <a16:creationId xmlns:a16="http://schemas.microsoft.com/office/drawing/2014/main" id="{3A2E6921-878A-934D-8306-8041F670CAB2}"/>
              </a:ext>
            </a:extLst>
          </p:cNvPr>
          <p:cNvSpPr/>
          <p:nvPr/>
        </p:nvSpPr>
        <p:spPr>
          <a:xfrm>
            <a:off x="1121343" y="4720309"/>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0"/>
              </a:rPr>
              <a:t>arabian center (arabiancenter)</a:t>
            </a:r>
            <a:endParaRPr/>
          </a:p>
        </p:txBody>
      </p:sp>
      <p:sp>
        <p:nvSpPr>
          <p:cNvPr id="82" name="Shape">
            <a:extLst>
              <a:ext uri="{FF2B5EF4-FFF2-40B4-BE49-F238E27FC236}">
                <a16:creationId xmlns:a16="http://schemas.microsoft.com/office/drawing/2014/main" id="{EEA1839C-98EA-50FC-89E7-34B973A3F3FB}"/>
              </a:ext>
            </a:extLst>
          </p:cNvPr>
          <p:cNvSpPr/>
          <p:nvPr/>
        </p:nvSpPr>
        <p:spPr>
          <a:xfrm>
            <a:off x="1121343" y="5000555"/>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11"/>
              </a:rPr>
              <a:t>twitter.com</a:t>
            </a:r>
            <a:endParaRPr/>
          </a:p>
        </p:txBody>
      </p:sp>
      <p:sp>
        <p:nvSpPr>
          <p:cNvPr id="83" name="Shape">
            <a:extLst>
              <a:ext uri="{FF2B5EF4-FFF2-40B4-BE49-F238E27FC236}">
                <a16:creationId xmlns:a16="http://schemas.microsoft.com/office/drawing/2014/main" id="{6362608B-3EBE-F6A7-0A5D-249C88C76C88}"/>
              </a:ext>
            </a:extLst>
          </p:cNvPr>
          <p:cNvSpPr/>
          <p:nvPr/>
        </p:nvSpPr>
        <p:spPr>
          <a:xfrm>
            <a:off x="598880" y="5235357"/>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23"/>
              </a:rPr>
              <a:t>28/03/26 12:00</a:t>
            </a:r>
            <a:r>
              <a:t> | </a:t>
            </a:r>
            <a:r>
              <a:rPr lang="en" b="0" i="0"/>
              <a:t>United Arab Emirates</a:t>
            </a:r>
            <a:endParaRPr/>
          </a:p>
        </p:txBody>
      </p:sp>
      <p:sp>
        <p:nvSpPr>
          <p:cNvPr id="84" name="Shape">
            <a:extLst>
              <a:ext uri="{FF2B5EF4-FFF2-40B4-BE49-F238E27FC236}">
                <a16:creationId xmlns:a16="http://schemas.microsoft.com/office/drawing/2014/main" id="{F12DEA16-94F1-474E-8180-2173AAFACC35}"/>
              </a:ext>
            </a:extLst>
          </p:cNvPr>
          <p:cNvSpPr/>
          <p:nvPr/>
        </p:nvSpPr>
        <p:spPr>
          <a:xfrm>
            <a:off x="3933748" y="4905877"/>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When the lights fade, our responsibility shines. 🌍 This Earth Hour, we’re shaping a brighter, greener space for our community. #ArabianCenter #EarthHour #SustainableFuture pic.x.com/QwdwBsTUBV</a:t>
            </a:r>
            <a:endParaRPr/>
          </a:p>
        </p:txBody>
      </p:sp>
      <p:pic>
        <p:nvPicPr>
          <p:cNvPr id="85" name="Picture">
            <a:hlinkClick r:id="rId24"/>
            <a:extLst>
              <a:ext uri="{FF2B5EF4-FFF2-40B4-BE49-F238E27FC236}">
                <a16:creationId xmlns:a16="http://schemas.microsoft.com/office/drawing/2014/main" id="{BB0AF631-DA39-697B-988A-4BFAE544D78D}"/>
              </a:ext>
            </a:extLst>
          </p:cNvPr>
          <p:cNvPicPr/>
          <p:nvPr/>
        </p:nvPicPr>
        <p:blipFill>
          <a:blip r:embed="rId25"/>
          <a:srcRect/>
          <a:stretch/>
        </p:blipFill>
        <p:spPr>
          <a:xfrm>
            <a:off x="7716515" y="4663051"/>
            <a:ext cx="438150" cy="781050"/>
          </a:xfrm>
          <a:prstGeom prst="rect">
            <a:avLst/>
          </a:prstGeom>
        </p:spPr>
      </p:pic>
      <p:sp>
        <p:nvSpPr>
          <p:cNvPr id="86" name="Shape">
            <a:extLst>
              <a:ext uri="{FF2B5EF4-FFF2-40B4-BE49-F238E27FC236}">
                <a16:creationId xmlns:a16="http://schemas.microsoft.com/office/drawing/2014/main" id="{070CBEE2-99CA-8962-8511-93FFB813F5C6}"/>
              </a:ext>
            </a:extLst>
          </p:cNvPr>
          <p:cNvSpPr/>
          <p:nvPr/>
        </p:nvSpPr>
        <p:spPr>
          <a:xfrm>
            <a:off x="8769307" y="4871793"/>
            <a:ext cx="1111622" cy="363564"/>
          </a:xfrm>
          <a:prstGeom prst="rect">
            <a:avLst/>
          </a:prstGeom>
        </p:spPr>
        <p:txBody>
          <a:bodyPr wrap="square" lIns="0" tIns="0" rIns="0">
            <a:noAutofit/>
          </a:bodyPr>
          <a:lstStyle/>
          <a:p>
            <a:pPr algn="ctr" fontAlgn="t">
              <a:defRPr sz="1200" b="1" i="0">
                <a:solidFill>
                  <a:srgbClr val="808080"/>
                </a:solidFill>
                <a:latin typeface="Arial"/>
              </a:defRPr>
            </a:pPr>
            <a:r>
              <a:t>25</a:t>
            </a:r>
          </a:p>
        </p:txBody>
      </p:sp>
      <p:sp>
        <p:nvSpPr>
          <p:cNvPr id="87" name="Shape">
            <a:extLst>
              <a:ext uri="{FF2B5EF4-FFF2-40B4-BE49-F238E27FC236}">
                <a16:creationId xmlns:a16="http://schemas.microsoft.com/office/drawing/2014/main" id="{03C77138-E8BC-4C18-F69D-9D6472603950}"/>
              </a:ext>
            </a:extLst>
          </p:cNvPr>
          <p:cNvSpPr/>
          <p:nvPr/>
        </p:nvSpPr>
        <p:spPr>
          <a:xfrm>
            <a:off x="8769307" y="4871793"/>
            <a:ext cx="1111622" cy="363564"/>
          </a:xfrm>
          <a:prstGeom prst="rect">
            <a:avLst/>
          </a:prstGeom>
        </p:spPr>
        <p:txBody>
          <a:bodyPr wrap="square" lIns="0" tIns="0" rIns="0">
            <a:noAutofit/>
          </a:bodyPr>
          <a:lstStyle/>
          <a:p>
            <a:pPr algn="ctr" fontAlgn="t">
              <a:defRPr sz="1200" b="1" i="0">
                <a:solidFill>
                  <a:srgbClr val="808080"/>
                </a:solidFill>
                <a:latin typeface="Arial"/>
              </a:defRPr>
            </a:pPr>
            <a:r>
              <a:t>25</a:t>
            </a:r>
          </a:p>
        </p:txBody>
      </p:sp>
      <p:sp>
        <p:nvSpPr>
          <p:cNvPr id="88" name="Shape">
            <a:extLst>
              <a:ext uri="{FF2B5EF4-FFF2-40B4-BE49-F238E27FC236}">
                <a16:creationId xmlns:a16="http://schemas.microsoft.com/office/drawing/2014/main" id="{17734E8D-AB72-6D35-8A11-94B92B62F867}"/>
              </a:ext>
            </a:extLst>
          </p:cNvPr>
          <p:cNvSpPr/>
          <p:nvPr/>
        </p:nvSpPr>
        <p:spPr>
          <a:xfrm>
            <a:off x="10047672" y="4614269"/>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89" name="Shape">
            <a:extLst>
              <a:ext uri="{FF2B5EF4-FFF2-40B4-BE49-F238E27FC236}">
                <a16:creationId xmlns:a16="http://schemas.microsoft.com/office/drawing/2014/main" id="{C9129788-A02E-4944-5357-F56CB8168DEE}"/>
              </a:ext>
            </a:extLst>
          </p:cNvPr>
          <p:cNvSpPr/>
          <p:nvPr/>
        </p:nvSpPr>
        <p:spPr>
          <a:xfrm>
            <a:off x="10047672" y="4765754"/>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90" name="Shape">
            <a:extLst>
              <a:ext uri="{FF2B5EF4-FFF2-40B4-BE49-F238E27FC236}">
                <a16:creationId xmlns:a16="http://schemas.microsoft.com/office/drawing/2014/main" id="{FEEC6364-0E17-D967-EDEE-BE6BD785E3DD}"/>
              </a:ext>
            </a:extLst>
          </p:cNvPr>
          <p:cNvSpPr/>
          <p:nvPr/>
        </p:nvSpPr>
        <p:spPr>
          <a:xfrm>
            <a:off x="10047672" y="4765754"/>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91" name="Shape">
            <a:extLst>
              <a:ext uri="{FF2B5EF4-FFF2-40B4-BE49-F238E27FC236}">
                <a16:creationId xmlns:a16="http://schemas.microsoft.com/office/drawing/2014/main" id="{7FA6A40B-909F-DEC6-2136-51F63F7A7866}"/>
              </a:ext>
            </a:extLst>
          </p:cNvPr>
          <p:cNvSpPr/>
          <p:nvPr/>
        </p:nvSpPr>
        <p:spPr>
          <a:xfrm>
            <a:off x="10047672" y="4917239"/>
            <a:ext cx="1500690" cy="121188"/>
          </a:xfrm>
          <a:prstGeom prst="rect">
            <a:avLst/>
          </a:prstGeom>
        </p:spPr>
        <p:txBody>
          <a:bodyPr wrap="square" lIns="0" tIns="0" rIns="0">
            <a:noAutofit/>
          </a:bodyPr>
          <a:lstStyle/>
          <a:p>
            <a:pPr algn="l" fontAlgn="t">
              <a:defRPr sz="800" b="0" i="0">
                <a:solidFill>
                  <a:srgbClr val="808080"/>
                </a:solidFill>
                <a:latin typeface="Arial"/>
              </a:defRPr>
            </a:pPr>
            <a:r>
              <a:t>X Reposts 8</a:t>
            </a:r>
          </a:p>
        </p:txBody>
      </p:sp>
      <p:sp>
        <p:nvSpPr>
          <p:cNvPr id="92" name="Shape">
            <a:extLst>
              <a:ext uri="{FF2B5EF4-FFF2-40B4-BE49-F238E27FC236}">
                <a16:creationId xmlns:a16="http://schemas.microsoft.com/office/drawing/2014/main" id="{BE4E125C-407A-6162-9983-850E3DAE1A19}"/>
              </a:ext>
            </a:extLst>
          </p:cNvPr>
          <p:cNvSpPr/>
          <p:nvPr/>
        </p:nvSpPr>
        <p:spPr>
          <a:xfrm>
            <a:off x="10047672" y="4917239"/>
            <a:ext cx="1500690" cy="121188"/>
          </a:xfrm>
          <a:prstGeom prst="rect">
            <a:avLst/>
          </a:prstGeom>
        </p:spPr>
        <p:txBody>
          <a:bodyPr wrap="square" lIns="0" tIns="0" rIns="0">
            <a:noAutofit/>
          </a:bodyPr>
          <a:lstStyle/>
          <a:p>
            <a:pPr algn="l" fontAlgn="t">
              <a:defRPr sz="800" b="0" i="0">
                <a:solidFill>
                  <a:srgbClr val="808080"/>
                </a:solidFill>
                <a:latin typeface="Arial"/>
              </a:defRPr>
            </a:pPr>
            <a:r>
              <a:t>X Reposts 8</a:t>
            </a:r>
          </a:p>
        </p:txBody>
      </p:sp>
      <p:sp>
        <p:nvSpPr>
          <p:cNvPr id="93" name="Shape">
            <a:extLst>
              <a:ext uri="{FF2B5EF4-FFF2-40B4-BE49-F238E27FC236}">
                <a16:creationId xmlns:a16="http://schemas.microsoft.com/office/drawing/2014/main" id="{951DF1F4-31A8-4535-026F-40965C0B3244}"/>
              </a:ext>
            </a:extLst>
          </p:cNvPr>
          <p:cNvSpPr/>
          <p:nvPr/>
        </p:nvSpPr>
        <p:spPr>
          <a:xfrm>
            <a:off x="10047672" y="5068724"/>
            <a:ext cx="1500690" cy="121188"/>
          </a:xfrm>
          <a:prstGeom prst="rect">
            <a:avLst/>
          </a:prstGeom>
        </p:spPr>
        <p:txBody>
          <a:bodyPr wrap="square" lIns="0" tIns="0" rIns="0">
            <a:noAutofit/>
          </a:bodyPr>
          <a:lstStyle/>
          <a:p>
            <a:pPr algn="l" fontAlgn="t">
              <a:defRPr sz="800" b="0" i="0">
                <a:solidFill>
                  <a:srgbClr val="808080"/>
                </a:solidFill>
                <a:latin typeface="Arial"/>
              </a:defRPr>
            </a:pPr>
            <a:r>
              <a:t>X Likes 16</a:t>
            </a:r>
          </a:p>
        </p:txBody>
      </p:sp>
      <p:sp>
        <p:nvSpPr>
          <p:cNvPr id="94" name="Shape">
            <a:extLst>
              <a:ext uri="{FF2B5EF4-FFF2-40B4-BE49-F238E27FC236}">
                <a16:creationId xmlns:a16="http://schemas.microsoft.com/office/drawing/2014/main" id="{5ABED853-F632-6390-14F4-CF4E8DBF3E8C}"/>
              </a:ext>
            </a:extLst>
          </p:cNvPr>
          <p:cNvSpPr/>
          <p:nvPr/>
        </p:nvSpPr>
        <p:spPr>
          <a:xfrm>
            <a:off x="10047672" y="5068724"/>
            <a:ext cx="1500690" cy="121188"/>
          </a:xfrm>
          <a:prstGeom prst="rect">
            <a:avLst/>
          </a:prstGeom>
        </p:spPr>
        <p:txBody>
          <a:bodyPr wrap="square" lIns="0" tIns="0" rIns="0">
            <a:noAutofit/>
          </a:bodyPr>
          <a:lstStyle/>
          <a:p>
            <a:pPr algn="l" fontAlgn="t">
              <a:defRPr sz="800" b="0" i="0">
                <a:solidFill>
                  <a:srgbClr val="808080"/>
                </a:solidFill>
                <a:latin typeface="Arial"/>
              </a:defRPr>
            </a:pPr>
            <a:r>
              <a:t>X Likes 16</a:t>
            </a:r>
          </a:p>
        </p:txBody>
      </p:sp>
      <p:sp>
        <p:nvSpPr>
          <p:cNvPr id="95" name="Shape">
            <a:extLst>
              <a:ext uri="{FF2B5EF4-FFF2-40B4-BE49-F238E27FC236}">
                <a16:creationId xmlns:a16="http://schemas.microsoft.com/office/drawing/2014/main" id="{DE093962-A9DD-84C8-9C21-71C61EB34587}"/>
              </a:ext>
            </a:extLst>
          </p:cNvPr>
          <p:cNvSpPr/>
          <p:nvPr/>
        </p:nvSpPr>
        <p:spPr>
          <a:xfrm>
            <a:off x="10047672" y="5220209"/>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96" name="Shape">
            <a:extLst>
              <a:ext uri="{FF2B5EF4-FFF2-40B4-BE49-F238E27FC236}">
                <a16:creationId xmlns:a16="http://schemas.microsoft.com/office/drawing/2014/main" id="{6C9DF415-C622-9CF2-90DF-E96DE2035C45}"/>
              </a:ext>
            </a:extLst>
          </p:cNvPr>
          <p:cNvSpPr/>
          <p:nvPr/>
        </p:nvSpPr>
        <p:spPr>
          <a:xfrm>
            <a:off x="10047672" y="5220209"/>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cxnSp>
        <p:nvCxnSpPr>
          <p:cNvPr id="97" name="Line 200: (537882, 6316553) - (11654110, 6316553)">
            <a:extLst>
              <a:ext uri="{FF2B5EF4-FFF2-40B4-BE49-F238E27FC236}">
                <a16:creationId xmlns:a16="http://schemas.microsoft.com/office/drawing/2014/main" id="{6DC56DFE-1555-5B02-074B-4DF9C8CAE6D1}"/>
              </a:ext>
            </a:extLst>
          </p:cNvPr>
          <p:cNvCxnSpPr/>
          <p:nvPr/>
        </p:nvCxnSpPr>
        <p:spPr>
          <a:xfrm>
            <a:off x="432137" y="5508031"/>
            <a:ext cx="11116228" cy="0"/>
          </a:xfrm>
          <a:prstGeom prst="line">
            <a:avLst/>
          </a:prstGeom>
          <a:ln w="12700">
            <a:solidFill>
              <a:srgbClr val="C7C7C7"/>
            </a:solidFill>
          </a:ln>
        </p:spPr>
      </p:cxnSp>
    </p:spTree>
    <p:extLst>
      <p:ext uri="{BB962C8B-B14F-4D97-AF65-F5344CB8AC3E}">
        <p14:creationId xmlns:p14="http://schemas.microsoft.com/office/powerpoint/2010/main" val="3262215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972A6-533C-3BCD-742B-0A5CCD283273}"/>
            </a:ext>
          </a:extLst>
        </p:cNvPr>
        <p:cNvGrpSpPr/>
        <p:nvPr/>
      </p:nvGrpSpPr>
      <p:grpSpPr>
        <a:xfrm>
          <a:off x="0" y="0"/>
          <a:ext cx="0" cy="0"/>
          <a:chOff x="0" y="0"/>
          <a:chExt cx="0" cy="0"/>
        </a:xfrm>
      </p:grpSpPr>
      <p:sp>
        <p:nvSpPr>
          <p:cNvPr id="2" name="Shape">
            <a:extLst>
              <a:ext uri="{FF2B5EF4-FFF2-40B4-BE49-F238E27FC236}">
                <a16:creationId xmlns:a16="http://schemas.microsoft.com/office/drawing/2014/main" id="{BAF27C24-AC9D-97A7-4063-1FDB1C960C3C}"/>
              </a:ext>
            </a:extLst>
          </p:cNvPr>
          <p:cNvSpPr/>
          <p:nvPr/>
        </p:nvSpPr>
        <p:spPr>
          <a:xfrm>
            <a:off x="546549" y="239629"/>
            <a:ext cx="3804070" cy="222656"/>
          </a:xfrm>
          <a:prstGeom prst="rect">
            <a:avLst/>
          </a:prstGeom>
        </p:spPr>
        <p:txBody>
          <a:bodyPr wrap="square" lIns="0" tIns="0" rIns="0">
            <a:noAutofit/>
          </a:bodyPr>
          <a:lstStyle/>
          <a:p>
            <a:r>
              <a:rPr lang="en-US" sz="1000" b="1" i="1" dirty="0"/>
              <a:t>ARABIAN CENTER MALL March,2026</a:t>
            </a:r>
          </a:p>
          <a:p>
            <a:r>
              <a:rPr lang="en-US" sz="1000" b="1" i="1" dirty="0"/>
              <a:t>                                       </a:t>
            </a:r>
          </a:p>
        </p:txBody>
      </p:sp>
      <p:cxnSp>
        <p:nvCxnSpPr>
          <p:cNvPr id="3" name="Line 200: (537882, 1772003) - (11654110, 1772003)">
            <a:extLst>
              <a:ext uri="{FF2B5EF4-FFF2-40B4-BE49-F238E27FC236}">
                <a16:creationId xmlns:a16="http://schemas.microsoft.com/office/drawing/2014/main" id="{0D6BB7D0-FD35-ADE7-3773-AB032E157F48}"/>
              </a:ext>
            </a:extLst>
          </p:cNvPr>
          <p:cNvCxnSpPr/>
          <p:nvPr/>
        </p:nvCxnSpPr>
        <p:spPr>
          <a:xfrm>
            <a:off x="432137" y="1088609"/>
            <a:ext cx="11116228" cy="0"/>
          </a:xfrm>
          <a:prstGeom prst="line">
            <a:avLst/>
          </a:prstGeom>
          <a:ln w="12700">
            <a:solidFill>
              <a:srgbClr val="C7C7C7"/>
            </a:solidFill>
          </a:ln>
        </p:spPr>
      </p:cxnSp>
      <p:sp>
        <p:nvSpPr>
          <p:cNvPr id="4" name="Shape">
            <a:extLst>
              <a:ext uri="{FF2B5EF4-FFF2-40B4-BE49-F238E27FC236}">
                <a16:creationId xmlns:a16="http://schemas.microsoft.com/office/drawing/2014/main" id="{2319B834-0D8C-8AB1-18FC-785B89794B25}"/>
              </a:ext>
            </a:extLst>
          </p:cNvPr>
          <p:cNvSpPr/>
          <p:nvPr/>
        </p:nvSpPr>
        <p:spPr>
          <a:xfrm>
            <a:off x="765623" y="873341"/>
            <a:ext cx="3001381" cy="215267"/>
          </a:xfrm>
          <a:prstGeom prst="rect">
            <a:avLst/>
          </a:prstGeom>
        </p:spPr>
        <p:txBody>
          <a:bodyPr wrap="square" lIns="0" tIns="0" rIns="0">
            <a:noAutofit/>
          </a:bodyPr>
          <a:lstStyle/>
          <a:p>
            <a:pPr algn="l" fontAlgn="ctr">
              <a:defRPr sz="700" b="0" i="0">
                <a:solidFill>
                  <a:srgbClr val="808080"/>
                </a:solidFill>
                <a:latin typeface="Arial"/>
              </a:defRPr>
            </a:pPr>
            <a:r>
              <a:t>Author</a:t>
            </a:r>
          </a:p>
        </p:txBody>
      </p:sp>
      <p:cxnSp>
        <p:nvCxnSpPr>
          <p:cNvPr id="5" name="Line 200: (3872750, 1532817) - (3872750, 1772003)">
            <a:extLst>
              <a:ext uri="{FF2B5EF4-FFF2-40B4-BE49-F238E27FC236}">
                <a16:creationId xmlns:a16="http://schemas.microsoft.com/office/drawing/2014/main" id="{531E2F56-F3C2-0C06-CBD5-D1F03FCE1958}"/>
              </a:ext>
            </a:extLst>
          </p:cNvPr>
          <p:cNvCxnSpPr/>
          <p:nvPr/>
        </p:nvCxnSpPr>
        <p:spPr>
          <a:xfrm>
            <a:off x="3767005" y="849423"/>
            <a:ext cx="0" cy="239186"/>
          </a:xfrm>
          <a:prstGeom prst="line">
            <a:avLst/>
          </a:prstGeom>
          <a:ln w="12700">
            <a:solidFill>
              <a:srgbClr val="C7C7C7"/>
            </a:solidFill>
          </a:ln>
        </p:spPr>
      </p:cxnSp>
      <p:sp>
        <p:nvSpPr>
          <p:cNvPr id="6" name="Shape">
            <a:extLst>
              <a:ext uri="{FF2B5EF4-FFF2-40B4-BE49-F238E27FC236}">
                <a16:creationId xmlns:a16="http://schemas.microsoft.com/office/drawing/2014/main" id="{2037F8A1-667B-F4AA-7B7E-DDF971F48275}"/>
              </a:ext>
            </a:extLst>
          </p:cNvPr>
          <p:cNvSpPr/>
          <p:nvPr/>
        </p:nvSpPr>
        <p:spPr>
          <a:xfrm>
            <a:off x="4100491" y="873341"/>
            <a:ext cx="3001381" cy="215267"/>
          </a:xfrm>
          <a:prstGeom prst="rect">
            <a:avLst/>
          </a:prstGeom>
        </p:spPr>
        <p:txBody>
          <a:bodyPr wrap="square" lIns="0" tIns="0" rIns="0">
            <a:noAutofit/>
          </a:bodyPr>
          <a:lstStyle/>
          <a:p>
            <a:pPr algn="l" fontAlgn="ctr">
              <a:defRPr sz="700" b="0" i="0">
                <a:solidFill>
                  <a:srgbClr val="808080"/>
                </a:solidFill>
                <a:latin typeface="Arial"/>
              </a:defRPr>
            </a:pPr>
            <a:r>
              <a:t>Post</a:t>
            </a:r>
          </a:p>
        </p:txBody>
      </p:sp>
      <p:cxnSp>
        <p:nvCxnSpPr>
          <p:cNvPr id="7" name="Line 200: (8875052, 1532817) - (8875052, 1772003)">
            <a:extLst>
              <a:ext uri="{FF2B5EF4-FFF2-40B4-BE49-F238E27FC236}">
                <a16:creationId xmlns:a16="http://schemas.microsoft.com/office/drawing/2014/main" id="{39A904C3-52A2-2D93-34A5-181255AEF429}"/>
              </a:ext>
            </a:extLst>
          </p:cNvPr>
          <p:cNvCxnSpPr/>
          <p:nvPr/>
        </p:nvCxnSpPr>
        <p:spPr>
          <a:xfrm>
            <a:off x="8769307" y="849423"/>
            <a:ext cx="0" cy="239186"/>
          </a:xfrm>
          <a:prstGeom prst="line">
            <a:avLst/>
          </a:prstGeom>
          <a:ln w="12700">
            <a:solidFill>
              <a:srgbClr val="C7C7C7"/>
            </a:solidFill>
          </a:ln>
        </p:spPr>
      </p:cxnSp>
      <p:sp>
        <p:nvSpPr>
          <p:cNvPr id="8" name="Shape">
            <a:extLst>
              <a:ext uri="{FF2B5EF4-FFF2-40B4-BE49-F238E27FC236}">
                <a16:creationId xmlns:a16="http://schemas.microsoft.com/office/drawing/2014/main" id="{F766954F-83FB-81F9-2301-6FCD86D3CDE4}"/>
              </a:ext>
            </a:extLst>
          </p:cNvPr>
          <p:cNvSpPr/>
          <p:nvPr/>
        </p:nvSpPr>
        <p:spPr>
          <a:xfrm>
            <a:off x="8880469" y="873341"/>
            <a:ext cx="1000459" cy="215267"/>
          </a:xfrm>
          <a:prstGeom prst="rect">
            <a:avLst/>
          </a:prstGeom>
        </p:spPr>
        <p:txBody>
          <a:bodyPr wrap="square" lIns="0" tIns="0" rIns="0">
            <a:noAutofit/>
          </a:bodyPr>
          <a:lstStyle/>
          <a:p>
            <a:pPr algn="l" fontAlgn="ctr">
              <a:defRPr sz="700" b="0" i="0">
                <a:solidFill>
                  <a:srgbClr val="808080"/>
                </a:solidFill>
                <a:latin typeface="Arial"/>
              </a:defRPr>
            </a:pPr>
            <a:r>
              <a:t>Engagement</a:t>
            </a:r>
          </a:p>
        </p:txBody>
      </p:sp>
      <p:cxnSp>
        <p:nvCxnSpPr>
          <p:cNvPr id="9" name="Line 200: (9986674, 1532817) - (9986674, 1772003)">
            <a:extLst>
              <a:ext uri="{FF2B5EF4-FFF2-40B4-BE49-F238E27FC236}">
                <a16:creationId xmlns:a16="http://schemas.microsoft.com/office/drawing/2014/main" id="{EFD439E3-B617-8D71-E69B-41A2EA5EA280}"/>
              </a:ext>
            </a:extLst>
          </p:cNvPr>
          <p:cNvCxnSpPr/>
          <p:nvPr/>
        </p:nvCxnSpPr>
        <p:spPr>
          <a:xfrm>
            <a:off x="9880929" y="849423"/>
            <a:ext cx="0" cy="239186"/>
          </a:xfrm>
          <a:prstGeom prst="line">
            <a:avLst/>
          </a:prstGeom>
          <a:ln w="12700">
            <a:solidFill>
              <a:srgbClr val="C7C7C7"/>
            </a:solidFill>
          </a:ln>
        </p:spPr>
      </p:cxnSp>
      <p:sp>
        <p:nvSpPr>
          <p:cNvPr id="10" name="Shape">
            <a:extLst>
              <a:ext uri="{FF2B5EF4-FFF2-40B4-BE49-F238E27FC236}">
                <a16:creationId xmlns:a16="http://schemas.microsoft.com/office/drawing/2014/main" id="{5231C4A0-A206-C1B6-C573-CAB55BD00B98}"/>
              </a:ext>
            </a:extLst>
          </p:cNvPr>
          <p:cNvSpPr/>
          <p:nvPr/>
        </p:nvSpPr>
        <p:spPr>
          <a:xfrm>
            <a:off x="10047672" y="873341"/>
            <a:ext cx="1500690" cy="215267"/>
          </a:xfrm>
          <a:prstGeom prst="rect">
            <a:avLst/>
          </a:prstGeom>
        </p:spPr>
        <p:txBody>
          <a:bodyPr wrap="square" lIns="0" tIns="0" rIns="0">
            <a:noAutofit/>
          </a:bodyPr>
          <a:lstStyle/>
          <a:p>
            <a:pPr algn="l" fontAlgn="ctr">
              <a:defRPr sz="700" b="0" i="0">
                <a:solidFill>
                  <a:srgbClr val="808080"/>
                </a:solidFill>
                <a:latin typeface="Arial"/>
              </a:defRPr>
            </a:pPr>
            <a:r>
              <a:t>Other Metrics</a:t>
            </a:r>
          </a:p>
        </p:txBody>
      </p:sp>
      <p:pic>
        <p:nvPicPr>
          <p:cNvPr id="11" name="Picture">
            <a:extLst>
              <a:ext uri="{FF2B5EF4-FFF2-40B4-BE49-F238E27FC236}">
                <a16:creationId xmlns:a16="http://schemas.microsoft.com/office/drawing/2014/main" id="{0811BBB0-4FB8-235B-6E3A-9D46B7918EB5}"/>
              </a:ext>
            </a:extLst>
          </p:cNvPr>
          <p:cNvPicPr/>
          <p:nvPr/>
        </p:nvPicPr>
        <p:blipFill>
          <a:blip r:embed="rId2"/>
          <a:srcRect/>
          <a:stretch/>
        </p:blipFill>
        <p:spPr>
          <a:xfrm>
            <a:off x="546549" y="1172504"/>
            <a:ext cx="438150" cy="438150"/>
          </a:xfrm>
          <a:prstGeom prst="rect">
            <a:avLst/>
          </a:prstGeom>
        </p:spPr>
      </p:pic>
      <p:pic>
        <p:nvPicPr>
          <p:cNvPr id="12" name="Picture">
            <a:extLst>
              <a:ext uri="{FF2B5EF4-FFF2-40B4-BE49-F238E27FC236}">
                <a16:creationId xmlns:a16="http://schemas.microsoft.com/office/drawing/2014/main" id="{1DED99F1-8379-40E8-EBC0-F39D29439887}"/>
              </a:ext>
            </a:extLst>
          </p:cNvPr>
          <p:cNvPicPr/>
          <p:nvPr/>
        </p:nvPicPr>
        <p:blipFill>
          <a:blip r:embed="rId3"/>
          <a:srcRect/>
          <a:stretch/>
        </p:blipFill>
        <p:spPr>
          <a:xfrm>
            <a:off x="854576" y="1155240"/>
            <a:ext cx="133350" cy="133350"/>
          </a:xfrm>
          <a:prstGeom prst="rect">
            <a:avLst/>
          </a:prstGeom>
        </p:spPr>
      </p:pic>
      <p:sp>
        <p:nvSpPr>
          <p:cNvPr id="13" name="Shape">
            <a:extLst>
              <a:ext uri="{FF2B5EF4-FFF2-40B4-BE49-F238E27FC236}">
                <a16:creationId xmlns:a16="http://schemas.microsoft.com/office/drawing/2014/main" id="{48C68138-CB97-A115-E28A-1D25994CF567}"/>
              </a:ext>
            </a:extLst>
          </p:cNvPr>
          <p:cNvSpPr/>
          <p:nvPr/>
        </p:nvSpPr>
        <p:spPr>
          <a:xfrm>
            <a:off x="1121343" y="1209797"/>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arabiancenter</a:t>
            </a:r>
            <a:endParaRPr/>
          </a:p>
        </p:txBody>
      </p:sp>
      <p:sp>
        <p:nvSpPr>
          <p:cNvPr id="14" name="Shape">
            <a:extLst>
              <a:ext uri="{FF2B5EF4-FFF2-40B4-BE49-F238E27FC236}">
                <a16:creationId xmlns:a16="http://schemas.microsoft.com/office/drawing/2014/main" id="{FC595F3E-5B60-3711-AABF-30277D51D534}"/>
              </a:ext>
            </a:extLst>
          </p:cNvPr>
          <p:cNvSpPr/>
          <p:nvPr/>
        </p:nvSpPr>
        <p:spPr>
          <a:xfrm>
            <a:off x="1121343" y="1490043"/>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15" name="Shape">
            <a:extLst>
              <a:ext uri="{FF2B5EF4-FFF2-40B4-BE49-F238E27FC236}">
                <a16:creationId xmlns:a16="http://schemas.microsoft.com/office/drawing/2014/main" id="{03505146-EF78-28F5-A2A4-56DF6297DC07}"/>
              </a:ext>
            </a:extLst>
          </p:cNvPr>
          <p:cNvSpPr/>
          <p:nvPr/>
        </p:nvSpPr>
        <p:spPr>
          <a:xfrm>
            <a:off x="598880" y="1724845"/>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6"/>
              </a:rPr>
              <a:t>28/03/26 12:00</a:t>
            </a:r>
            <a:r>
              <a:t> | </a:t>
            </a:r>
            <a:r>
              <a:rPr lang="en" b="0" i="0"/>
              <a:t>United Arab Emirates</a:t>
            </a:r>
            <a:endParaRPr/>
          </a:p>
        </p:txBody>
      </p:sp>
      <p:sp>
        <p:nvSpPr>
          <p:cNvPr id="16" name="Shape">
            <a:extLst>
              <a:ext uri="{FF2B5EF4-FFF2-40B4-BE49-F238E27FC236}">
                <a16:creationId xmlns:a16="http://schemas.microsoft.com/office/drawing/2014/main" id="{12C7DE1C-C09B-3F8B-CF7F-995ED2B6B6CB}"/>
              </a:ext>
            </a:extLst>
          </p:cNvPr>
          <p:cNvSpPr/>
          <p:nvPr/>
        </p:nvSpPr>
        <p:spPr>
          <a:xfrm>
            <a:off x="3933748" y="1395365"/>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When the lights fade, our responsibility shines. 🌍 This Earth Hour, we’re shaping a brighter, greener space for our community. #ArabianCenter #EarthHour #SustainableFuture</a:t>
            </a:r>
            <a:endParaRPr/>
          </a:p>
        </p:txBody>
      </p:sp>
      <p:pic>
        <p:nvPicPr>
          <p:cNvPr id="17" name="Picture">
            <a:hlinkClick r:id="rId7"/>
            <a:extLst>
              <a:ext uri="{FF2B5EF4-FFF2-40B4-BE49-F238E27FC236}">
                <a16:creationId xmlns:a16="http://schemas.microsoft.com/office/drawing/2014/main" id="{80C6BF87-55B4-BCBF-A976-C8C08EB60546}"/>
              </a:ext>
            </a:extLst>
          </p:cNvPr>
          <p:cNvPicPr/>
          <p:nvPr/>
        </p:nvPicPr>
        <p:blipFill>
          <a:blip r:embed="rId8"/>
          <a:srcRect/>
          <a:stretch/>
        </p:blipFill>
        <p:spPr>
          <a:xfrm>
            <a:off x="7716515" y="1152539"/>
            <a:ext cx="438150" cy="781050"/>
          </a:xfrm>
          <a:prstGeom prst="rect">
            <a:avLst/>
          </a:prstGeom>
        </p:spPr>
      </p:pic>
      <p:sp>
        <p:nvSpPr>
          <p:cNvPr id="18" name="Shape">
            <a:extLst>
              <a:ext uri="{FF2B5EF4-FFF2-40B4-BE49-F238E27FC236}">
                <a16:creationId xmlns:a16="http://schemas.microsoft.com/office/drawing/2014/main" id="{BC9C1BF0-4029-6965-B86E-4A34574ABC7D}"/>
              </a:ext>
            </a:extLst>
          </p:cNvPr>
          <p:cNvSpPr/>
          <p:nvPr/>
        </p:nvSpPr>
        <p:spPr>
          <a:xfrm>
            <a:off x="8769307" y="1361281"/>
            <a:ext cx="1111622" cy="363564"/>
          </a:xfrm>
          <a:prstGeom prst="rect">
            <a:avLst/>
          </a:prstGeom>
        </p:spPr>
        <p:txBody>
          <a:bodyPr wrap="square" lIns="0" tIns="0" rIns="0">
            <a:noAutofit/>
          </a:bodyPr>
          <a:lstStyle/>
          <a:p>
            <a:pPr algn="ctr" fontAlgn="t">
              <a:defRPr sz="1200" b="1" i="0">
                <a:solidFill>
                  <a:srgbClr val="808080"/>
                </a:solidFill>
                <a:latin typeface="Arial"/>
              </a:defRPr>
            </a:pPr>
            <a:r>
              <a:t>88</a:t>
            </a:r>
          </a:p>
        </p:txBody>
      </p:sp>
      <p:sp>
        <p:nvSpPr>
          <p:cNvPr id="19" name="Shape">
            <a:extLst>
              <a:ext uri="{FF2B5EF4-FFF2-40B4-BE49-F238E27FC236}">
                <a16:creationId xmlns:a16="http://schemas.microsoft.com/office/drawing/2014/main" id="{7CA744BA-B929-8EC2-DF6D-7136527028FA}"/>
              </a:ext>
            </a:extLst>
          </p:cNvPr>
          <p:cNvSpPr/>
          <p:nvPr/>
        </p:nvSpPr>
        <p:spPr>
          <a:xfrm>
            <a:off x="8769307" y="1361281"/>
            <a:ext cx="1111622" cy="363564"/>
          </a:xfrm>
          <a:prstGeom prst="rect">
            <a:avLst/>
          </a:prstGeom>
        </p:spPr>
        <p:txBody>
          <a:bodyPr wrap="square" lIns="0" tIns="0" rIns="0">
            <a:noAutofit/>
          </a:bodyPr>
          <a:lstStyle/>
          <a:p>
            <a:pPr algn="ctr" fontAlgn="t">
              <a:defRPr sz="1200" b="1" i="0">
                <a:solidFill>
                  <a:srgbClr val="808080"/>
                </a:solidFill>
                <a:latin typeface="Arial"/>
              </a:defRPr>
            </a:pPr>
            <a:r>
              <a:t>88</a:t>
            </a:r>
          </a:p>
        </p:txBody>
      </p:sp>
      <p:sp>
        <p:nvSpPr>
          <p:cNvPr id="20" name="Shape">
            <a:extLst>
              <a:ext uri="{FF2B5EF4-FFF2-40B4-BE49-F238E27FC236}">
                <a16:creationId xmlns:a16="http://schemas.microsoft.com/office/drawing/2014/main" id="{2B6164AB-FD7E-805E-606B-DDAE73B621E7}"/>
              </a:ext>
            </a:extLst>
          </p:cNvPr>
          <p:cNvSpPr/>
          <p:nvPr/>
        </p:nvSpPr>
        <p:spPr>
          <a:xfrm>
            <a:off x="10047672" y="1103757"/>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21" name="Shape">
            <a:extLst>
              <a:ext uri="{FF2B5EF4-FFF2-40B4-BE49-F238E27FC236}">
                <a16:creationId xmlns:a16="http://schemas.microsoft.com/office/drawing/2014/main" id="{6AE2AC6C-17A3-7EAF-1E9E-FD3D461E8EE8}"/>
              </a:ext>
            </a:extLst>
          </p:cNvPr>
          <p:cNvSpPr/>
          <p:nvPr/>
        </p:nvSpPr>
        <p:spPr>
          <a:xfrm>
            <a:off x="10047672" y="1255242"/>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33.7K</a:t>
            </a:r>
          </a:p>
        </p:txBody>
      </p:sp>
      <p:sp>
        <p:nvSpPr>
          <p:cNvPr id="22" name="Shape">
            <a:extLst>
              <a:ext uri="{FF2B5EF4-FFF2-40B4-BE49-F238E27FC236}">
                <a16:creationId xmlns:a16="http://schemas.microsoft.com/office/drawing/2014/main" id="{B2FDA1BB-404E-9434-0DA6-F06ED714F872}"/>
              </a:ext>
            </a:extLst>
          </p:cNvPr>
          <p:cNvSpPr/>
          <p:nvPr/>
        </p:nvSpPr>
        <p:spPr>
          <a:xfrm>
            <a:off x="10047672" y="1255242"/>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33.7K</a:t>
            </a:r>
          </a:p>
        </p:txBody>
      </p:sp>
      <p:sp>
        <p:nvSpPr>
          <p:cNvPr id="23" name="Shape">
            <a:extLst>
              <a:ext uri="{FF2B5EF4-FFF2-40B4-BE49-F238E27FC236}">
                <a16:creationId xmlns:a16="http://schemas.microsoft.com/office/drawing/2014/main" id="{D693F2E7-38FD-6C31-9609-00AA3D98D5A5}"/>
              </a:ext>
            </a:extLst>
          </p:cNvPr>
          <p:cNvSpPr/>
          <p:nvPr/>
        </p:nvSpPr>
        <p:spPr>
          <a:xfrm>
            <a:off x="10047672" y="1406727"/>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85</a:t>
            </a:r>
          </a:p>
        </p:txBody>
      </p:sp>
      <p:sp>
        <p:nvSpPr>
          <p:cNvPr id="24" name="Shape">
            <a:extLst>
              <a:ext uri="{FF2B5EF4-FFF2-40B4-BE49-F238E27FC236}">
                <a16:creationId xmlns:a16="http://schemas.microsoft.com/office/drawing/2014/main" id="{3758CA99-9F96-CE05-360F-88F24B2D93C6}"/>
              </a:ext>
            </a:extLst>
          </p:cNvPr>
          <p:cNvSpPr/>
          <p:nvPr/>
        </p:nvSpPr>
        <p:spPr>
          <a:xfrm>
            <a:off x="10047672" y="1406727"/>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85</a:t>
            </a:r>
          </a:p>
        </p:txBody>
      </p:sp>
      <p:cxnSp>
        <p:nvCxnSpPr>
          <p:cNvPr id="25" name="Line 200: (537882, 2680913) - (11654110, 2680913)">
            <a:extLst>
              <a:ext uri="{FF2B5EF4-FFF2-40B4-BE49-F238E27FC236}">
                <a16:creationId xmlns:a16="http://schemas.microsoft.com/office/drawing/2014/main" id="{C934A1B7-3656-BB40-0389-5CA968881A9A}"/>
              </a:ext>
            </a:extLst>
          </p:cNvPr>
          <p:cNvCxnSpPr/>
          <p:nvPr/>
        </p:nvCxnSpPr>
        <p:spPr>
          <a:xfrm>
            <a:off x="432137" y="1997519"/>
            <a:ext cx="11116228" cy="0"/>
          </a:xfrm>
          <a:prstGeom prst="line">
            <a:avLst/>
          </a:prstGeom>
          <a:ln w="12700">
            <a:solidFill>
              <a:srgbClr val="C7C7C7"/>
            </a:solidFill>
          </a:ln>
        </p:spPr>
      </p:cxnSp>
      <p:pic>
        <p:nvPicPr>
          <p:cNvPr id="26" name="Picture">
            <a:extLst>
              <a:ext uri="{FF2B5EF4-FFF2-40B4-BE49-F238E27FC236}">
                <a16:creationId xmlns:a16="http://schemas.microsoft.com/office/drawing/2014/main" id="{66CF9870-8786-2268-2DB6-19D333955841}"/>
              </a:ext>
            </a:extLst>
          </p:cNvPr>
          <p:cNvPicPr/>
          <p:nvPr/>
        </p:nvPicPr>
        <p:blipFill>
          <a:blip r:embed="rId9"/>
          <a:srcRect/>
          <a:stretch/>
        </p:blipFill>
        <p:spPr>
          <a:xfrm>
            <a:off x="546549" y="2081414"/>
            <a:ext cx="438150" cy="438150"/>
          </a:xfrm>
          <a:prstGeom prst="rect">
            <a:avLst/>
          </a:prstGeom>
        </p:spPr>
      </p:pic>
      <p:pic>
        <p:nvPicPr>
          <p:cNvPr id="27" name="Picture">
            <a:extLst>
              <a:ext uri="{FF2B5EF4-FFF2-40B4-BE49-F238E27FC236}">
                <a16:creationId xmlns:a16="http://schemas.microsoft.com/office/drawing/2014/main" id="{1615E070-83B0-18F8-46A6-B7E77C89BC83}"/>
              </a:ext>
            </a:extLst>
          </p:cNvPr>
          <p:cNvPicPr/>
          <p:nvPr/>
        </p:nvPicPr>
        <p:blipFill>
          <a:blip r:embed="rId3"/>
          <a:srcRect/>
          <a:stretch/>
        </p:blipFill>
        <p:spPr>
          <a:xfrm>
            <a:off x="854576" y="2064150"/>
            <a:ext cx="133350" cy="133350"/>
          </a:xfrm>
          <a:prstGeom prst="rect">
            <a:avLst/>
          </a:prstGeom>
        </p:spPr>
      </p:pic>
      <p:sp>
        <p:nvSpPr>
          <p:cNvPr id="28" name="Shape">
            <a:extLst>
              <a:ext uri="{FF2B5EF4-FFF2-40B4-BE49-F238E27FC236}">
                <a16:creationId xmlns:a16="http://schemas.microsoft.com/office/drawing/2014/main" id="{E64EDCF3-8FEA-8FF4-922B-241E47B4D51F}"/>
              </a:ext>
            </a:extLst>
          </p:cNvPr>
          <p:cNvSpPr/>
          <p:nvPr/>
        </p:nvSpPr>
        <p:spPr>
          <a:xfrm>
            <a:off x="1121343" y="2118707"/>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10"/>
              </a:rPr>
              <a:t>arabian center (arabiancenter)</a:t>
            </a:r>
            <a:endParaRPr/>
          </a:p>
        </p:txBody>
      </p:sp>
      <p:sp>
        <p:nvSpPr>
          <p:cNvPr id="29" name="Shape">
            <a:extLst>
              <a:ext uri="{FF2B5EF4-FFF2-40B4-BE49-F238E27FC236}">
                <a16:creationId xmlns:a16="http://schemas.microsoft.com/office/drawing/2014/main" id="{85F75B8A-10AB-FE68-5B0E-0F0A9C504E74}"/>
              </a:ext>
            </a:extLst>
          </p:cNvPr>
          <p:cNvSpPr/>
          <p:nvPr/>
        </p:nvSpPr>
        <p:spPr>
          <a:xfrm>
            <a:off x="1121343" y="2398953"/>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X</a:t>
            </a:r>
            <a:r>
              <a:t> | </a:t>
            </a:r>
            <a:r>
              <a:rPr lang="en" b="0" i="0">
                <a:hlinkClick r:id="rId11"/>
              </a:rPr>
              <a:t>twitter.com</a:t>
            </a:r>
            <a:endParaRPr/>
          </a:p>
        </p:txBody>
      </p:sp>
      <p:sp>
        <p:nvSpPr>
          <p:cNvPr id="30" name="Shape">
            <a:extLst>
              <a:ext uri="{FF2B5EF4-FFF2-40B4-BE49-F238E27FC236}">
                <a16:creationId xmlns:a16="http://schemas.microsoft.com/office/drawing/2014/main" id="{B19F2163-C31B-41AE-2A3A-682B765B96B3}"/>
              </a:ext>
            </a:extLst>
          </p:cNvPr>
          <p:cNvSpPr/>
          <p:nvPr/>
        </p:nvSpPr>
        <p:spPr>
          <a:xfrm>
            <a:off x="598880" y="2633755"/>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2"/>
              </a:rPr>
              <a:t>30/03/26 13:00</a:t>
            </a:r>
            <a:r>
              <a:t> | </a:t>
            </a:r>
            <a:r>
              <a:rPr lang="en" b="0" i="0"/>
              <a:t>United Arab Emirates</a:t>
            </a:r>
            <a:endParaRPr/>
          </a:p>
        </p:txBody>
      </p:sp>
      <p:sp>
        <p:nvSpPr>
          <p:cNvPr id="31" name="Shape">
            <a:extLst>
              <a:ext uri="{FF2B5EF4-FFF2-40B4-BE49-F238E27FC236}">
                <a16:creationId xmlns:a16="http://schemas.microsoft.com/office/drawing/2014/main" id="{94B19EB0-FB58-92F9-AC29-04C8FDBA9574}"/>
              </a:ext>
            </a:extLst>
          </p:cNvPr>
          <p:cNvSpPr/>
          <p:nvPr/>
        </p:nvSpPr>
        <p:spPr>
          <a:xfrm>
            <a:off x="3933748" y="2304275"/>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Arabian Center introduces a refreshed chapter with enhancements to the atrium and food court. These upgrades are part of a broader vision to elevate the customer journey and strengthen the mall as a destination for shopping, di...</a:t>
            </a:r>
            <a:endParaRPr/>
          </a:p>
        </p:txBody>
      </p:sp>
      <p:pic>
        <p:nvPicPr>
          <p:cNvPr id="32" name="Picture">
            <a:hlinkClick r:id="rId13"/>
            <a:extLst>
              <a:ext uri="{FF2B5EF4-FFF2-40B4-BE49-F238E27FC236}">
                <a16:creationId xmlns:a16="http://schemas.microsoft.com/office/drawing/2014/main" id="{9F1FE05C-387F-7676-87BC-5CDD40939CC7}"/>
              </a:ext>
            </a:extLst>
          </p:cNvPr>
          <p:cNvPicPr/>
          <p:nvPr/>
        </p:nvPicPr>
        <p:blipFill>
          <a:blip r:embed="rId14"/>
          <a:srcRect/>
          <a:stretch/>
        </p:blipFill>
        <p:spPr>
          <a:xfrm>
            <a:off x="7545065" y="2061449"/>
            <a:ext cx="781050" cy="781050"/>
          </a:xfrm>
          <a:prstGeom prst="rect">
            <a:avLst/>
          </a:prstGeom>
        </p:spPr>
      </p:pic>
      <p:sp>
        <p:nvSpPr>
          <p:cNvPr id="33" name="Shape">
            <a:extLst>
              <a:ext uri="{FF2B5EF4-FFF2-40B4-BE49-F238E27FC236}">
                <a16:creationId xmlns:a16="http://schemas.microsoft.com/office/drawing/2014/main" id="{0FD3284F-962F-2754-82E7-15D015CD9F57}"/>
              </a:ext>
            </a:extLst>
          </p:cNvPr>
          <p:cNvSpPr/>
          <p:nvPr/>
        </p:nvSpPr>
        <p:spPr>
          <a:xfrm>
            <a:off x="8769307" y="2270191"/>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4" name="Shape">
            <a:extLst>
              <a:ext uri="{FF2B5EF4-FFF2-40B4-BE49-F238E27FC236}">
                <a16:creationId xmlns:a16="http://schemas.microsoft.com/office/drawing/2014/main" id="{4BAE4BD1-B47C-0F33-660D-802EEC22D771}"/>
              </a:ext>
            </a:extLst>
          </p:cNvPr>
          <p:cNvSpPr/>
          <p:nvPr/>
        </p:nvSpPr>
        <p:spPr>
          <a:xfrm>
            <a:off x="8769307" y="2270191"/>
            <a:ext cx="1111622" cy="363564"/>
          </a:xfrm>
          <a:prstGeom prst="rect">
            <a:avLst/>
          </a:prstGeom>
        </p:spPr>
        <p:txBody>
          <a:bodyPr wrap="square" lIns="0" tIns="0" rIns="0">
            <a:noAutofit/>
          </a:bodyPr>
          <a:lstStyle/>
          <a:p>
            <a:pPr algn="ctr" fontAlgn="t">
              <a:defRPr sz="1200" b="1" i="0">
                <a:solidFill>
                  <a:srgbClr val="808080"/>
                </a:solidFill>
                <a:latin typeface="Arial"/>
              </a:defRPr>
            </a:pPr>
            <a:r>
              <a:t>N/A</a:t>
            </a:r>
          </a:p>
        </p:txBody>
      </p:sp>
      <p:sp>
        <p:nvSpPr>
          <p:cNvPr id="35" name="Shape">
            <a:extLst>
              <a:ext uri="{FF2B5EF4-FFF2-40B4-BE49-F238E27FC236}">
                <a16:creationId xmlns:a16="http://schemas.microsoft.com/office/drawing/2014/main" id="{11D5641B-5060-FC43-1DFB-1613DBA4BBE1}"/>
              </a:ext>
            </a:extLst>
          </p:cNvPr>
          <p:cNvSpPr/>
          <p:nvPr/>
        </p:nvSpPr>
        <p:spPr>
          <a:xfrm>
            <a:off x="10047672" y="2012667"/>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36" name="Shape">
            <a:extLst>
              <a:ext uri="{FF2B5EF4-FFF2-40B4-BE49-F238E27FC236}">
                <a16:creationId xmlns:a16="http://schemas.microsoft.com/office/drawing/2014/main" id="{409286A7-5C2F-3873-C4C5-28313C54098A}"/>
              </a:ext>
            </a:extLst>
          </p:cNvPr>
          <p:cNvSpPr/>
          <p:nvPr/>
        </p:nvSpPr>
        <p:spPr>
          <a:xfrm>
            <a:off x="10047672" y="2164152"/>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37" name="Shape">
            <a:extLst>
              <a:ext uri="{FF2B5EF4-FFF2-40B4-BE49-F238E27FC236}">
                <a16:creationId xmlns:a16="http://schemas.microsoft.com/office/drawing/2014/main" id="{E6DF9DB8-0DA8-02A6-F1CE-E080BC1F6533}"/>
              </a:ext>
            </a:extLst>
          </p:cNvPr>
          <p:cNvSpPr/>
          <p:nvPr/>
        </p:nvSpPr>
        <p:spPr>
          <a:xfrm>
            <a:off x="10047672" y="2164152"/>
            <a:ext cx="1500690" cy="121188"/>
          </a:xfrm>
          <a:prstGeom prst="rect">
            <a:avLst/>
          </a:prstGeom>
        </p:spPr>
        <p:txBody>
          <a:bodyPr wrap="square" lIns="0" tIns="0" rIns="0">
            <a:noAutofit/>
          </a:bodyPr>
          <a:lstStyle/>
          <a:p>
            <a:pPr algn="l" fontAlgn="t">
              <a:defRPr sz="800" b="0" i="0">
                <a:solidFill>
                  <a:srgbClr val="808080"/>
                </a:solidFill>
                <a:latin typeface="Arial"/>
              </a:defRPr>
            </a:pPr>
            <a:r>
              <a:t>X Followers 4.3K</a:t>
            </a:r>
          </a:p>
        </p:txBody>
      </p:sp>
      <p:sp>
        <p:nvSpPr>
          <p:cNvPr id="38" name="Shape">
            <a:extLst>
              <a:ext uri="{FF2B5EF4-FFF2-40B4-BE49-F238E27FC236}">
                <a16:creationId xmlns:a16="http://schemas.microsoft.com/office/drawing/2014/main" id="{CEA69074-CCF0-B5BC-2282-A1778BE24EF1}"/>
              </a:ext>
            </a:extLst>
          </p:cNvPr>
          <p:cNvSpPr/>
          <p:nvPr/>
        </p:nvSpPr>
        <p:spPr>
          <a:xfrm>
            <a:off x="10047672" y="2315637"/>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39" name="Shape">
            <a:extLst>
              <a:ext uri="{FF2B5EF4-FFF2-40B4-BE49-F238E27FC236}">
                <a16:creationId xmlns:a16="http://schemas.microsoft.com/office/drawing/2014/main" id="{224A9A54-39BA-1E7D-B0EF-BDECCD21DB8F}"/>
              </a:ext>
            </a:extLst>
          </p:cNvPr>
          <p:cNvSpPr/>
          <p:nvPr/>
        </p:nvSpPr>
        <p:spPr>
          <a:xfrm>
            <a:off x="10047672" y="2315637"/>
            <a:ext cx="1500690" cy="121188"/>
          </a:xfrm>
          <a:prstGeom prst="rect">
            <a:avLst/>
          </a:prstGeom>
        </p:spPr>
        <p:txBody>
          <a:bodyPr wrap="square" lIns="0" tIns="0" rIns="0">
            <a:noAutofit/>
          </a:bodyPr>
          <a:lstStyle/>
          <a:p>
            <a:pPr algn="l" fontAlgn="t">
              <a:defRPr sz="800" b="0" i="0">
                <a:solidFill>
                  <a:srgbClr val="808080"/>
                </a:solidFill>
                <a:latin typeface="Arial"/>
              </a:defRPr>
            </a:pPr>
            <a:r>
              <a:t>X Bookmarks N/A</a:t>
            </a:r>
          </a:p>
        </p:txBody>
      </p:sp>
      <p:sp>
        <p:nvSpPr>
          <p:cNvPr id="40" name="Shape">
            <a:extLst>
              <a:ext uri="{FF2B5EF4-FFF2-40B4-BE49-F238E27FC236}">
                <a16:creationId xmlns:a16="http://schemas.microsoft.com/office/drawing/2014/main" id="{B5108878-7E7B-10B1-4DFC-C24DBF085A0E}"/>
              </a:ext>
            </a:extLst>
          </p:cNvPr>
          <p:cNvSpPr/>
          <p:nvPr/>
        </p:nvSpPr>
        <p:spPr>
          <a:xfrm>
            <a:off x="10047672" y="2467122"/>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N/A</a:t>
            </a:r>
          </a:p>
        </p:txBody>
      </p:sp>
      <p:sp>
        <p:nvSpPr>
          <p:cNvPr id="41" name="Shape">
            <a:extLst>
              <a:ext uri="{FF2B5EF4-FFF2-40B4-BE49-F238E27FC236}">
                <a16:creationId xmlns:a16="http://schemas.microsoft.com/office/drawing/2014/main" id="{3C4A7349-A0DF-4A6C-4D2A-5C3396891118}"/>
              </a:ext>
            </a:extLst>
          </p:cNvPr>
          <p:cNvSpPr/>
          <p:nvPr/>
        </p:nvSpPr>
        <p:spPr>
          <a:xfrm>
            <a:off x="10047672" y="2467122"/>
            <a:ext cx="1500690" cy="121188"/>
          </a:xfrm>
          <a:prstGeom prst="rect">
            <a:avLst/>
          </a:prstGeom>
        </p:spPr>
        <p:txBody>
          <a:bodyPr wrap="square" lIns="0" tIns="0" rIns="0">
            <a:noAutofit/>
          </a:bodyPr>
          <a:lstStyle/>
          <a:p>
            <a:pPr algn="l" fontAlgn="t">
              <a:defRPr sz="800" b="0" i="0">
                <a:solidFill>
                  <a:srgbClr val="808080"/>
                </a:solidFill>
                <a:latin typeface="Arial"/>
              </a:defRPr>
            </a:pPr>
            <a:r>
              <a:t>X Impressions N/A</a:t>
            </a:r>
          </a:p>
        </p:txBody>
      </p:sp>
      <p:sp>
        <p:nvSpPr>
          <p:cNvPr id="42" name="Shape">
            <a:extLst>
              <a:ext uri="{FF2B5EF4-FFF2-40B4-BE49-F238E27FC236}">
                <a16:creationId xmlns:a16="http://schemas.microsoft.com/office/drawing/2014/main" id="{FB7C681F-936E-48C6-B027-306835148EBC}"/>
              </a:ext>
            </a:extLst>
          </p:cNvPr>
          <p:cNvSpPr/>
          <p:nvPr/>
        </p:nvSpPr>
        <p:spPr>
          <a:xfrm>
            <a:off x="10047672" y="2618607"/>
            <a:ext cx="1500690" cy="121188"/>
          </a:xfrm>
          <a:prstGeom prst="rect">
            <a:avLst/>
          </a:prstGeom>
        </p:spPr>
        <p:txBody>
          <a:bodyPr wrap="square" lIns="0" tIns="0" rIns="0">
            <a:noAutofit/>
          </a:bodyPr>
          <a:lstStyle/>
          <a:p>
            <a:pPr algn="l" fontAlgn="t">
              <a:defRPr sz="800" b="0" i="0">
                <a:solidFill>
                  <a:srgbClr val="808080"/>
                </a:solidFill>
                <a:latin typeface="Arial"/>
              </a:defRPr>
            </a:pPr>
            <a:r>
              <a:t>X Video Views N/A</a:t>
            </a:r>
          </a:p>
        </p:txBody>
      </p:sp>
      <p:sp>
        <p:nvSpPr>
          <p:cNvPr id="43" name="Shape">
            <a:extLst>
              <a:ext uri="{FF2B5EF4-FFF2-40B4-BE49-F238E27FC236}">
                <a16:creationId xmlns:a16="http://schemas.microsoft.com/office/drawing/2014/main" id="{519EA786-F50C-A16F-EC32-BE92CD98474E}"/>
              </a:ext>
            </a:extLst>
          </p:cNvPr>
          <p:cNvSpPr/>
          <p:nvPr/>
        </p:nvSpPr>
        <p:spPr>
          <a:xfrm>
            <a:off x="10047672" y="2618607"/>
            <a:ext cx="1500690" cy="121188"/>
          </a:xfrm>
          <a:prstGeom prst="rect">
            <a:avLst/>
          </a:prstGeom>
        </p:spPr>
        <p:txBody>
          <a:bodyPr wrap="square" lIns="0" tIns="0" rIns="0">
            <a:noAutofit/>
          </a:bodyPr>
          <a:lstStyle/>
          <a:p>
            <a:pPr algn="l" fontAlgn="t">
              <a:defRPr sz="800" b="0" i="0">
                <a:solidFill>
                  <a:srgbClr val="808080"/>
                </a:solidFill>
                <a:latin typeface="Arial"/>
              </a:defRPr>
            </a:pPr>
            <a:r>
              <a:t>X Video Views N/A</a:t>
            </a:r>
          </a:p>
        </p:txBody>
      </p:sp>
      <p:cxnSp>
        <p:nvCxnSpPr>
          <p:cNvPr id="44" name="Line 200: (537882, 3589823) - (11654110, 3589823)">
            <a:extLst>
              <a:ext uri="{FF2B5EF4-FFF2-40B4-BE49-F238E27FC236}">
                <a16:creationId xmlns:a16="http://schemas.microsoft.com/office/drawing/2014/main" id="{59391599-3789-1BC7-0582-B105F660A410}"/>
              </a:ext>
            </a:extLst>
          </p:cNvPr>
          <p:cNvCxnSpPr/>
          <p:nvPr/>
        </p:nvCxnSpPr>
        <p:spPr>
          <a:xfrm>
            <a:off x="432137" y="2906429"/>
            <a:ext cx="11116228" cy="0"/>
          </a:xfrm>
          <a:prstGeom prst="line">
            <a:avLst/>
          </a:prstGeom>
          <a:ln w="12700">
            <a:solidFill>
              <a:srgbClr val="C7C7C7"/>
            </a:solidFill>
          </a:ln>
        </p:spPr>
      </p:cxnSp>
      <p:pic>
        <p:nvPicPr>
          <p:cNvPr id="45" name="Picture">
            <a:extLst>
              <a:ext uri="{FF2B5EF4-FFF2-40B4-BE49-F238E27FC236}">
                <a16:creationId xmlns:a16="http://schemas.microsoft.com/office/drawing/2014/main" id="{373E8B68-7AE0-9D69-0DF8-CE2F1B345124}"/>
              </a:ext>
            </a:extLst>
          </p:cNvPr>
          <p:cNvPicPr/>
          <p:nvPr/>
        </p:nvPicPr>
        <p:blipFill>
          <a:blip r:embed="rId2"/>
          <a:srcRect/>
          <a:stretch/>
        </p:blipFill>
        <p:spPr>
          <a:xfrm>
            <a:off x="546549" y="2990324"/>
            <a:ext cx="438150" cy="438150"/>
          </a:xfrm>
          <a:prstGeom prst="rect">
            <a:avLst/>
          </a:prstGeom>
        </p:spPr>
      </p:pic>
      <p:pic>
        <p:nvPicPr>
          <p:cNvPr id="46" name="Picture">
            <a:extLst>
              <a:ext uri="{FF2B5EF4-FFF2-40B4-BE49-F238E27FC236}">
                <a16:creationId xmlns:a16="http://schemas.microsoft.com/office/drawing/2014/main" id="{9492DE3D-E70F-1B42-FB5C-DF6F245AB548}"/>
              </a:ext>
            </a:extLst>
          </p:cNvPr>
          <p:cNvPicPr/>
          <p:nvPr/>
        </p:nvPicPr>
        <p:blipFill>
          <a:blip r:embed="rId3"/>
          <a:srcRect/>
          <a:stretch/>
        </p:blipFill>
        <p:spPr>
          <a:xfrm>
            <a:off x="854576" y="2973060"/>
            <a:ext cx="133350" cy="133350"/>
          </a:xfrm>
          <a:prstGeom prst="rect">
            <a:avLst/>
          </a:prstGeom>
        </p:spPr>
      </p:pic>
      <p:sp>
        <p:nvSpPr>
          <p:cNvPr id="47" name="Shape">
            <a:extLst>
              <a:ext uri="{FF2B5EF4-FFF2-40B4-BE49-F238E27FC236}">
                <a16:creationId xmlns:a16="http://schemas.microsoft.com/office/drawing/2014/main" id="{E0DC8938-8388-B2D2-E1AB-66DE0C599EC4}"/>
              </a:ext>
            </a:extLst>
          </p:cNvPr>
          <p:cNvSpPr/>
          <p:nvPr/>
        </p:nvSpPr>
        <p:spPr>
          <a:xfrm>
            <a:off x="1121343" y="3027617"/>
            <a:ext cx="2534499" cy="161584"/>
          </a:xfrm>
          <a:prstGeom prst="rect">
            <a:avLst/>
          </a:prstGeom>
        </p:spPr>
        <p:txBody>
          <a:bodyPr wrap="square" lIns="0" tIns="0" rIns="0">
            <a:noAutofit/>
          </a:bodyPr>
          <a:lstStyle/>
          <a:p>
            <a:pPr algn="l" fontAlgn="t">
              <a:defRPr sz="1000" b="1" i="0">
                <a:solidFill>
                  <a:srgbClr val="000000"/>
                </a:solidFill>
                <a:latin typeface="Arial"/>
              </a:defRPr>
            </a:pPr>
            <a:r>
              <a:rPr lang="en" b="1" i="0">
                <a:hlinkClick r:id="rId4"/>
              </a:rPr>
              <a:t>arabiancenter</a:t>
            </a:r>
            <a:endParaRPr/>
          </a:p>
        </p:txBody>
      </p:sp>
      <p:sp>
        <p:nvSpPr>
          <p:cNvPr id="48" name="Shape">
            <a:extLst>
              <a:ext uri="{FF2B5EF4-FFF2-40B4-BE49-F238E27FC236}">
                <a16:creationId xmlns:a16="http://schemas.microsoft.com/office/drawing/2014/main" id="{B86420EB-07C2-D71E-785B-21AA6983CA65}"/>
              </a:ext>
            </a:extLst>
          </p:cNvPr>
          <p:cNvSpPr/>
          <p:nvPr/>
        </p:nvSpPr>
        <p:spPr>
          <a:xfrm>
            <a:off x="1121343" y="3307863"/>
            <a:ext cx="2534499" cy="181781"/>
          </a:xfrm>
          <a:prstGeom prst="rect">
            <a:avLst/>
          </a:prstGeom>
        </p:spPr>
        <p:txBody>
          <a:bodyPr wrap="square" lIns="0" tIns="0" rIns="0">
            <a:noAutofit/>
          </a:bodyPr>
          <a:lstStyle/>
          <a:p>
            <a:pPr algn="l" fontAlgn="t">
              <a:defRPr sz="1000" b="0" i="0">
                <a:solidFill>
                  <a:srgbClr val="000000"/>
                </a:solidFill>
                <a:latin typeface="Arial"/>
              </a:defRPr>
            </a:pPr>
            <a:r>
              <a:rPr lang="en" b="0" i="0"/>
              <a:t>Instagram</a:t>
            </a:r>
            <a:r>
              <a:t> | </a:t>
            </a:r>
            <a:r>
              <a:rPr lang="en" b="0" i="0">
                <a:hlinkClick r:id="rId5"/>
              </a:rPr>
              <a:t>instagram.com</a:t>
            </a:r>
            <a:endParaRPr/>
          </a:p>
        </p:txBody>
      </p:sp>
      <p:sp>
        <p:nvSpPr>
          <p:cNvPr id="49" name="Shape">
            <a:extLst>
              <a:ext uri="{FF2B5EF4-FFF2-40B4-BE49-F238E27FC236}">
                <a16:creationId xmlns:a16="http://schemas.microsoft.com/office/drawing/2014/main" id="{D543C102-75EB-6F62-09E1-A036DFAE6AA6}"/>
              </a:ext>
            </a:extLst>
          </p:cNvPr>
          <p:cNvSpPr/>
          <p:nvPr/>
        </p:nvSpPr>
        <p:spPr>
          <a:xfrm>
            <a:off x="598880" y="3542665"/>
            <a:ext cx="3168124" cy="121188"/>
          </a:xfrm>
          <a:prstGeom prst="rect">
            <a:avLst/>
          </a:prstGeom>
        </p:spPr>
        <p:txBody>
          <a:bodyPr wrap="square" lIns="0" tIns="0" rIns="0">
            <a:noAutofit/>
          </a:bodyPr>
          <a:lstStyle/>
          <a:p>
            <a:pPr algn="l" fontAlgn="t">
              <a:defRPr sz="800" b="0" i="0">
                <a:solidFill>
                  <a:srgbClr val="808080"/>
                </a:solidFill>
                <a:latin typeface="Arial"/>
              </a:defRPr>
            </a:pPr>
            <a:r>
              <a:rPr lang="en" b="0" i="0">
                <a:hlinkClick r:id="rId15"/>
              </a:rPr>
              <a:t>30/03/26 13:01</a:t>
            </a:r>
            <a:r>
              <a:t> | </a:t>
            </a:r>
            <a:r>
              <a:rPr lang="en" b="0" i="0"/>
              <a:t>United Arab Emirates</a:t>
            </a:r>
            <a:endParaRPr/>
          </a:p>
        </p:txBody>
      </p:sp>
      <p:sp>
        <p:nvSpPr>
          <p:cNvPr id="50" name="Shape">
            <a:extLst>
              <a:ext uri="{FF2B5EF4-FFF2-40B4-BE49-F238E27FC236}">
                <a16:creationId xmlns:a16="http://schemas.microsoft.com/office/drawing/2014/main" id="{DA600861-7F36-ABD2-EB72-1E244A000557}"/>
              </a:ext>
            </a:extLst>
          </p:cNvPr>
          <p:cNvSpPr/>
          <p:nvPr/>
        </p:nvSpPr>
        <p:spPr>
          <a:xfrm>
            <a:off x="3933748" y="3213185"/>
            <a:ext cx="3168124" cy="409009"/>
          </a:xfrm>
          <a:prstGeom prst="rect">
            <a:avLst/>
          </a:prstGeom>
        </p:spPr>
        <p:txBody>
          <a:bodyPr wrap="square" lIns="0" tIns="0" rIns="0">
            <a:noAutofit/>
          </a:bodyPr>
          <a:lstStyle/>
          <a:p>
            <a:pPr algn="l" fontAlgn="t">
              <a:defRPr sz="800" b="0" i="0">
                <a:solidFill>
                  <a:srgbClr val="808080"/>
                </a:solidFill>
                <a:latin typeface="Arial"/>
              </a:defRPr>
            </a:pPr>
            <a:r>
              <a:rPr lang="en" b="0" i="0"/>
              <a:t>Arabian Center continues to welcome you with full access across the mall, with all ... visit bright, safe, and connected. #ArabianCenter #MallUpdates...</a:t>
            </a:r>
            <a:endParaRPr/>
          </a:p>
        </p:txBody>
      </p:sp>
      <p:pic>
        <p:nvPicPr>
          <p:cNvPr id="51" name="Picture">
            <a:hlinkClick r:id="rId16"/>
            <a:extLst>
              <a:ext uri="{FF2B5EF4-FFF2-40B4-BE49-F238E27FC236}">
                <a16:creationId xmlns:a16="http://schemas.microsoft.com/office/drawing/2014/main" id="{90D887B7-EAA9-5230-F28D-6A4580CCC5CE}"/>
              </a:ext>
            </a:extLst>
          </p:cNvPr>
          <p:cNvPicPr/>
          <p:nvPr/>
        </p:nvPicPr>
        <p:blipFill>
          <a:blip r:embed="rId17"/>
          <a:srcRect/>
          <a:stretch/>
        </p:blipFill>
        <p:spPr>
          <a:xfrm>
            <a:off x="7716515" y="2970359"/>
            <a:ext cx="438150" cy="781050"/>
          </a:xfrm>
          <a:prstGeom prst="rect">
            <a:avLst/>
          </a:prstGeom>
        </p:spPr>
      </p:pic>
      <p:sp>
        <p:nvSpPr>
          <p:cNvPr id="52" name="Shape">
            <a:extLst>
              <a:ext uri="{FF2B5EF4-FFF2-40B4-BE49-F238E27FC236}">
                <a16:creationId xmlns:a16="http://schemas.microsoft.com/office/drawing/2014/main" id="{214F34E1-77F6-8A56-410D-4129C4059097}"/>
              </a:ext>
            </a:extLst>
          </p:cNvPr>
          <p:cNvSpPr/>
          <p:nvPr/>
        </p:nvSpPr>
        <p:spPr>
          <a:xfrm>
            <a:off x="8769307" y="3179101"/>
            <a:ext cx="1111622" cy="363564"/>
          </a:xfrm>
          <a:prstGeom prst="rect">
            <a:avLst/>
          </a:prstGeom>
        </p:spPr>
        <p:txBody>
          <a:bodyPr wrap="square" lIns="0" tIns="0" rIns="0">
            <a:noAutofit/>
          </a:bodyPr>
          <a:lstStyle/>
          <a:p>
            <a:pPr algn="ctr" fontAlgn="t">
              <a:defRPr sz="1200" b="1" i="0">
                <a:solidFill>
                  <a:srgbClr val="808080"/>
                </a:solidFill>
                <a:latin typeface="Arial"/>
              </a:defRPr>
            </a:pPr>
            <a:r>
              <a:t>79</a:t>
            </a:r>
          </a:p>
        </p:txBody>
      </p:sp>
      <p:sp>
        <p:nvSpPr>
          <p:cNvPr id="53" name="Shape">
            <a:extLst>
              <a:ext uri="{FF2B5EF4-FFF2-40B4-BE49-F238E27FC236}">
                <a16:creationId xmlns:a16="http://schemas.microsoft.com/office/drawing/2014/main" id="{AAE3A1F3-F8C5-5C50-56C0-BEB66221769C}"/>
              </a:ext>
            </a:extLst>
          </p:cNvPr>
          <p:cNvSpPr/>
          <p:nvPr/>
        </p:nvSpPr>
        <p:spPr>
          <a:xfrm>
            <a:off x="8769307" y="3179101"/>
            <a:ext cx="1111622" cy="363564"/>
          </a:xfrm>
          <a:prstGeom prst="rect">
            <a:avLst/>
          </a:prstGeom>
        </p:spPr>
        <p:txBody>
          <a:bodyPr wrap="square" lIns="0" tIns="0" rIns="0">
            <a:noAutofit/>
          </a:bodyPr>
          <a:lstStyle/>
          <a:p>
            <a:pPr algn="ctr" fontAlgn="t">
              <a:defRPr sz="1200" b="1" i="0">
                <a:solidFill>
                  <a:srgbClr val="808080"/>
                </a:solidFill>
                <a:latin typeface="Arial"/>
              </a:defRPr>
            </a:pPr>
            <a:r>
              <a:t>79</a:t>
            </a:r>
          </a:p>
        </p:txBody>
      </p:sp>
      <p:sp>
        <p:nvSpPr>
          <p:cNvPr id="54" name="Shape">
            <a:extLst>
              <a:ext uri="{FF2B5EF4-FFF2-40B4-BE49-F238E27FC236}">
                <a16:creationId xmlns:a16="http://schemas.microsoft.com/office/drawing/2014/main" id="{8C9DEE9E-2C8B-69FA-0E1C-609F46CA9CB8}"/>
              </a:ext>
            </a:extLst>
          </p:cNvPr>
          <p:cNvSpPr/>
          <p:nvPr/>
        </p:nvSpPr>
        <p:spPr>
          <a:xfrm>
            <a:off x="10047672" y="2921577"/>
            <a:ext cx="1500690" cy="121188"/>
          </a:xfrm>
          <a:prstGeom prst="rect">
            <a:avLst/>
          </a:prstGeom>
        </p:spPr>
        <p:txBody>
          <a:bodyPr wrap="square" lIns="0" tIns="0" rIns="0">
            <a:noAutofit/>
          </a:bodyPr>
          <a:lstStyle/>
          <a:p>
            <a:pPr algn="l" fontAlgn="t">
              <a:defRPr sz="800" b="0" i="0">
                <a:latin typeface="Arial"/>
              </a:defRPr>
            </a:pPr>
            <a:r>
              <a:rPr sz="800" b="0" i="0" dirty="0">
                <a:solidFill>
                  <a:srgbClr val="808080"/>
                </a:solidFill>
              </a:rPr>
              <a:t>Sentiment</a:t>
            </a:r>
            <a:r>
              <a:t> </a:t>
            </a:r>
            <a:r>
              <a:rPr sz="800" b="0" i="0" dirty="0">
                <a:solidFill>
                  <a:srgbClr val="009427"/>
                </a:solidFill>
              </a:rPr>
              <a:t>Positive</a:t>
            </a:r>
            <a:r>
              <a:t> </a:t>
            </a:r>
          </a:p>
        </p:txBody>
      </p:sp>
      <p:sp>
        <p:nvSpPr>
          <p:cNvPr id="55" name="Shape">
            <a:extLst>
              <a:ext uri="{FF2B5EF4-FFF2-40B4-BE49-F238E27FC236}">
                <a16:creationId xmlns:a16="http://schemas.microsoft.com/office/drawing/2014/main" id="{58666B99-D386-05BD-A517-AFA4DD7FD7AA}"/>
              </a:ext>
            </a:extLst>
          </p:cNvPr>
          <p:cNvSpPr/>
          <p:nvPr/>
        </p:nvSpPr>
        <p:spPr>
          <a:xfrm>
            <a:off x="10047672" y="3073062"/>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33.7K</a:t>
            </a:r>
          </a:p>
        </p:txBody>
      </p:sp>
      <p:sp>
        <p:nvSpPr>
          <p:cNvPr id="56" name="Shape">
            <a:extLst>
              <a:ext uri="{FF2B5EF4-FFF2-40B4-BE49-F238E27FC236}">
                <a16:creationId xmlns:a16="http://schemas.microsoft.com/office/drawing/2014/main" id="{CED26818-190C-AD58-C4FE-5EF629BD27B9}"/>
              </a:ext>
            </a:extLst>
          </p:cNvPr>
          <p:cNvSpPr/>
          <p:nvPr/>
        </p:nvSpPr>
        <p:spPr>
          <a:xfrm>
            <a:off x="10047672" y="3073062"/>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Followers 33.7K</a:t>
            </a:r>
          </a:p>
        </p:txBody>
      </p:sp>
      <p:sp>
        <p:nvSpPr>
          <p:cNvPr id="57" name="Shape">
            <a:extLst>
              <a:ext uri="{FF2B5EF4-FFF2-40B4-BE49-F238E27FC236}">
                <a16:creationId xmlns:a16="http://schemas.microsoft.com/office/drawing/2014/main" id="{2240E5B4-8F08-3D25-FBEC-54A5C4AAE11A}"/>
              </a:ext>
            </a:extLst>
          </p:cNvPr>
          <p:cNvSpPr/>
          <p:nvPr/>
        </p:nvSpPr>
        <p:spPr>
          <a:xfrm>
            <a:off x="10047672" y="3224547"/>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78</a:t>
            </a:r>
          </a:p>
        </p:txBody>
      </p:sp>
      <p:sp>
        <p:nvSpPr>
          <p:cNvPr id="58" name="Shape">
            <a:extLst>
              <a:ext uri="{FF2B5EF4-FFF2-40B4-BE49-F238E27FC236}">
                <a16:creationId xmlns:a16="http://schemas.microsoft.com/office/drawing/2014/main" id="{F6C2360E-073B-7C0B-4DF5-09506500F18D}"/>
              </a:ext>
            </a:extLst>
          </p:cNvPr>
          <p:cNvSpPr/>
          <p:nvPr/>
        </p:nvSpPr>
        <p:spPr>
          <a:xfrm>
            <a:off x="10047672" y="3224547"/>
            <a:ext cx="1500690" cy="121188"/>
          </a:xfrm>
          <a:prstGeom prst="rect">
            <a:avLst/>
          </a:prstGeom>
        </p:spPr>
        <p:txBody>
          <a:bodyPr wrap="square" lIns="0" tIns="0" rIns="0">
            <a:noAutofit/>
          </a:bodyPr>
          <a:lstStyle/>
          <a:p>
            <a:pPr algn="l" fontAlgn="t">
              <a:defRPr sz="800" b="0" i="0">
                <a:solidFill>
                  <a:srgbClr val="808080"/>
                </a:solidFill>
                <a:latin typeface="Arial"/>
              </a:defRPr>
            </a:pPr>
            <a:r>
              <a:t>Instagram Likes 78</a:t>
            </a:r>
          </a:p>
        </p:txBody>
      </p:sp>
      <p:cxnSp>
        <p:nvCxnSpPr>
          <p:cNvPr id="59" name="Line 200: (537882, 4498733) - (11654110, 4498733)">
            <a:extLst>
              <a:ext uri="{FF2B5EF4-FFF2-40B4-BE49-F238E27FC236}">
                <a16:creationId xmlns:a16="http://schemas.microsoft.com/office/drawing/2014/main" id="{5C8DA413-A895-1346-7FB9-C86B3FC09719}"/>
              </a:ext>
            </a:extLst>
          </p:cNvPr>
          <p:cNvCxnSpPr/>
          <p:nvPr/>
        </p:nvCxnSpPr>
        <p:spPr>
          <a:xfrm>
            <a:off x="432137" y="3815339"/>
            <a:ext cx="11116228" cy="0"/>
          </a:xfrm>
          <a:prstGeom prst="line">
            <a:avLst/>
          </a:prstGeom>
          <a:ln w="12700">
            <a:solidFill>
              <a:srgbClr val="C7C7C7"/>
            </a:solidFill>
          </a:ln>
        </p:spPr>
      </p:cxnSp>
    </p:spTree>
    <p:extLst>
      <p:ext uri="{BB962C8B-B14F-4D97-AF65-F5344CB8AC3E}">
        <p14:creationId xmlns:p14="http://schemas.microsoft.com/office/powerpoint/2010/main" val="383618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 y="2311777"/>
            <a:ext cx="12191999" cy="1016950"/>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a:norm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lang="en-US" sz="2400" dirty="0">
              <a:solidFill>
                <a:schemeClr val="tx1">
                  <a:lumMod val="75000"/>
                  <a:lumOff val="25000"/>
                </a:schemeClr>
              </a:solidFill>
            </a:endParaRPr>
          </a:p>
          <a:p>
            <a:pPr lvl="0" algn="ctr"/>
            <a:r>
              <a:rPr lang="en-US" sz="2800" b="1" dirty="0">
                <a:solidFill>
                  <a:schemeClr val="tx1">
                    <a:lumMod val="75000"/>
                    <a:lumOff val="25000"/>
                  </a:schemeClr>
                </a:solidFill>
                <a:latin typeface="Agency FB" panose="020B0503020202020204" pitchFamily="34" charset="0"/>
              </a:rPr>
              <a:t>THANK YOU! </a:t>
            </a:r>
            <a:endParaRPr lang="en-US" sz="2800" dirty="0">
              <a:solidFill>
                <a:schemeClr val="tx1">
                  <a:lumMod val="75000"/>
                  <a:lumOff val="25000"/>
                </a:schemeClr>
              </a:solidFill>
            </a:endParaRPr>
          </a:p>
        </p:txBody>
      </p:sp>
    </p:spTree>
    <p:extLst>
      <p:ext uri="{BB962C8B-B14F-4D97-AF65-F5344CB8AC3E}">
        <p14:creationId xmlns:p14="http://schemas.microsoft.com/office/powerpoint/2010/main" val="403879643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67955</TotalTime>
  <Words>5507</Words>
  <Application>Microsoft Office PowerPoint</Application>
  <PresentationFormat>Widescreen</PresentationFormat>
  <Paragraphs>787</Paragraphs>
  <Slides>19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Agency FB</vt:lpstr>
      <vt:lpstr>Arial</vt:lpstr>
      <vt:lpstr>Calibri</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AMC LT1501</dc:creator>
  <cp:lastModifiedBy>mohamed refay</cp:lastModifiedBy>
  <cp:revision>1311</cp:revision>
  <dcterms:created xsi:type="dcterms:W3CDTF">2018-01-23T07:50:27Z</dcterms:created>
  <dcterms:modified xsi:type="dcterms:W3CDTF">2026-04-01T12:17:05Z</dcterms:modified>
</cp:coreProperties>
</file>